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大家好，今天的主題是「網卡與 OS 層的關係」。我們會從 RF 工程師最熟悉的 PHY 層出發，一路向上追溯到 Windows 的應用程式層，最後回答一個很多 RF 工程師都碰過的問題：為什麼在 Windows 上無法取得網卡的 CSI 資料？</a:t>
            </a:r>
          </a:p>
          <a:p/>
          <a:p>
            <a:r>
              <a:t>這份投影片設計給有 PHY/MAC 背景的工程師，所以我不會花太多時間在 RF 基礎，而是聚焦在 OS 軟體層的架構與限制。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今天的內容分四段，前面先用一張投影片說明為什麼我們需要 CSI。</a:t>
            </a:r>
          </a:p>
          <a:p/>
          <a:p>
            <a:r>
              <a:t>第一段從 PHY/MAC 基礎出發，確保大家對 CSI 的定義有共同的認知。第二段進入 Windows 的驅動架構，這是大多數 RF 工程師比較陌生的領域。第三段是今天的核心：為什麼 Linux 可以但 Windows 不行，以及有哪些替代方案。最後給出實際的硬體選型建議。</a:t>
            </a:r>
          </a:p>
          <a:p/>
          <a:p>
            <a:r>
              <a:t>整個演講大約 45 到 60 分鐘，最後留時間 Q&amp;A。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在進入技術細節之前，先確立我們為什麼需要 CSI。RSSI 是最傳統的無線量測指標，但它只告訴你總接收功率，無法描述通道的頻率特性。</a:t>
            </a:r>
          </a:p>
          <a:p/>
          <a:p>
            <a:r>
              <a:t>CSI 則是每個 OFDM 子載波的複數通道增益，包含振幅和相位。這個豐富的資訊讓 CSI 成為室內定位、手勢辨識、呼吸監測等研究的核心工具——這些應用用 RSSI 根本做不到。</a:t>
            </a:r>
          </a:p>
          <a:p/>
          <a:p>
            <a:r>
              <a:t>今天的核心問題是：研究人員如何在實際硬體上取得 CSI？而 Windows 為什麼做不到？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這張圖應該是大家最熟悉的起點。從天線接收到 RF 信號後，經過 ADC 轉換成數位信號，再透過 OFDM 解調把各個子載波分離出來，最後解碼成 802.11 frame。</a:t>
            </a:r>
          </a:p>
          <a:p/>
          <a:p>
            <a:r>
              <a:t>關鍵點在這裡：CSI 的計算發生在 OFDM 解調這個步驟。每個子載波在解調過程中，NIC 的 DSP 會計算出複數增益，這就是 CSI 的來源。這個資料此時還在 NIC 的韌體裡，尚未進入任何 OS 軟體層。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在座各位應該都知道 RSSI，但我還是簡單對比一下。RSSI 是整個頻帶的總接收功率，是一個純量值，單位 dBm。它告訴你「訊號有多強」，但不告訴你「通道長什麼樣子」。</a:t>
            </a:r>
          </a:p>
          <a:p/>
          <a:p>
            <a:r>
              <a:t>CSI 則是每個 OFDM 子載波的複數增益，包含振幅和相位。802.11n 的情況下，IWL5300 會報告 30 個子載波群組的 CSI。這個資訊豐富多了——你可以從 CSI 重建多路徑傳播特性，這就是為什麼 CSI 可以用於室內定位和手勢辨識，而 RSSI 不行。</a:t>
            </a:r>
          </a:p>
          <a:p/>
          <a:p>
            <a:r>
              <a:t>CSI 的數學表示是頻域通道矩陣 H(f)，對每對 TX-RX 天線各有一個。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這張表是今天的地圖，後面的所有討論都會對應回這張表。</a:t>
            </a:r>
          </a:p>
          <a:p/>
          <a:p>
            <a:r>
              <a:t>最重要的觀察：CSI 存在於 L1（PHY 硬體），但 Windows 的軟體介面從 L2a 才開始（nwifi.sys 和 OEM.sys）。L1 和 L2a 之間沒有標準的橋接機制來傳遞 CSI。</a:t>
            </a:r>
          </a:p>
          <a:p/>
          <a:p>
            <a:r>
              <a:t>右邊的 Windows 元件欄位就是我們接下來要深入討論的每一個元件。請記住這個對應關係。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現在進入 Windows 驅動架構。這是今天的核心問題：CSI 在 NIC 韌體計算完成後，要怎麼到達你的應用程式？</a:t>
            </a:r>
          </a:p>
          <a:p/>
          <a:p>
            <a:r>
              <a:t>從 RF 工程師的視角來看，左邊是熟悉的領域：PHY 解調、NIC 韌體計算 CSI、儲存在暫存器。右邊是研究目標：你的程式需要 CSI 來做定位或感測。</a:t>
            </a:r>
          </a:p>
          <a:p/>
          <a:p>
            <a:r>
              <a:t>中間那個「黑盒子」就是 Windows 的驅動堆疊。接下來我們從最靠近硬體的元件開始，逐層往上解析，找出 CSI 究竟在哪裡消失。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OEM.sys 是網卡廠商提供的 Miniport Driver，是整個 Windows 網路堆疊中距離硬體最近的軟體元件。</a:t>
            </a:r>
          </a:p>
          <a:p/>
          <a:p>
            <a:r>
              <a:t>它透過 MMIO 或 PCI 介面直接讀寫網卡的硬體暫存器，可以控制 RF 參數像是頻道和 TX 功率，也負責管理 DMA 傳輸。</a:t>
            </a:r>
          </a:p>
          <a:p/>
          <a:p>
            <a:r>
              <a:t>右邊的例子列出各廠商的驅動名稱。Intel 在 Linux 上叫 iwlwifi，但在 Windows 上叫 netwtw*.sys，星號代表版本號。</a:t>
            </a:r>
          </a:p>
          <a:p/>
          <a:p>
            <a:r>
              <a:t>這裡有一個關鍵觀察：OEM.sys 理論上可以讀取 NIC 韌體計算的 CSI 資料，因為它有直接訪問硬體暫存器的能力。問題是它選擇不向上層暴露這個資料。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這張流程圖展示了一個 RX 封包從 NIC 韌體到應用層的路徑。</a:t>
            </a:r>
          </a:p>
          <a:p/>
          <a:p>
            <a:r>
              <a:t>注意最左邊：NIC 韌體計算 CSI 後，把結果儲存在硬體暫存器。OEM.sys 透過 DMA 讀取 RX 封包緩衝區，但這個緩衝區裡只有 802.11 frame 的內容，不含 CSI。</a:t>
            </a:r>
          </a:p>
          <a:p/>
          <a:p>
            <a:r>
              <a:t>CSI 從來沒有進入 NDIS_NET_BUFFER 這個標準封包結構。換句話說，CSI 在 OEM.sys 這一步就已經被排除在資料流之外了。</a:t>
            </a:r>
          </a:p>
          <a:p/>
          <a:p>
            <a:r>
              <a:t>這就是 CSI 消失的根本原因：不是某個軟體元件「擋住」了 CSI，而是 CSI 從一開始就沒有被放進標準的資料傳輸路徑。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nwifi.sys 是 Windows Native WiFi 驅動，職責是管理 802.11 連線狀態。它向上暴露的介面完全沒有任何 PHY 層資訊的傳遞路徑——這是設計目標，不是疏漏。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NDIS 的核心設計目標是跨廠商通用性，但 CSI 是廠商私有 PHY 細節，不同廠商格式完全不同。無法取最大公約數，所以 NDIS 根本沒有嘗試。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Windows 10 引入了 WDI 作為新的 WiFi 驅動模型。WDI 把驅動分成兩部分：IHV 廠商負責的 User Mode 元件，和 WDI 框架的 Kernel Mode 元件。</a:t>
            </a:r>
          </a:p>
          <a:p/>
          <a:p>
            <a:r>
              <a:t>這個架構的優點是：User Mode 的 crash 不會導致藍屏，大幅提升系統穩定性，也簡化了廠商的驅動開發。</a:t>
            </a:r>
          </a:p>
          <a:p/>
          <a:p>
            <a:r>
              <a:t>但是——WDI 的 Task 和 Property 定義完全沒有包含 CSI 相關的介面。WDI 是架構上的改進，不是解決 CSI 取得問題的嘗試。所以即使升級到 WDI 模型，CSI 依然無法取得。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在逐一介紹每個元件之後，讓我們用這張全景圖把所有元件放在一起看。</a:t>
            </a:r>
          </a:p>
          <a:p/>
          <a:p>
            <a:r>
              <a:t>從最底層的 NIC 硬體開始，往上依序是 OEM.sys（韌體廠商驅動）、nwifi.sys（WiFi 連線管理）、NDIS、tcpip.sys、WinSock，最終到應用程式。</a:t>
            </a:r>
          </a:p>
          <a:p/>
          <a:p>
            <a:r>
              <a:t>每一層只能透過明確定義的介面與相鄰層溝通。這個設計保證了穩定性，但也意味著 L1 的 PHY 資訊無法「跳過」中間層直接到達應用程式。</a:t>
            </a:r>
          </a:p>
          <a:p/>
          <a:p>
            <a:r>
              <a:t>接下來我們用這張圖精確標示 CSI 消失的位置。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這是今天的核心投影片。讓我們總結 CSI 在哪裡消失。</a:t>
            </a:r>
          </a:p>
          <a:p/>
          <a:p>
            <a:r>
              <a:t>橙色和紅色標注的兩個元件是關鍵：OEM.sys 和 nwifi.sys。</a:t>
            </a:r>
          </a:p>
          <a:p/>
          <a:p>
            <a:r>
              <a:t>OEM.sys 有能力讀取 CSI（因為它可以直接訪問 NIC 硬體暫存器），但它不上報給 nwifi.sys。nwifi.sys 也從未向 OEM.sys 請求 CSI 資料。這個邊界就是 CSI 消失的地方。</a:t>
            </a:r>
          </a:p>
          <a:p/>
          <a:p>
            <a:r>
              <a:t>再往上，ndis.sys 沒有 CSI 的 OID 定義，tcpip.sys 只看到 IP 封包，應用程式完全感知不到 CSI 的存在。</a:t>
            </a:r>
          </a:p>
          <a:p/>
          <a:p>
            <a:r>
              <a:t>結論：CSI 的消失是多層架構決策累積的結果，每一層都有其合理性。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現在我們來看為什麼 Linux 可以取得 CSI。</a:t>
            </a:r>
          </a:p>
          <a:p/>
          <a:p>
            <a:r>
              <a:t>Linux 的關鍵優勢是開源。iwlwifi、ath9k、brcmfmac 這些驅動都是開源的，研究人員可以直接修改驅動程式碼，甚至修改 NIC 韌體。debugfs 提供了一個核心介面，讓驅動可以暴露任意的除錯資料，包括 CSI。</a:t>
            </a:r>
          </a:p>
          <a:p/>
          <a:p>
            <a:r>
              <a:t>右邊列出了 Windows 的根本差異：OEM.sys 是閉源二進位，不可修改；NDIS 介面固定，沒有擴充機制；韌體修改需要 WHQL 認證簽章。</a:t>
            </a:r>
          </a:p>
          <a:p/>
          <a:p>
            <a:r>
              <a:t>這不是 Windows 的 bug，而是商業產品（Windows）vs 開源生態（Linux）的架構哲學差異。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這是目前（2026 年）的現代 CSI 工具生態。</a:t>
            </a:r>
          </a:p>
          <a:p/>
          <a:p>
            <a:r>
              <a:t>PicoScenes 是目前功能最完整的平台，支援 Intel AX200/AX210，可以取得 802.11ax 格式的 CSI，最寬支援 160 MHz。它有商業支援，適合需要穩定維護的研究團隊。</a:t>
            </a:r>
          </a:p>
          <a:p/>
          <a:p>
            <a:r>
              <a:t>FeitCSI 是開源替代方案，功能相近，也支援 CSI 注入，可以用於主動量測。</a:t>
            </a:r>
          </a:p>
          <a:p/>
          <a:p>
            <a:r>
              <a:t>這張表的最右欄「平台」請注意：全部都是 Linux。這個事實本身就是今天演講的核心論點之一——所有成熟的 CSI 工具都選擇 Linux，因為 Windows 的架構限制讓這件事在 Windows 上無法實現。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四種方案快速比較。Raw Packet Capture 最簡單但無 CSI。OEM IOCTL 風險極高。雙系統和 Live USB 都能取到完整 CSI，推薦雙系統。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這張表列出目前（2026 年）有明確 CSI 工具支援的網卡。</a:t>
            </a:r>
          </a:p>
          <a:p/>
          <a:p>
            <a:r>
              <a:t>如果你要買新硬體，Intel AX200 M.2 是最容易取得、工具支援最完整的選擇。它便宜（通常 500 到 1000 台幣），支援 802.11ax，PicoScenes 和 FeitCSI 都支援它。買 M.2 版本可以裝在筆電或桌機，或者用 M.2 轉 PCIe 轉接卡。</a:t>
            </a:r>
          </a:p>
          <a:p/>
          <a:p>
            <a:r>
              <a:t>如果你有 Raspberry Pi，BCM43455 晶片已經內建，Nexmon CSI 直接支援，不需要額外購買硬體，非常適合做嵌入式 CSI 採集節點。</a:t>
            </a:r>
          </a:p>
          <a:p/>
          <a:p>
            <a:r>
              <a:t>Atheros AR9380 在 OpenWRT 路由器上很常見，適合布署多點 CSI 量測環境。</a:t>
            </a:r>
          </a:p>
          <a:p/>
          <a:p>
            <a:r>
              <a:t>請避免購買沒有在這份清單上的網卡，除非你願意自己移植驅動。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讓我們用這張總結圖回顧整個旅程。</a:t>
            </a:r>
          </a:p>
          <a:p/>
          <a:p>
            <a:r>
              <a:t>從最下面的 PHY 硬體開始，OFDM 解調計算出 CSI，儲存在 NIC 韌體的暫存器中。NIC 韌體計算完成後，這個資訊就在這裡等待被讀取。</a:t>
            </a:r>
          </a:p>
          <a:p/>
          <a:p>
            <a:r>
              <a:t>OEM.sys 是唯一有能力讀取這個資料的軟體元件，但它的設計目標不包含上報 CSI，所以它沒有這樣做。</a:t>
            </a:r>
          </a:p>
          <a:p/>
          <a:p>
            <a:r>
              <a:t>往上的每一層，從 nwifi.sys 到 NDIS 到應用程式，都沒有任何機制可以取得 CSI。每一層都有合理的設計動機，但合在一起的結果就是 CSI 無法從應用層存取。</a:t>
            </a:r>
          </a:p>
          <a:p/>
          <a:p>
            <a:r>
              <a:t>這不是一個單一決策造成的問題，而是多層架構設計累積的結果。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基於今天的內容，給各位三點具體建議。希望能幫助大家避免走彎路，直接使用最有效的工具。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以上是今天的所有內容。</a:t>
            </a:r>
          </a:p>
          <a:p/>
          <a:p>
            <a:r>
              <a:t>如果你要開始 CSI 研究，推薦先看 PicoScenes 的文件（ps.zpj.io），它提供了很完整的 setup guide。FeitCSI（feitcsi.kuskosoft.com）是開源替代方案，適合想要自己修改的研究者。CSIKit 是一個 Python 函式庫，可以解析多種 CSI 工具的輸出格式，方便資料分析。</a:t>
            </a:r>
          </a:p>
          <a:p/>
          <a:p>
            <a:r>
              <a:t>有任何問題嗎？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A0A0A"/>
              </a:gs>
              <a:gs pos="100000">
                <a:srgbClr val="181818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2857500"/>
            <a:ext cx="2743200" cy="2286000"/>
          </a:xfrm>
          <a:prstGeom prst="rect">
            <a:avLst/>
          </a:prstGeom>
          <a:gradFill rotWithShape="1">
            <a:gsLst>
              <a:gs pos="0">
                <a:srgbClr val="282828"/>
              </a:gs>
              <a:gs pos="100000">
                <a:srgbClr val="101010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0" y="3771900"/>
            <a:ext cx="1645920" cy="1371600"/>
          </a:xfrm>
          <a:prstGeom prst="rect">
            <a:avLst/>
          </a:prstGeom>
          <a:gradFill rotWithShape="1">
            <a:gsLst>
              <a:gs pos="0">
                <a:srgbClr val="101010"/>
              </a:gs>
              <a:gs pos="100000">
                <a:srgbClr val="05050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18181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63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網卡與 OS 層的關係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2788920"/>
            <a:ext cx="8229600" cy="0"/>
          </a:xfrm>
          <a:prstGeom prst="line">
            <a:avLst/>
          </a:prstGeom>
          <a:ln w="2540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8803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8C8C8"/>
                </a:solidFill>
                <a:latin typeface="Calibri"/>
              </a:rPr>
              <a:t>從 PHY/MAC 到 Windows 驅動堆疊
——為什麼無法從 Windows 取得 CSI？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69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Calibri"/>
              </a:rPr>
              <a:t>2026-04-08    v5.2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01 /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大綱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36576" cy="3433572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51560"/>
            <a:ext cx="8138160" cy="3250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● 前言：為什麼需要 CSI？（Slide 3）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● 第一段：基礎架構（Slides 5–7）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· 802.11 RF 信號路徑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· PHY / MAC 與 CSI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· OSI 7 層 vs Windows 元件對應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● 第二段：Windows 驅動堆疊（Slides 10–16）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· OEM.sys / nwifi.sys / NDIS / WDI（逐層解析）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· 架構總覽與 CSI 消失點分析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● 第三段：替代方案（Slides 18–21）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· Linux 生態 vs Windows 限制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· 硬體選型建議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● 第四段：結語與建議（Slides 23–25）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02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為什麼需要 CSI？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960120"/>
            <a:ext cx="0" cy="3433572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A9A9A"/>
                </a:solidFill>
                <a:latin typeface="Calibri"/>
              </a:rPr>
              <a:t>RSSI 的侷限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整體接收功率（單一純量，dBm）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無法區分多路徑效應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無頻率解析度、無相位資訊</a:t>
            </a:r>
          </a:p>
          <a:p>
            <a:r>
              <a:rPr sz="600"/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→ 只能告訴你「訊號多強」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無法描述「通道長什麼樣子」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46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A9A9A"/>
                </a:solidFill>
                <a:latin typeface="Calibri"/>
              </a:rPr>
              <a:t>CSI 能做什麼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346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每個 OFDM 子載波的複數增益 H(f)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· 振幅 + 相位，完整通道資訊</a:t>
            </a:r>
          </a:p>
          <a:p>
            <a:r>
              <a:rPr sz="600"/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▶ 研究應用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· 室內定位（ToA / AoA 估測）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· 手勢辨識、跌倒偵測、呼吸監測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· MIMO 波束成形最佳化</a:t>
            </a:r>
          </a:p>
          <a:p>
            <a:r>
              <a:rPr sz="600"/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▶ 本簡報核心問題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如何在實驗硬體上取得 CSI？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Windows 為何做不到？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03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21212"/>
              </a:gs>
              <a:gs pos="100000">
                <a:srgbClr val="28282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50505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109728"/>
            <a:ext cx="9144000" cy="0"/>
          </a:xfrm>
          <a:prstGeom prst="line">
            <a:avLst/>
          </a:prstGeom>
          <a:ln w="635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0" y="7315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0" b="1">
                <a:solidFill>
                  <a:srgbClr val="383838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基礎架構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A9A9A"/>
                </a:solidFill>
                <a:latin typeface="Calibri"/>
              </a:rPr>
              <a:t>PHY / MAC / CSI / OSI 對應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3840480"/>
            <a:ext cx="841248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基礎架構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04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802.11 RF 信號路徑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Section 1/4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天線
(Antenna)</a:t>
            </a:r>
          </a:p>
          <a:p>
            <a:pPr algn="ctr"/>
            <a:r>
              <a:rPr sz="1100">
                <a:solidFill>
                  <a:srgbClr val="9A9A9A"/>
                </a:solidFill>
                <a:latin typeface="Calibri"/>
              </a:rPr>
              <a:t>接收 RF 信號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4520" y="2608326"/>
            <a:ext cx="320040" cy="0"/>
          </a:xfrm>
          <a:prstGeom prst="line">
            <a:avLst/>
          </a:prstGeom>
          <a:ln w="25400">
            <a:solidFill>
              <a:srgbClr val="9A9A9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19456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ADC
類比→數位</a:t>
            </a:r>
          </a:p>
          <a:p>
            <a:pPr algn="ctr"/>
            <a:r>
              <a:rPr sz="1100">
                <a:solidFill>
                  <a:srgbClr val="9A9A9A"/>
                </a:solidFill>
                <a:latin typeface="Calibri"/>
              </a:rPr>
              <a:t>信號數位化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66160" y="2608326"/>
            <a:ext cx="320040" cy="0"/>
          </a:xfrm>
          <a:prstGeom prst="line">
            <a:avLst/>
          </a:prstGeom>
          <a:ln w="25400">
            <a:solidFill>
              <a:srgbClr val="9A9A9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8620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OFDM 解調
(Demodulation)</a:t>
            </a:r>
          </a:p>
          <a:p>
            <a:pPr algn="ctr"/>
            <a:r>
              <a:rPr sz="1100">
                <a:solidFill>
                  <a:srgbClr val="9A9A9A"/>
                </a:solidFill>
                <a:latin typeface="Calibri"/>
              </a:rPr>
              <a:t>子載波分離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57800" y="2608326"/>
            <a:ext cx="320040" cy="0"/>
          </a:xfrm>
          <a:prstGeom prst="line">
            <a:avLst/>
          </a:prstGeom>
          <a:ln w="25400">
            <a:solidFill>
              <a:srgbClr val="9A9A9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802.11 Frame
解碼</a:t>
            </a:r>
          </a:p>
          <a:p>
            <a:pPr algn="ctr"/>
            <a:r>
              <a:rPr sz="1100">
                <a:solidFill>
                  <a:srgbClr val="9A9A9A"/>
                </a:solidFill>
                <a:latin typeface="Calibri"/>
              </a:rPr>
              <a:t>封包還原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9440" y="2608326"/>
            <a:ext cx="320040" cy="0"/>
          </a:xfrm>
          <a:prstGeom prst="line">
            <a:avLst/>
          </a:prstGeom>
          <a:ln w="25400">
            <a:solidFill>
              <a:srgbClr val="9A9A9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26948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MAC 層
處理</a:t>
            </a:r>
          </a:p>
          <a:p>
            <a:pPr algn="ctr"/>
            <a:r>
              <a:rPr sz="1100">
                <a:solidFill>
                  <a:srgbClr val="9A9A9A"/>
                </a:solidFill>
                <a:latin typeface="Calibri"/>
              </a:rPr>
              <a:t>上送至驅動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CSI 在 OFDM 解調後即可計算：每個子載波的複數增益（振幅 + 相位）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基礎架構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05 / 25</a:t>
            </a:r>
          </a:p>
        </p:txBody>
      </p:sp>
      <p:pic>
        <p:nvPicPr>
          <p:cNvPr id="21" name="Picture 20" descr="slide03_rf_sig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1828800" cy="10332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PHY / MAC 與 CSI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Section 1/4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960120"/>
            <a:ext cx="0" cy="3433572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A9A9A"/>
                </a:solidFill>
                <a:latin typeface="Calibri"/>
              </a:rPr>
              <a:t>RSSI（傳統方式）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整體接收功率（單一數值）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單位：dBm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無法區分多路徑效應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精度低，只反映總體信號強度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346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A9A9A"/>
                </a:solidFill>
                <a:latin typeface="Calibri"/>
              </a:rPr>
              <a:t>MAC 層對 CSI 的態度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346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MAC 職責：CSMA/CA、ACK、Frame 組裝</a:t>
            </a:r>
          </a:p>
          <a:p>
            <a:r>
              <a:rPr sz="600"/>
              <a:t/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1A1A1A"/>
                </a:solidFill>
              </a:rPr>
              <a:t>⚠ CSI 不在 MAC 協定範圍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· PHY 解調後存於 NIC 韌體暫存器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· MAC 只收到已解調的 802.11 frame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· CSI 從未進入 NDIS 封包結構</a:t>
            </a:r>
          </a:p>
          <a:p>
            <a:r>
              <a:rPr sz="600"/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結論：CSI 旅程的第一個截斷點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CSI = H(f)：頻域通道矩陣。從 PHY 到 MAC 已無標準傳遞路徑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基礎架構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06 / 25</a:t>
            </a:r>
          </a:p>
        </p:txBody>
      </p:sp>
      <p:pic>
        <p:nvPicPr>
          <p:cNvPr id="17" name="Picture 16" descr="slide04_csi_spectr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017520"/>
            <a:ext cx="1645920" cy="9235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OSI 7 層 vs Windows 實際元件對應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Section 1/4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033272"/>
          <a:ext cx="8321040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260"/>
                <a:gridCol w="2080260"/>
                <a:gridCol w="2080260"/>
                <a:gridCol w="2080260"/>
              </a:tblGrid>
              <a:tr h="451974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OSI 層</a:t>
                      </a:r>
                    </a:p>
                  </a:txBody>
                  <a:tcPr marL="73152" marR="73152" marT="45720" marB="45720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標準名稱</a:t>
                      </a:r>
                    </a:p>
                  </a:txBody>
                  <a:tcPr marL="73152" marR="73152" marT="45720" marB="45720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Windows 元件</a:t>
                      </a:r>
                    </a:p>
                  </a:txBody>
                  <a:tcPr marL="73152" marR="73152" marT="45720" marB="45720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備註</a:t>
                      </a:r>
                    </a:p>
                  </a:txBody>
                  <a:tcPr marL="73152" marR="73152" marT="45720" marB="45720">
                    <a:solidFill>
                      <a:srgbClr val="181818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L7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Application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應用程式 / WinSock API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send() / recv()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L4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Transport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tcpip.sys (TCP/UDP)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連接埠管理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L3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Network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tcpip.sys (IP)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路由、IP 封包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L2b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LLC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ndis.sys (NDIS)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協定多工/解多工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L2a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MAC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nwifi.sys + OEM.sys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802.11 管理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L1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PHY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NIC 韌體 + 硬體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RF 信號處理，CSI 在此層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CSI 存在於 L1，NDIS 介面從 L2a 開始，兩者之間沒有標準橋接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基礎架構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07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21212"/>
              </a:gs>
              <a:gs pos="100000">
                <a:srgbClr val="28282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50505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109728"/>
            <a:ext cx="9144000" cy="0"/>
          </a:xfrm>
          <a:prstGeom prst="line">
            <a:avLst/>
          </a:prstGeom>
          <a:ln w="635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0" y="7315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0" b="1">
                <a:solidFill>
                  <a:srgbClr val="383838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Windows 驅動堆疊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A9A9A"/>
                </a:solidFill>
                <a:latin typeface="Calibri"/>
              </a:rPr>
              <a:t>從 NIC 硬體向上：逐層解析 CSI 消失的原因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3840480"/>
            <a:ext cx="841248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Windows 驅動堆疊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08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CSI 要去哪？軟體層的問題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Section 2/4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NIC 韌體</a:t>
            </a:r>
          </a:p>
          <a:p>
            <a:pPr algn="ctr"/>
            <a:r>
              <a:rPr sz="1100">
                <a:solidFill>
                  <a:srgbClr val="9A9A9A"/>
                </a:solidFill>
                <a:latin typeface="Calibri"/>
              </a:rPr>
              <a:t>CSI 計算於此
存放於暫存器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66160" y="2608326"/>
            <a:ext cx="320040" cy="0"/>
          </a:xfrm>
          <a:prstGeom prst="line">
            <a:avLst/>
          </a:prstGeom>
          <a:ln w="25400">
            <a:solidFill>
              <a:srgbClr val="9A9A9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88620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Windows
驅動堆疊</a:t>
            </a:r>
          </a:p>
          <a:p>
            <a:pPr algn="ctr"/>
            <a:r>
              <a:rPr sz="1100">
                <a:solidFill>
                  <a:srgbClr val="9A9A9A"/>
                </a:solidFill>
                <a:latin typeface="Calibri"/>
              </a:rPr>
              <a:t>多層軟體元件
（本段逐層解析）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257800" y="2608326"/>
            <a:ext cx="320040" cy="0"/>
          </a:xfrm>
          <a:prstGeom prst="line">
            <a:avLst/>
          </a:prstGeom>
          <a:ln w="25400">
            <a:solidFill>
              <a:srgbClr val="9A9A9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應用程式</a:t>
            </a:r>
          </a:p>
          <a:p>
            <a:pPr algn="ctr"/>
            <a:r>
              <a:rPr sz="1100">
                <a:solidFill>
                  <a:srgbClr val="9A9A9A"/>
                </a:solidFill>
                <a:latin typeface="Calibri"/>
              </a:rPr>
              <a:t>研究目標
想在此取得 CSI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PHY 工程師熟悉左側；本段目標：找出中間黑盒子裡，CSI 在哪一層消失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Windows 驅動堆疊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09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OEM.sys：網卡廠商 Miniport Driver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Section 2/4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960120"/>
            <a:ext cx="0" cy="3433572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A9A9A"/>
                </a:solidFill>
                <a:latin typeface="Calibri"/>
              </a:rPr>
              <a:t>職責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直接與 NIC 硬體暫存器溝通（MMIO/PCI）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控制 RF 參數（頻道、頻寬、TX 功率）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管理 DMA 傳輸（TX/RX 封包緩衝）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實作 NDIS Miniport 介面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上報硬體事件給 nwifi.sys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346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A9A9A"/>
                </a:solidFill>
                <a:latin typeface="Calibri"/>
              </a:rPr>
              <a:t>範例（各廠商）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346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Intel：iwlwifi（Linux）/ netwtw*.sys（Windows）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Qualcomm/Atheros：ath*.sys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Broadcom：bcmwl*.sys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MediaTek：mt*.sys</a:t>
            </a:r>
          </a:p>
          <a:p>
            <a:r>
              <a:rPr sz="600"/>
              <a:t/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1A1A1A"/>
                </a:solidFill>
              </a:rPr>
              <a:t>⚠ OEM.sys 是唯一能讀取 CSI 的軟體元件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但它選擇不向上層暴露此資料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OEM.sys 是 Windows 驅動堆疊中距離硬體最近的軟體層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Windows 驅動堆疊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10 / 25</a:t>
            </a:r>
          </a:p>
        </p:txBody>
      </p:sp>
      <p:pic>
        <p:nvPicPr>
          <p:cNvPr id="17" name="Picture 16" descr="slide08_nic_hardw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926080"/>
            <a:ext cx="2103120" cy="11795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OEM.sys 的資料路徑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Section 2/4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NIC 韌體
計算 CSI</a:t>
            </a:r>
          </a:p>
          <a:p>
            <a:pPr algn="ctr"/>
            <a:r>
              <a:rPr sz="1100">
                <a:solidFill>
                  <a:srgbClr val="9A9A9A"/>
                </a:solidFill>
                <a:latin typeface="Calibri"/>
              </a:rPr>
              <a:t>儲存於暫存器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4520" y="2608326"/>
            <a:ext cx="320040" cy="0"/>
          </a:xfrm>
          <a:prstGeom prst="line">
            <a:avLst/>
          </a:prstGeom>
          <a:ln w="25400">
            <a:solidFill>
              <a:srgbClr val="9A9A9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19456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OEM.sys
DMA 讀取</a:t>
            </a:r>
          </a:p>
          <a:p>
            <a:pPr algn="ctr"/>
            <a:r>
              <a:rPr sz="1100">
                <a:solidFill>
                  <a:srgbClr val="9A9A9A"/>
                </a:solidFill>
                <a:latin typeface="Calibri"/>
              </a:rPr>
              <a:t>RX 封包緩衝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66160" y="2608326"/>
            <a:ext cx="320040" cy="0"/>
          </a:xfrm>
          <a:prstGeom prst="line">
            <a:avLst/>
          </a:prstGeom>
          <a:ln w="25400">
            <a:solidFill>
              <a:srgbClr val="9A9A9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8620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NDIS_RECEIVE
_NET_BUFFER</a:t>
            </a:r>
          </a:p>
          <a:p>
            <a:pPr algn="ctr"/>
            <a:r>
              <a:rPr sz="1100">
                <a:solidFill>
                  <a:srgbClr val="9A9A9A"/>
                </a:solidFill>
                <a:latin typeface="Calibri"/>
              </a:rPr>
              <a:t>標準封包上報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57800" y="2608326"/>
            <a:ext cx="320040" cy="0"/>
          </a:xfrm>
          <a:prstGeom prst="line">
            <a:avLst/>
          </a:prstGeom>
          <a:ln w="25400">
            <a:solidFill>
              <a:srgbClr val="9A9A9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nwifi.sys
接收</a:t>
            </a:r>
          </a:p>
          <a:p>
            <a:pPr algn="ctr"/>
            <a:r>
              <a:rPr sz="1100">
                <a:solidFill>
                  <a:srgbClr val="9A9A9A"/>
                </a:solidFill>
                <a:latin typeface="Calibri"/>
              </a:rPr>
              <a:t>802.11 frame 處理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9440" y="2608326"/>
            <a:ext cx="320040" cy="0"/>
          </a:xfrm>
          <a:prstGeom prst="line">
            <a:avLst/>
          </a:prstGeom>
          <a:ln w="25400">
            <a:solidFill>
              <a:srgbClr val="9A9A9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26948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tcpip.sys
→ 應用層</a:t>
            </a:r>
          </a:p>
          <a:p>
            <a:pPr algn="ctr"/>
            <a:r>
              <a:rPr sz="1100">
                <a:solidFill>
                  <a:srgbClr val="9A9A9A"/>
                </a:solidFill>
                <a:latin typeface="Calibri"/>
              </a:rPr>
              <a:t>IP 封包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CSI 存於 NIC 暫存器，OEM.sys 只將 802.11 frame payload 上報——CSI 從未進入 NDIS 封包結構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Windows 驅動堆疊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nwifi.sys：連線管理層（PHY 資訊截斷點）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Section 2/4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36576" cy="3433572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051560"/>
            <a:ext cx="8138160" cy="3250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1" sz="1700">
                <a:solidFill>
                  <a:srgbClr val="9A9A9A"/>
                </a:solidFill>
              </a:rPr>
              <a:t>▶ 職責：802.11 連線管理（Native 802.11 架構，Windows 10 起由 WDI 取代但概念相同）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· 認證（WPA2/WPA3）、漫遊、省電、掃描</a:t>
            </a:r>
          </a:p>
          <a:p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9A9A9A"/>
                </a:solidFill>
              </a:rPr>
              <a:t>▶ 向上暴露的介面：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· SSID / RSSI / 連線狀態 / 頻道 / 連線速率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· Native WiFi API（wlanapi.dll）→ 應用程式</a:t>
            </a:r>
          </a:p>
          <a:p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9A9A9A"/>
                </a:solidFill>
              </a:rPr>
              <a:t>⚠ 不暴露任何 PHY 層原始資料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· ❌ CSI、❌ IQ 樣本、❌ 每天線獨立 RSSI</a:t>
            </a:r>
          </a:p>
          <a:p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● 設計目標是連線管理，不是 RF 量測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從 nwifi.sys 向上，PHY 層資訊已被永久丟棄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Windows 驅動堆疊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NDIS 無 CSI 的根本原因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Section 2/4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36576" cy="3433572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051560"/>
            <a:ext cx="8138160" cy="3250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● NDIS 設計目標：跨廠商通用介面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· 任何協定 × 任何網卡 = 最大公約數</a:t>
            </a:r>
          </a:p>
          <a:p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● OID 機制提供：SSID / RSSI / 掃描 / 統計</a:t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1A1A1A"/>
                </a:solidFill>
              </a:rPr>
              <a:t>❌ 無任何 OID 定義 CSI 查詢</a:t>
            </a:r>
          </a:p>
          <a:p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9A9A9A"/>
                </a:solidFill>
              </a:rPr>
              <a:t>▶ 為什麼無法標準化 CSI？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· Intel 5300：30 個子載波群組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· Atheros AR9380：56 個子載波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· 格式完全不同，無法取最大公約數</a:t>
            </a:r>
          </a:p>
          <a:p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● 結論：通用性的代價 = 丟棄廠商私有 PHY 細節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NDIS 的「通用性」正是 CSI 無法取得的根本原因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Windows 驅動堆疊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WDI：Windows 10+ 新驅動模型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Section 2/4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960120"/>
            <a:ext cx="0" cy="3433572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A9A9A"/>
                </a:solidFill>
                <a:latin typeface="Calibri"/>
              </a:rPr>
              <a:t>WDI 改變了什麼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WLAN Device Driver Interface（WDI）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Win10 引入，取代部分 NDIS WiFi 介面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將驅動分為：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· IHV 元件（UMDF，User Mode）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· WDI 框架（KMDF，Kernel Mode）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降低藍屏風險（User Mode crash 不致命）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簡化 IHV 驅動開發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346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A9A9A"/>
                </a:solidFill>
                <a:latin typeface="Calibri"/>
              </a:rPr>
              <a:t>WDI 對 CSI 的影響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346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 b="1">
                <a:solidFill>
                  <a:srgbClr val="1A1A1A"/>
                </a:solidFill>
              </a:rPr>
              <a:t>❌ WDI Task/Property 定義中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 同樣沒有 CSI 相關介面</a:t>
            </a:r>
          </a:p>
          <a:p>
            <a:r>
              <a:rPr sz="600"/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WDITASK 清單（部分）：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· TaskScan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· TaskConnect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· TaskDisconnect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· TaskSendRequest</a:t>
            </a:r>
          </a:p>
          <a:p>
            <a:r>
              <a:rPr sz="600"/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→ 架構更新，但 CSI 缺席問題未解決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WDI 是架構改進，不是 PHY 資料暴露的嘗試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Windows 驅動堆疊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Windows 網路驅動架構總覽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Section 2/4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66978"/>
            <a:ext cx="6583680" cy="384048"/>
          </a:xfrm>
          <a:prstGeom prst="rect">
            <a:avLst/>
          </a:prstGeom>
          <a:gradFill rotWithShape="1">
            <a:gsLst>
              <a:gs pos="0">
                <a:srgbClr val="353535"/>
              </a:gs>
              <a:gs pos="100000">
                <a:srgbClr val="3C3C3C"/>
              </a:gs>
            </a:gsLst>
            <a:lin scaled="0" ang="0"/>
          </a:gradFill>
          <a:ln w="1270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應用程式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96697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Calibri"/>
              </a:rPr>
              <a:t>User Mode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31920" y="1351026"/>
            <a:ext cx="0" cy="36576"/>
          </a:xfrm>
          <a:prstGeom prst="line">
            <a:avLst/>
          </a:prstGeom>
          <a:ln w="1270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40080" y="1387602"/>
            <a:ext cx="6583680" cy="384048"/>
          </a:xfrm>
          <a:prstGeom prst="rect">
            <a:avLst/>
          </a:prstGeom>
          <a:gradFill rotWithShape="1">
            <a:gsLst>
              <a:gs pos="0">
                <a:srgbClr val="424242"/>
              </a:gs>
              <a:gs pos="100000">
                <a:srgbClr val="4B4B4B"/>
              </a:gs>
            </a:gsLst>
            <a:lin scaled="0" ang="0"/>
          </a:gradFill>
          <a:ln w="1270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WinSock (ws2_32.dll)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38760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Calibri"/>
              </a:rPr>
              <a:t>User Mode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31920" y="1771650"/>
            <a:ext cx="0" cy="36576"/>
          </a:xfrm>
          <a:prstGeom prst="line">
            <a:avLst/>
          </a:prstGeom>
          <a:ln w="1270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40080" y="1808226"/>
            <a:ext cx="6583680" cy="384048"/>
          </a:xfrm>
          <a:prstGeom prst="rect">
            <a:avLst/>
          </a:prstGeom>
          <a:gradFill rotWithShape="1">
            <a:gsLst>
              <a:gs pos="0">
                <a:srgbClr val="4E4E4E"/>
              </a:gs>
              <a:gs pos="100000">
                <a:srgbClr val="595959"/>
              </a:gs>
            </a:gsLst>
            <a:lin scaled="0" ang="0"/>
          </a:gradFill>
          <a:ln w="1270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AFD.sys（Ancillary Function Driver）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80822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Calibri"/>
              </a:rPr>
              <a:t>Kernel Mode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31920" y="2192274"/>
            <a:ext cx="0" cy="36576"/>
          </a:xfrm>
          <a:prstGeom prst="line">
            <a:avLst/>
          </a:prstGeom>
          <a:ln w="1270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40080" y="2228850"/>
            <a:ext cx="6583680" cy="384048"/>
          </a:xfrm>
          <a:prstGeom prst="rect">
            <a:avLst/>
          </a:prstGeom>
          <a:gradFill rotWithShape="1">
            <a:gsLst>
              <a:gs pos="0">
                <a:srgbClr val="5A5A5A"/>
              </a:gs>
              <a:gs pos="100000">
                <a:srgbClr val="676767"/>
              </a:gs>
            </a:gsLst>
            <a:lin scaled="0" ang="0"/>
          </a:gradFill>
          <a:ln w="1270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tcpip.sys（TCP/IP Stack）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22885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Calibri"/>
              </a:rPr>
              <a:t>Kernel Mode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31920" y="2612898"/>
            <a:ext cx="0" cy="36576"/>
          </a:xfrm>
          <a:prstGeom prst="line">
            <a:avLst/>
          </a:prstGeom>
          <a:ln w="1270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40080" y="2649474"/>
            <a:ext cx="6583680" cy="384048"/>
          </a:xfrm>
          <a:prstGeom prst="rect">
            <a:avLst/>
          </a:prstGeom>
          <a:gradFill rotWithShape="1">
            <a:gsLst>
              <a:gs pos="0">
                <a:srgbClr val="666666"/>
              </a:gs>
              <a:gs pos="100000">
                <a:srgbClr val="757575"/>
              </a:gs>
            </a:gsLst>
            <a:lin scaled="0" ang="0"/>
          </a:gradFill>
          <a:ln w="1270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ndis.sys（NDIS）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649474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Calibri"/>
              </a:rPr>
              <a:t>Kernel Mode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31920" y="3033522"/>
            <a:ext cx="0" cy="36576"/>
          </a:xfrm>
          <a:prstGeom prst="line">
            <a:avLst/>
          </a:prstGeom>
          <a:ln w="1270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40080" y="3070098"/>
            <a:ext cx="6583680" cy="384048"/>
          </a:xfrm>
          <a:prstGeom prst="rect">
            <a:avLst/>
          </a:prstGeom>
          <a:gradFill rotWithShape="1">
            <a:gsLst>
              <a:gs pos="0">
                <a:srgbClr val="727272"/>
              </a:gs>
              <a:gs pos="100000">
                <a:srgbClr val="838383"/>
              </a:gs>
            </a:gsLst>
            <a:lin scaled="0" ang="0"/>
          </a:gradFill>
          <a:ln w="1270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nwifi.sys（Native WiFi）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07009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Calibri"/>
              </a:rPr>
              <a:t>Kernel Mode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931920" y="3454146"/>
            <a:ext cx="0" cy="36576"/>
          </a:xfrm>
          <a:prstGeom prst="line">
            <a:avLst/>
          </a:prstGeom>
          <a:ln w="1270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40080" y="3490722"/>
            <a:ext cx="6583680" cy="384048"/>
          </a:xfrm>
          <a:prstGeom prst="rect">
            <a:avLst/>
          </a:prstGeom>
          <a:gradFill rotWithShape="1">
            <a:gsLst>
              <a:gs pos="0">
                <a:srgbClr val="7E7E7E"/>
              </a:gs>
              <a:gs pos="100000">
                <a:srgbClr val="909090"/>
              </a:gs>
            </a:gsLst>
            <a:lin scaled="0" ang="0"/>
          </a:gradFill>
          <a:ln w="1270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OEM.sys（Miniport Driver）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49072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Calibri"/>
              </a:rPr>
              <a:t>Kernel Mode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931920" y="3874770"/>
            <a:ext cx="0" cy="36576"/>
          </a:xfrm>
          <a:prstGeom prst="line">
            <a:avLst/>
          </a:prstGeom>
          <a:ln w="1270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40080" y="3911346"/>
            <a:ext cx="6583680" cy="384048"/>
          </a:xfrm>
          <a:prstGeom prst="rect">
            <a:avLst/>
          </a:prstGeom>
          <a:gradFill rotWithShape="1">
            <a:gsLst>
              <a:gs pos="0">
                <a:srgbClr val="8A8A8A"/>
              </a:gs>
              <a:gs pos="100000">
                <a:srgbClr val="9E9E9E"/>
              </a:gs>
            </a:gsLst>
            <a:lin scaled="0" ang="0"/>
          </a:gradFill>
          <a:ln w="1270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NIC 硬體 + 韌體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91134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Calibri"/>
              </a:rPr>
              <a:t>Hardware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每層只能透過明確定義的介面與相鄰層溝通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Windows 驅動堆疊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CSI 消失點分析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Section 2/4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4754880" cy="402336"/>
          </a:xfrm>
          <a:prstGeom prst="rect">
            <a:avLst/>
          </a:prstGeom>
          <a:solidFill>
            <a:srgbClr val="545454"/>
          </a:solidFill>
          <a:ln w="1270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應用程式 / WinSock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05156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無法感知 CSI 存在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44752"/>
            <a:ext cx="4754880" cy="402336"/>
          </a:xfrm>
          <a:prstGeom prst="rect">
            <a:avLst/>
          </a:prstGeom>
          <a:solidFill>
            <a:srgbClr val="545454"/>
          </a:solidFill>
          <a:ln w="1270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tcpip.sys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49047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只處理 IP 封包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83664"/>
            <a:ext cx="4754880" cy="402336"/>
          </a:xfrm>
          <a:prstGeom prst="rect">
            <a:avLst/>
          </a:prstGeom>
          <a:solidFill>
            <a:srgbClr val="555555"/>
          </a:solidFill>
          <a:ln w="317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ndis.sys（NDIS）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1929384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87878"/>
                </a:solidFill>
                <a:latin typeface="Calibri"/>
              </a:rPr>
              <a:t>無 CSI OID 定義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22576"/>
            <a:ext cx="4754880" cy="402336"/>
          </a:xfrm>
          <a:prstGeom prst="rect">
            <a:avLst/>
          </a:prstGeom>
          <a:solidFill>
            <a:srgbClr val="303030"/>
          </a:solidFill>
          <a:ln w="3175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nwifi.sys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36829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  <a:latin typeface="Calibri"/>
              </a:rPr>
              <a:t>丟棄所有 PHY metadata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61488"/>
            <a:ext cx="4754880" cy="402336"/>
          </a:xfrm>
          <a:prstGeom prst="rect">
            <a:avLst/>
          </a:prstGeom>
          <a:solidFill>
            <a:srgbClr val="303030"/>
          </a:solidFill>
          <a:ln w="3175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OEM.sys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80720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  <a:latin typeface="Calibri"/>
              </a:rPr>
              <a:t>能讀取 CSI，但不上報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00400"/>
            <a:ext cx="4754880" cy="402336"/>
          </a:xfrm>
          <a:prstGeom prst="rect">
            <a:avLst/>
          </a:prstGeom>
          <a:solidFill>
            <a:srgbClr val="727272"/>
          </a:solidFill>
          <a:ln w="12700"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NIC 韌體 + 硬體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24612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CSI 計算並儲存於此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CSI 消失於 OEM.sys ↔ nwifi.sys 介面：OEM.sys 有能力讀取但選擇不轉發，nwifi.sys 也不要求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Windows 驅動堆疊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21212"/>
              </a:gs>
              <a:gs pos="100000">
                <a:srgbClr val="28282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50505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109728"/>
            <a:ext cx="9144000" cy="0"/>
          </a:xfrm>
          <a:prstGeom prst="line">
            <a:avLst/>
          </a:prstGeom>
          <a:ln w="635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0" y="7315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0" b="1">
                <a:solidFill>
                  <a:srgbClr val="383838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替代方案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A9A9A"/>
                </a:solidFill>
                <a:latin typeface="Calibri"/>
              </a:rPr>
              <a:t>Linux 生態 vs Windows 限制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3840480"/>
            <a:ext cx="841248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替代方案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為什麼 Linux 可以取得 CSI？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Section 3/4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960120"/>
            <a:ext cx="0" cy="3433572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A9A9A"/>
                </a:solidFill>
                <a:latin typeface="Calibri"/>
              </a:rPr>
              <a:t>Linux 驅動架構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cfg80211：802.11 設定框架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mac80211：軟體 MAC 實作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nl80211：Netlink 介面（用戶空間↔核心）</a:t>
            </a:r>
          </a:p>
          <a:p>
            <a:r>
              <a:rPr sz="600"/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關鍵差異：開源驅動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· iwlwifi（Intel）可修改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· ath9k（Atheros）可修改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· brcmfmac（Broadcom）可 patch 韌體</a:t>
            </a:r>
          </a:p>
          <a:p>
            <a:r>
              <a:rPr sz="600"/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debugfs 介面：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/sys/kernel/debug/ieee80211/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部分驅動在此暴露 CSI 原始資料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346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A9A9A"/>
                </a:solidFill>
                <a:latin typeface="Calibri"/>
              </a:rPr>
              <a:t>Windows 的根本差異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346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 b="1">
                <a:solidFill>
                  <a:srgbClr val="1A1A1A"/>
                </a:solidFill>
              </a:rPr>
              <a:t>✗ OEM.sys 為閉源二進位</a:t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1A1A1A"/>
                </a:solidFill>
              </a:rPr>
              <a:t>✗ NDIS 介面固定，無擴充 CSI 的機制</a:t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1A1A1A"/>
                </a:solidFill>
              </a:rPr>
              <a:t>✗ 無等同 debugfs 的 PHY 資料介面</a:t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1A1A1A"/>
                </a:solidFill>
              </a:rPr>
              <a:t>✗ 韌體修改需要 WHQL 簽章</a:t>
            </a:r>
          </a:p>
          <a:p>
            <a:r>
              <a:rPr sz="600"/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→ Linux 的可行性來自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開源 + 可修改驅動 + 彈性的核心介面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不是 Windows 的「bug」，是設計哲學差異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Linux 的可行性來自開源生態，不是 Windows 的設計缺陷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替代方案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18 / 25</a:t>
            </a:r>
          </a:p>
        </p:txBody>
      </p:sp>
      <p:pic>
        <p:nvPicPr>
          <p:cNvPr id="17" name="Picture 16" descr="slide15_linux_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926080"/>
            <a:ext cx="2057400" cy="116128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現代 CSI 工具生態（全部 Linux-only）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Section 3/4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033272"/>
          <a:ext cx="8321040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451974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工具</a:t>
                      </a:r>
                    </a:p>
                  </a:txBody>
                  <a:tcPr marL="73152" marR="73152" marT="45720" marB="45720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硬體</a:t>
                      </a:r>
                    </a:p>
                  </a:txBody>
                  <a:tcPr marL="73152" marR="73152" marT="45720" marB="45720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標準</a:t>
                      </a:r>
                    </a:p>
                  </a:txBody>
                  <a:tcPr marL="73152" marR="73152" marT="45720" marB="45720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頻寬</a:t>
                      </a:r>
                    </a:p>
                  </a:txBody>
                  <a:tcPr marL="73152" marR="73152" marT="45720" marB="45720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特色</a:t>
                      </a:r>
                    </a:p>
                  </a:txBody>
                  <a:tcPr marL="73152" marR="73152" marT="45720" marB="45720">
                    <a:solidFill>
                      <a:srgbClr val="181818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PicoScenes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Intel AX200/AX210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802.11a/g/n/ac/ax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20–160 MHz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最完整，商業支援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FeitCSI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Intel AX200/AX210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802.11a/g/n/ac/ax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20–160 MHz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開源，CSI 注入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IAX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Intel AX200/201/210/211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802.11ax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20–160 MHz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學術研究用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Nexmon CSI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Broadcom/Cypress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802.11a/g/n/ac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20–80 MHz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Raspberry Pi 支援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Atheros-CSI-Tool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AR9380（ath9k）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20/40 MHz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OpenWRT 支援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linux-80211n-csitool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Intel IWL5300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20/40 MHz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最早的工具，歷史性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所有工具均僅支援 Linux——這直接說明了為什麼 Windows 無法取得 CSI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替代方案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Windows 替代方案比較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Section 3/4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033272"/>
          <a:ext cx="83210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方案</a:t>
                      </a:r>
                    </a:p>
                  </a:txBody>
                  <a:tcPr marL="73152" marR="73152" marT="45720" marB="45720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技術難度</a:t>
                      </a:r>
                    </a:p>
                  </a:txBody>
                  <a:tcPr marL="73152" marR="73152" marT="45720" marB="45720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CSI 完整度</a:t>
                      </a:r>
                    </a:p>
                  </a:txBody>
                  <a:tcPr marL="73152" marR="73152" marT="45720" marB="45720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維護成本</a:t>
                      </a:r>
                    </a:p>
                  </a:txBody>
                  <a:tcPr marL="73152" marR="73152" marT="45720" marB="45720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建議</a:t>
                      </a:r>
                    </a:p>
                  </a:txBody>
                  <a:tcPr marL="73152" marR="73152" marT="45720" marB="45720">
                    <a:solidFill>
                      <a:srgbClr val="18181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Raw Packet Capture</a:t>
                      </a:r>
                    </a:p>
                    <a:p>
                      <a:r>
                        <a:t>(WinPcap/Npcap)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★☆☆☆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❌ 無 CSI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低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僅封包分析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OEM 私有 IOCTL</a:t>
                      </a:r>
                    </a:p>
                    <a:p>
                      <a:r>
                        <a:t>(逆向 OEM.sys)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★★★★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⚠ 不穩定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極高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不建議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雙系統 Linux（推薦）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★★☆☆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✅ 完整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低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最佳方案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Linux Live USB</a:t>
                      </a:r>
                    </a:p>
                    <a:p>
                      <a:r>
                        <a:t>(FeitCSI)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★☆☆☆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✅ 完整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低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快速上手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建議：Intel AX200 + 雙系統 Linux + PicoScenes/FeitCSI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替代方案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支援 CSI 的硬體選型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Section 3/4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033272"/>
          <a:ext cx="8321040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451974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網卡型號</a:t>
                      </a:r>
                    </a:p>
                  </a:txBody>
                  <a:tcPr marL="73152" marR="73152" marT="45720" marB="45720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晶片</a:t>
                      </a:r>
                    </a:p>
                  </a:txBody>
                  <a:tcPr marL="73152" marR="73152" marT="45720" marB="45720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標準</a:t>
                      </a:r>
                    </a:p>
                  </a:txBody>
                  <a:tcPr marL="73152" marR="73152" marT="45720" marB="45720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CSI 工具</a:t>
                      </a:r>
                    </a:p>
                  </a:txBody>
                  <a:tcPr marL="73152" marR="73152" marT="45720" marB="45720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平台</a:t>
                      </a:r>
                    </a:p>
                  </a:txBody>
                  <a:tcPr marL="73152" marR="73152" marT="45720" marB="45720">
                    <a:solidFill>
                      <a:srgbClr val="181818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Intel WiFi Link 5300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IWL5300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linux-80211n-csitool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Linux（舊）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Intel Wi-Fi 6 AX200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AX200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802.11ax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PicoScenes / FeitCSI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Linux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Intel Wi-Fi 6E AX210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AX210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802.11ax（6GHz）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PicoScenes / FeitCSI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Linux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Atheros AR9380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AR9380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Atheros-CSI-Tool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Linux / OpenWRT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Broadcom BCM4339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BCM4339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802.11ac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Nexmon CSI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Android / RPi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Raspberry Pi 4 (RPi)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CYW43455 (原BCM43455)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802.11ac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Nexmon CSI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Linux（RPi OS）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採購建議：Intel AX200 M.2 網卡 + Linux 雙系統 = 最易取得的 CSI 研究平台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替代方案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21212"/>
              </a:gs>
              <a:gs pos="100000">
                <a:srgbClr val="28282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50505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109728"/>
            <a:ext cx="9144000" cy="0"/>
          </a:xfrm>
          <a:prstGeom prst="line">
            <a:avLst/>
          </a:prstGeom>
          <a:ln w="635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0" y="7315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0" b="1">
                <a:solidFill>
                  <a:srgbClr val="383838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結語與建議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A9A9A"/>
                </a:solidFill>
                <a:latin typeface="Calibri"/>
              </a:rPr>
              <a:t>硬體選型 + 環境建議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3840480"/>
            <a:ext cx="841248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結語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完整架構總覽：CSI 的旅程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Section 4/4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4754880" cy="402336"/>
          </a:xfrm>
          <a:prstGeom prst="rect">
            <a:avLst/>
          </a:prstGeom>
          <a:solidFill>
            <a:srgbClr val="545454"/>
          </a:solidFill>
          <a:ln w="1270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應用程式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05156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只能用 WinSock，看不到 PHY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44752"/>
            <a:ext cx="4754880" cy="402336"/>
          </a:xfrm>
          <a:prstGeom prst="rect">
            <a:avLst/>
          </a:prstGeom>
          <a:solidFill>
            <a:srgbClr val="555555"/>
          </a:solidFill>
          <a:ln w="317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NDIS / tcpip.sys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49047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87878"/>
                </a:solidFill>
                <a:latin typeface="Calibri"/>
              </a:rPr>
              <a:t>無 CSI OID，協定通用化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83664"/>
            <a:ext cx="4754880" cy="402336"/>
          </a:xfrm>
          <a:prstGeom prst="rect">
            <a:avLst/>
          </a:prstGeom>
          <a:solidFill>
            <a:srgbClr val="303030"/>
          </a:solidFill>
          <a:ln w="3175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nwifi.sys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1929384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  <a:latin typeface="Calibri"/>
              </a:rPr>
              <a:t>802.11 管理，丟棄 PHY metadata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22576"/>
            <a:ext cx="4754880" cy="402336"/>
          </a:xfrm>
          <a:prstGeom prst="rect">
            <a:avLst/>
          </a:prstGeom>
          <a:solidFill>
            <a:srgbClr val="303030"/>
          </a:solidFill>
          <a:ln w="3175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OEM.sys（唯一機會）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36829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  <a:latin typeface="Calibri"/>
              </a:rPr>
              <a:t>能讀 CSI，但介面不暴露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61488"/>
            <a:ext cx="4754880" cy="402336"/>
          </a:xfrm>
          <a:prstGeom prst="rect">
            <a:avLst/>
          </a:prstGeom>
          <a:solidFill>
            <a:srgbClr val="727272"/>
          </a:solidFill>
          <a:ln w="12700"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NIC 韌體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80720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CSI 在此計算完成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00400"/>
            <a:ext cx="4754880" cy="402336"/>
          </a:xfrm>
          <a:prstGeom prst="rect">
            <a:avLst/>
          </a:prstGeom>
          <a:solidFill>
            <a:srgbClr val="727272"/>
          </a:solidFill>
          <a:ln w="12700"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PHY 硬體 + RF 電路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24612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OFDM 解調，子載波分析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Windows 架構的每一層都有合理的設計動機，但合力造成了 CSI 無法取得的結果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結語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給 RF 工程師的建議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Section 4/4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36576" cy="3433572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051560"/>
            <a:ext cx="8138160" cy="3250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1" sz="1700">
                <a:solidFill>
                  <a:srgbClr val="9A9A9A"/>
                </a:solidFill>
              </a:rPr>
              <a:t>1. 選硬體先確認 CSI 工具支援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→ Intel AX200/AX210 = 目前最佳選擇</a:t>
            </a:r>
          </a:p>
          <a:p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9A9A9A"/>
                </a:solidFill>
              </a:rPr>
              <a:t>2. 優先 Linux 環境採集 CSI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→ PicoScenes（商業支援）或 FeitCSI（開源）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→ 雙系統：Linux 採集，Windows 後處理</a:t>
            </a:r>
          </a:p>
          <a:p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9A9A9A"/>
                </a:solidFill>
              </a:rPr>
              <a:t>3. 避免的坑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❌ OEM 私有 IOCTL（每次驅動更新後失效）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❌ VM 取 CSI（時序精度受 Hypervisor 影響）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❌ 未在支援清單上的網卡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結語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Q&amp;A / 參考資料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Section 4/4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8138160" cy="3415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9A9A9A"/>
                </a:solidFill>
                <a:latin typeface="Calibri"/>
              </a:rPr>
              <a:t>[1] D. Halperin et al., Tool Release: Gathering 802.11n Traces with CSI, ACM SIGCOMM CCR, Vol. 41, No. 1, 2011. -&gt; linux-80211n-csitool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9A9A9A"/>
                </a:solidFill>
                <a:latin typeface="Calibri"/>
              </a:rPr>
              <a:t>[2] M. Schulz et al., Nexmon: The C-based Firmware Patching Framework -- seemoo-lab/nexmon_csi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9A9A9A"/>
                </a:solidFill>
                <a:latin typeface="Calibri"/>
              </a:rPr>
              <a:t>[3] Z. Jiang, PicoScenes: Enabling Modern Wi-Fi ISAC Research -- ps.zpj.io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9A9A9A"/>
                </a:solidFill>
                <a:latin typeface="Calibri"/>
              </a:rPr>
              <a:t>[4] KuskoSoft, FeitCSI: 802.11 CSI Tool -- feitcsi.kuskosoft.com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9A9A9A"/>
                </a:solidFill>
                <a:latin typeface="Calibri"/>
              </a:rPr>
              <a:t>[5] Y. Xie et al., Atheros CSI Tool for 802.11n NICs -- xieyaxiongfly/Atheros-CSI-Tool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9A9A9A"/>
                </a:solidFill>
                <a:latin typeface="Calibri"/>
              </a:rPr>
              <a:t>[6] Microsoft Docs, WDI Miniport Driver Design Guide -- learn.microsoft.com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9A9A9A"/>
                </a:solidFill>
                <a:latin typeface="Calibri"/>
              </a:rPr>
              <a:t>[7] Microsoft Docs, NDIS Network Interface Architecture -- learn.microsoft.com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9A9A9A"/>
                </a:solidFill>
                <a:latin typeface="Calibri"/>
              </a:rPr>
              <a:t>[8] Gi-z, CSIKit: Python CSI Processing Tools -- github.com/Gi-z/CSIKit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結語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25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