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4A9EFF"/>
                </a:solidFill>
                <a:latin typeface="Calibri"/>
              </a:rPr>
              <a:t>網卡與 OS 層的關係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AACCFF"/>
                </a:solidFill>
                <a:latin typeface="Calibri"/>
              </a:rPr>
              <a:t>從 PHY/MAC 到 Windows 驅動堆疊
——為什麼無法從 Windows 取得 CSI？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ACCFF"/>
                </a:solidFill>
                <a:latin typeface="Calibri"/>
              </a:rPr>
              <a:t>2026-04-07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大綱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第一段：基礎架構（Slides 3–6）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802.11 RF 信號路徑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PHY 層與 CSI 定義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MAC 層職責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OSI 7 層 vs Windows 元件對應</a:t>
            </a:r>
          </a:p>
          <a:p>
            <a:r>
              <a:rPr sz="2000">
                <a:solidFill>
                  <a:srgbClr val="FFFFFF"/>
                </a:solidFill>
              </a:rPr>
              <a:t>第二段：Windows 驅動堆疊（Slides 7–14）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OEM.sys / nwifi.sys / NDIS / WDI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CSI 消失點分析</a:t>
            </a:r>
          </a:p>
          <a:p>
            <a:r>
              <a:rPr sz="2000">
                <a:solidFill>
                  <a:srgbClr val="FFFFFF"/>
                </a:solidFill>
              </a:rPr>
              <a:t>第三段：替代方案（Slides 15–22）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Linux 生態 vs Windows 限制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硬體選型建議</a:t>
            </a:r>
          </a:p>
          <a:p>
            <a:r>
              <a:rPr sz="2000">
                <a:solidFill>
                  <a:srgbClr val="FFFFFF"/>
                </a:solidFill>
              </a:rPr>
              <a:t>第四段：結語與建議（Slides 23–25）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802.11 RF 信號路徑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天線
(Antenna)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接收 RF 信號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2148840" y="2659380"/>
            <a:ext cx="182880" cy="76200"/>
          </a:xfrm>
          <a:prstGeom prst="rect">
            <a:avLst/>
          </a:prstGeom>
          <a:solidFill>
            <a:srgbClr val="4A9EFF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3172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ADC
類比→數位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信號數位化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3703320" y="2659380"/>
            <a:ext cx="182880" cy="76200"/>
          </a:xfrm>
          <a:prstGeom prst="rect">
            <a:avLst/>
          </a:prstGeom>
          <a:solidFill>
            <a:srgbClr val="4A9EFF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8620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OFDM 解調
(Demodulation)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子載波分離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57800" y="2659380"/>
            <a:ext cx="182880" cy="76200"/>
          </a:xfrm>
          <a:prstGeom prst="rect">
            <a:avLst/>
          </a:prstGeom>
          <a:solidFill>
            <a:srgbClr val="4A9EFF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4068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802.11 Frame
解碼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封包還原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12280" y="2659380"/>
            <a:ext cx="182880" cy="76200"/>
          </a:xfrm>
          <a:prstGeom prst="rect">
            <a:avLst/>
          </a:prstGeom>
          <a:solidFill>
            <a:srgbClr val="4A9EFF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9516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MAC 層
處理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上送至驅動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在 OFDM 解調後即可計算：每個子載波的複數增益（振幅 + 相位）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PHY 層：什麼是 CSI？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RSSI（傳統方式）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整體接收功率（單一數值）</a:t>
            </a:r>
          </a:p>
          <a:p>
            <a:r>
              <a:rPr sz="1600">
                <a:solidFill>
                  <a:srgbClr val="FFFFFF"/>
                </a:solidFill>
              </a:rPr>
              <a:t>單位：dBm</a:t>
            </a:r>
          </a:p>
          <a:p>
            <a:r>
              <a:rPr sz="1600">
                <a:solidFill>
                  <a:srgbClr val="FFFFFF"/>
                </a:solidFill>
              </a:rPr>
              <a:t>無法區分多路徑效應</a:t>
            </a:r>
          </a:p>
          <a:p>
            <a:r>
              <a:rPr sz="1600">
                <a:solidFill>
                  <a:srgbClr val="FFFFFF"/>
                </a:solidFill>
              </a:rPr>
              <a:t>精度低，只反映總體信號強度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005840"/>
            <a:ext cx="0" cy="5029200"/>
          </a:xfrm>
          <a:prstGeom prst="rect">
            <a:avLst/>
          </a:prstGeom>
          <a:ln w="9525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CSI（Channel State Information）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每個 OFDM 子載波的複數增益</a:t>
            </a:r>
          </a:p>
          <a:p>
            <a:r>
              <a:rPr sz="1600">
                <a:solidFill>
                  <a:srgbClr val="FFFFFF"/>
                </a:solidFill>
              </a:rPr>
              <a:t>包含振幅（Amplitude）與相位（Phase）</a:t>
            </a:r>
          </a:p>
          <a:p>
            <a:r>
              <a:rPr sz="1600">
                <a:solidFill>
                  <a:srgbClr val="FFFFFF"/>
                </a:solidFill>
              </a:rPr>
              <a:t>802.11n：30 個子載波群組（20MHz）</a:t>
            </a:r>
          </a:p>
          <a:p>
            <a:r>
              <a:rPr sz="1600">
                <a:solidFill>
                  <a:srgbClr val="FFFFFF"/>
                </a:solidFill>
              </a:rPr>
              <a:t>可重建多路徑傳播特性</a:t>
            </a:r>
          </a:p>
          <a:p>
            <a:r>
              <a:rPr sz="1600">
                <a:solidFill>
                  <a:srgbClr val="FFFFFF"/>
                </a:solidFill>
              </a:rPr>
              <a:t>用途：室內定位、手勢辨識、呼吸偵測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= H(f)：頻域通道矩陣，每對 TX-RX 天線各一組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MAC 層職責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媒介存取控制：CSMA/CA（避免碰撞）</a:t>
            </a:r>
          </a:p>
          <a:p>
            <a:r>
              <a:rPr sz="2000">
                <a:solidFill>
                  <a:srgbClr val="FFFFFF"/>
                </a:solidFill>
              </a:rPr>
              <a:t>確認機制：ACK frame</a:t>
            </a:r>
          </a:p>
          <a:p>
            <a:r>
              <a:rPr sz="2000">
                <a:solidFill>
                  <a:srgbClr val="FFFFFF"/>
                </a:solidFill>
              </a:rPr>
              <a:t>Frame 組裝：802.11 Header + Payload</a:t>
            </a:r>
          </a:p>
          <a:p>
            <a:r>
              <a:rPr sz="2000">
                <a:solidFill>
                  <a:srgbClr val="FFFFFF"/>
                </a:solidFill>
              </a:rPr>
              <a:t>安全：WPA2/3 加解密（CCMP/GCMP）</a:t>
            </a:r>
          </a:p>
          <a:p>
            <a:r>
              <a:rPr sz="2000">
                <a:solidFill>
                  <a:srgbClr val="FFFFFF"/>
                </a:solidFill>
              </a:rPr>
              <a:t>省電機制：PS-Poll、TWT（Wi-Fi 6）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▶ CSI 在 MAC 層的狀態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PHY 解調完成後 CSI 儲存於 NIC 韌體/暫存器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MAC 層不負責傳遞 CSI——它只處理 frame 內容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CSI 屬於 PHY 層 side-channel，不在 802.11 協定定義範圍內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OSI 7 層 vs Windows 實際元件對應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OSI 層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標準名稱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Windows 元件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備註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L7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應用程式 / WinSock API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send() / recv()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L4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tcpip.sys (TCP/UDP)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連接埠管理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L3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Network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tcpip.sys (IP)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路由、IP 封包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L2b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LLC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ndis.sys (NDIS)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協定多工/解多工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L2a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MAC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nwifi.sys + OEM.sys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 管理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L1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PHY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NIC 韌體 + 硬體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RF 信號處理，CSI 在此層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存在於 L1，NDIS 介面從 L2a 開始，兩者之間沒有標準橋接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Windows 網路驅動架構總覽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508760"/>
            <a:ext cx="7315200" cy="502920"/>
          </a:xfrm>
          <a:prstGeom prst="rect">
            <a:avLst/>
          </a:prstGeom>
          <a:solidFill>
            <a:srgbClr val="2D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應用程式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50876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User Mode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57400"/>
            <a:ext cx="7315200" cy="502920"/>
          </a:xfrm>
          <a:prstGeom prst="rect">
            <a:avLst/>
          </a:prstGeom>
          <a:solidFill>
            <a:srgbClr val="2D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WinSock (ws2_32.dll)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05740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User Mode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606040"/>
            <a:ext cx="7315200" cy="502920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AFD.sys（Ancillary Function Driver）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60604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154680"/>
            <a:ext cx="7315200" cy="502920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tcpip.sys（TCP/IP Stack）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15468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703320"/>
            <a:ext cx="7315200" cy="502920"/>
          </a:xfrm>
          <a:prstGeom prst="rect">
            <a:avLst/>
          </a:prstGeom>
          <a:solidFill>
            <a:srgbClr val="4A208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ndis.sys（NDIS）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370332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7315200" cy="502920"/>
          </a:xfrm>
          <a:prstGeom prst="rect">
            <a:avLst/>
          </a:prstGeom>
          <a:solidFill>
            <a:srgbClr val="4A208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nwifi.sys（Native WiFi）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25196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800600"/>
            <a:ext cx="7315200" cy="502920"/>
          </a:xfrm>
          <a:prstGeom prst="rect">
            <a:avLst/>
          </a:prstGeom>
          <a:solidFill>
            <a:srgbClr val="7A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OEM.sys（Miniport Driver）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80060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5349240"/>
            <a:ext cx="7315200" cy="502920"/>
          </a:xfrm>
          <a:prstGeom prst="rect">
            <a:avLst/>
          </a:prstGeom>
          <a:solidFill>
            <a:srgbClr val="3A3A0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NIC 硬體 + 韌體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534924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Hardware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每層只能透過明確定義的介面與相鄰層溝通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OEM.sys：網卡廠商 Miniport Driver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職責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直接與 NIC 硬體暫存器溝通（MMIO/PCI）</a:t>
            </a:r>
          </a:p>
          <a:p>
            <a:r>
              <a:rPr sz="1600">
                <a:solidFill>
                  <a:srgbClr val="FFFFFF"/>
                </a:solidFill>
              </a:rPr>
              <a:t>控制 RF 參數（頻道、頻寬、TX 功率）</a:t>
            </a:r>
          </a:p>
          <a:p>
            <a:r>
              <a:rPr sz="1600">
                <a:solidFill>
                  <a:srgbClr val="FFFFFF"/>
                </a:solidFill>
              </a:rPr>
              <a:t>管理 DMA 傳輸（TX/RX 封包緩衝）</a:t>
            </a:r>
          </a:p>
          <a:p>
            <a:r>
              <a:rPr sz="1600">
                <a:solidFill>
                  <a:srgbClr val="FFFFFF"/>
                </a:solidFill>
              </a:rPr>
              <a:t>實作 NDIS Miniport 介面</a:t>
            </a:r>
          </a:p>
          <a:p>
            <a:r>
              <a:rPr sz="1600">
                <a:solidFill>
                  <a:srgbClr val="FFFFFF"/>
                </a:solidFill>
              </a:rPr>
              <a:t>上報硬體事件給 nwifi.sys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005840"/>
            <a:ext cx="0" cy="5029200"/>
          </a:xfrm>
          <a:prstGeom prst="rect">
            <a:avLst/>
          </a:prstGeom>
          <a:ln w="9525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範例（各廠商）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Intel：iwlwifi（Linux）/ netwtw*.sys（Windows）</a:t>
            </a:r>
          </a:p>
          <a:p>
            <a:r>
              <a:rPr sz="1600">
                <a:solidFill>
                  <a:srgbClr val="FFFFFF"/>
                </a:solidFill>
              </a:rPr>
              <a:t>Qualcomm/Atheros：ath*.sys</a:t>
            </a:r>
          </a:p>
          <a:p>
            <a:r>
              <a:rPr sz="1600">
                <a:solidFill>
                  <a:srgbClr val="FFFFFF"/>
                </a:solidFill>
              </a:rPr>
              <a:t>Broadcom：bcmwl*.sys</a:t>
            </a:r>
          </a:p>
          <a:p>
            <a:r>
              <a:rPr sz="1600">
                <a:solidFill>
                  <a:srgbClr val="FFFFFF"/>
                </a:solidFill>
              </a:rPr>
              <a:t>MediaTek：mt*.sys</a:t>
            </a:r>
          </a:p>
          <a:p>
            <a:r>
              <a:rPr sz="600"/>
              <a:t/>
            </a:r>
          </a:p>
          <a:p>
            <a:r>
              <a:rPr sz="1600" b="1">
                <a:solidFill>
                  <a:srgbClr val="FFFFFF"/>
                </a:solidFill>
              </a:rPr>
              <a:t>⚠ OEM.sys 是唯一能讀取 CSI 的軟體元件</a:t>
            </a:r>
          </a:p>
          <a:p>
            <a:r>
              <a:rPr sz="1400">
                <a:solidFill>
                  <a:srgbClr val="AACCFF"/>
                </a:solidFill>
              </a:rPr>
              <a:t>  但它選擇不向上層暴露此資料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OEM.sys 是 Windows 驅動堆疊中距離硬體最近的軟體層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OEM.sys 的資料路徑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NIC 韌體
計算 CSI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儲存於暫存器</a:t>
            </a:r>
          </a:p>
        </p:txBody>
      </p:sp>
      <p:sp>
        <p:nvSpPr>
          <p:cNvPr id="6" name="Rectangle 5"/>
          <p:cNvSpPr/>
          <p:nvPr/>
        </p:nvSpPr>
        <p:spPr>
          <a:xfrm>
            <a:off x="2148840" y="2659380"/>
            <a:ext cx="182880" cy="76200"/>
          </a:xfrm>
          <a:prstGeom prst="rect">
            <a:avLst/>
          </a:prstGeom>
          <a:solidFill>
            <a:srgbClr val="4A9EFF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3172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OEM.sys
DMA 讀取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RX 封包緩衝</a:t>
            </a:r>
          </a:p>
        </p:txBody>
      </p:sp>
      <p:sp>
        <p:nvSpPr>
          <p:cNvPr id="9" name="Rectangle 8"/>
          <p:cNvSpPr/>
          <p:nvPr/>
        </p:nvSpPr>
        <p:spPr>
          <a:xfrm>
            <a:off x="3703320" y="2659380"/>
            <a:ext cx="182880" cy="76200"/>
          </a:xfrm>
          <a:prstGeom prst="rect">
            <a:avLst/>
          </a:prstGeom>
          <a:solidFill>
            <a:srgbClr val="4A9EFF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8620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NDIS_RECEIVE
_NET_BUFFER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標準封包上報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57800" y="2659380"/>
            <a:ext cx="182880" cy="76200"/>
          </a:xfrm>
          <a:prstGeom prst="rect">
            <a:avLst/>
          </a:prstGeom>
          <a:solidFill>
            <a:srgbClr val="4A9EFF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4068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nwifi.sys
接收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802.11 frame 處理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12280" y="2659380"/>
            <a:ext cx="182880" cy="76200"/>
          </a:xfrm>
          <a:prstGeom prst="rect">
            <a:avLst/>
          </a:prstGeom>
          <a:solidFill>
            <a:srgbClr val="4A9EFF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9516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tcpip.sys
→ 應用層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IP 封包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存於 NIC 暫存器，OEM.sys 只將 802.11 frame payload 上報——CSI 從未進入 NDIS 封包結構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nwifi.sys：Windows Native WiFi 驅動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位置：位於 OEM.sys 上方，ndis.sys 下方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主要職責：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802.11 認證流程（Open / WPA2 / WPA3）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漫遊管理（BSS 選擇、重新關聯）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省電模式（Legacy PS / U-APSD）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掃描管理（Passive / Active Scan）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802.11 管理幀處理（Probe / Auth / Assoc）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暴露給上層的介面：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Native WiFi API（wlanapi.dll）→ 應用程式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NDIS OID 介面 → tcpip.sys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⚠ nwifi.sys 不處理、不儲存、不轉發任何 PHY 層原始資料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nwifi.sys 的抽象化：CSI 在此消失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nwifi.sys 向上暴露的資訊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SSID / BSSID</a:t>
            </a:r>
          </a:p>
          <a:p>
            <a:r>
              <a:rPr sz="1600">
                <a:solidFill>
                  <a:srgbClr val="FFFFFF"/>
                </a:solidFill>
              </a:rPr>
              <a:t>RSSI（接收信號強度）</a:t>
            </a:r>
          </a:p>
          <a:p>
            <a:r>
              <a:rPr sz="1600">
                <a:solidFill>
                  <a:srgbClr val="FFFFFF"/>
                </a:solidFill>
              </a:rPr>
              <a:t>連線狀態（已連線/斷線）</a:t>
            </a:r>
          </a:p>
          <a:p>
            <a:r>
              <a:rPr sz="1600">
                <a:solidFill>
                  <a:srgbClr val="FFFFFF"/>
                </a:solidFill>
              </a:rPr>
              <a:t>安全性設定（加密方式）</a:t>
            </a:r>
          </a:p>
          <a:p>
            <a:r>
              <a:rPr sz="1600">
                <a:solidFill>
                  <a:srgbClr val="FFFFFF"/>
                </a:solidFill>
              </a:rPr>
              <a:t>頻道 / 頻寬</a:t>
            </a:r>
          </a:p>
          <a:p>
            <a:r>
              <a:rPr sz="1600">
                <a:solidFill>
                  <a:srgbClr val="FFFFFF"/>
                </a:solidFill>
              </a:rPr>
              <a:t>連線速率（Link Speed）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005840"/>
            <a:ext cx="0" cy="5029200"/>
          </a:xfrm>
          <a:prstGeom prst="rect">
            <a:avLst/>
          </a:prstGeom>
          <a:ln w="9525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nwifi.sys 不暴露的資訊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❌ CSI（子載波增益矩陣）</a:t>
            </a:r>
          </a:p>
          <a:p>
            <a:r>
              <a:rPr sz="1600" b="1">
                <a:solidFill>
                  <a:srgbClr val="FFFFFF"/>
                </a:solidFill>
              </a:rPr>
              <a:t>❌ 原始 IQ 樣本</a:t>
            </a:r>
          </a:p>
          <a:p>
            <a:r>
              <a:rPr sz="1600" b="1">
                <a:solidFill>
                  <a:srgbClr val="FFFFFF"/>
                </a:solidFill>
              </a:rPr>
              <a:t>❌ 每根天線的原始 RSSI</a:t>
            </a:r>
          </a:p>
          <a:p>
            <a:r>
              <a:rPr sz="1600" b="1">
                <a:solidFill>
                  <a:srgbClr val="FFFFFF"/>
                </a:solidFill>
              </a:rPr>
              <a:t>❌ 噪聲圖（Noise Floor per subcarrier）</a:t>
            </a:r>
          </a:p>
          <a:p>
            <a:r>
              <a:rPr sz="1600" b="1">
                <a:solidFill>
                  <a:srgbClr val="FFFFFF"/>
                </a:solidFill>
              </a:rPr>
              <a:t>❌ 封包時間戳（硬體層級）</a:t>
            </a:r>
          </a:p>
          <a:p>
            <a:r>
              <a:rPr sz="600"/>
              <a:t/>
            </a:r>
          </a:p>
          <a:p>
            <a:r>
              <a:rPr sz="1600">
                <a:solidFill>
                  <a:srgbClr val="FFFFFF"/>
                </a:solidFill>
              </a:rPr>
              <a:t>設計原因：nwifi.sys 的目標是</a:t>
            </a:r>
          </a:p>
          <a:p>
            <a:r>
              <a:rPr sz="1600">
                <a:solidFill>
                  <a:srgbClr val="FFFFFF"/>
                </a:solidFill>
              </a:rPr>
              <a:t>連線管理，不是 RF 量測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從 nwifi.sys 向上，PHY 層資訊已被永久丟棄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NDIS 介面設計哲學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NDIS = Network Driver Interface Specification</a:t>
            </a:r>
          </a:p>
          <a:p>
            <a:r>
              <a:rPr sz="2000">
                <a:solidFill>
                  <a:srgbClr val="FFFFFF"/>
                </a:solidFill>
              </a:rPr>
              <a:t>設計目標：讓任何網路協定可搭配任何網卡——跨廠商抽象化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OID（Object Identifier）機制：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OID_802_11_SSID           → 查詢/設定 SSID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OID_802_11_RSSI           → 查詢接收信號強度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OID_802_11_BSSID_LIST     → 掃描結果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OID_802_11_STATISTICS     → 封包統計</a:t>
            </a:r>
          </a:p>
          <a:p>
            <a:r>
              <a:rPr sz="800"/>
              <a:t/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❌ 無任何 OID 定義 CSI 查詢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❌ 無任何 OID 定義子載波層級資訊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NDIS 的「通用性」正是 CSI 無法取得的根本原因：</a:t>
            </a:r>
          </a:p>
          <a:p>
            <a:r>
              <a:rPr sz="2000">
                <a:solidFill>
                  <a:srgbClr val="FFFFFF"/>
                </a:solidFill>
              </a:rPr>
              <a:t>標準化需要取最大公約數，CSI 是廠商私有的 PHY 細節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WDI：Windows 10+ 新驅動模型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WDI 改變了什麼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WLAN Device Driver Interface（WDI）</a:t>
            </a:r>
          </a:p>
          <a:p>
            <a:r>
              <a:rPr sz="1600">
                <a:solidFill>
                  <a:srgbClr val="FFFFFF"/>
                </a:solidFill>
              </a:rPr>
              <a:t>Win10 引入，取代部分 NDIS WiFi 介面</a:t>
            </a:r>
          </a:p>
          <a:p>
            <a:r>
              <a:rPr sz="1600">
                <a:solidFill>
                  <a:srgbClr val="FFFFFF"/>
                </a:solidFill>
              </a:rPr>
              <a:t>將驅動分為：</a:t>
            </a:r>
          </a:p>
          <a:p>
            <a:r>
              <a:rPr sz="1400">
                <a:solidFill>
                  <a:srgbClr val="AACCFF"/>
                </a:solidFill>
              </a:rPr>
              <a:t>  · IHV 元件（UMDF，User Mode）</a:t>
            </a:r>
          </a:p>
          <a:p>
            <a:r>
              <a:rPr sz="1400">
                <a:solidFill>
                  <a:srgbClr val="AACCFF"/>
                </a:solidFill>
              </a:rPr>
              <a:t>  · WDI 框架（KMDF，Kernel Mode）</a:t>
            </a:r>
          </a:p>
          <a:p>
            <a:r>
              <a:rPr sz="1600">
                <a:solidFill>
                  <a:srgbClr val="FFFFFF"/>
                </a:solidFill>
              </a:rPr>
              <a:t>降低藍屏風險（User Mode crash 不致命）</a:t>
            </a:r>
          </a:p>
          <a:p>
            <a:r>
              <a:rPr sz="1600">
                <a:solidFill>
                  <a:srgbClr val="FFFFFF"/>
                </a:solidFill>
              </a:rPr>
              <a:t>簡化 IHV 驅動開發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005840"/>
            <a:ext cx="0" cy="5029200"/>
          </a:xfrm>
          <a:prstGeom prst="rect">
            <a:avLst/>
          </a:prstGeom>
          <a:ln w="9525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WDI 對 CSI 的影響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❌ WDI Task/Property 定義中</a:t>
            </a:r>
          </a:p>
          <a:p>
            <a:r>
              <a:rPr sz="1400">
                <a:solidFill>
                  <a:srgbClr val="AACCFF"/>
                </a:solidFill>
              </a:rPr>
              <a:t>   同樣沒有 CSI 相關介面</a:t>
            </a:r>
          </a:p>
          <a:p>
            <a:r>
              <a:rPr sz="600"/>
              <a:t/>
            </a:r>
          </a:p>
          <a:p>
            <a:r>
              <a:rPr sz="1600">
                <a:solidFill>
                  <a:srgbClr val="FFFFFF"/>
                </a:solidFill>
              </a:rPr>
              <a:t>WDITASK 清單（部分）：</a:t>
            </a:r>
          </a:p>
          <a:p>
            <a:r>
              <a:rPr sz="1400">
                <a:solidFill>
                  <a:srgbClr val="AACCFF"/>
                </a:solidFill>
              </a:rPr>
              <a:t>  · TaskScan</a:t>
            </a:r>
          </a:p>
          <a:p>
            <a:r>
              <a:rPr sz="1400">
                <a:solidFill>
                  <a:srgbClr val="AACCFF"/>
                </a:solidFill>
              </a:rPr>
              <a:t>  · TaskConnect</a:t>
            </a:r>
          </a:p>
          <a:p>
            <a:r>
              <a:rPr sz="1400">
                <a:solidFill>
                  <a:srgbClr val="AACCFF"/>
                </a:solidFill>
              </a:rPr>
              <a:t>  · TaskDisconnect</a:t>
            </a:r>
          </a:p>
          <a:p>
            <a:r>
              <a:rPr sz="1400">
                <a:solidFill>
                  <a:srgbClr val="AACCFF"/>
                </a:solidFill>
              </a:rPr>
              <a:t>  · TaskSendRequest</a:t>
            </a:r>
          </a:p>
          <a:p>
            <a:r>
              <a:rPr sz="600"/>
              <a:t/>
            </a:r>
          </a:p>
          <a:p>
            <a:r>
              <a:rPr sz="1600">
                <a:solidFill>
                  <a:srgbClr val="FFFFFF"/>
                </a:solidFill>
              </a:rPr>
              <a:t>→ 架構更新，但 CSI 缺席問題未解決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WDI 是架構改進，不是 PHY 資料暴露的嘗試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CSI 消失點分析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5029200" cy="530352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應用程式 / WinSock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09728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無法感知 CSI 存在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91056"/>
            <a:ext cx="5029200" cy="530352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tcpip.sys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682496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只處理 IP 封包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176272"/>
            <a:ext cx="5029200" cy="530352"/>
          </a:xfrm>
          <a:prstGeom prst="rect">
            <a:avLst/>
          </a:prstGeom>
          <a:solidFill>
            <a:srgbClr val="6B4A0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ndis.sys（NDIS）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2267712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無 CSI OID 定義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761488"/>
            <a:ext cx="5029200" cy="530352"/>
          </a:xfrm>
          <a:prstGeom prst="rect">
            <a:avLst/>
          </a:prstGeom>
          <a:solidFill>
            <a:srgbClr val="6B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nwifi.sys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85292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丟棄所有 PHY metadata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346704"/>
            <a:ext cx="5029200" cy="530352"/>
          </a:xfrm>
          <a:prstGeom prst="rect">
            <a:avLst/>
          </a:prstGeom>
          <a:solidFill>
            <a:srgbClr val="6B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OEM.sys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3438144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能讀取 CSI，但不上報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931920"/>
            <a:ext cx="5029200" cy="530352"/>
          </a:xfrm>
          <a:prstGeom prst="rect">
            <a:avLst/>
          </a:prstGeom>
          <a:solidFill>
            <a:srgbClr val="1A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NIC 韌體 + 硬體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402336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FF66"/>
                </a:solidFill>
                <a:latin typeface="Calibri"/>
              </a:rPr>
              <a:t>CSI 計算並儲存於此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消失於 OEM.sys ↔ nwifi.sys 介面：OEM.sys 有能力讀取但選擇不轉發，nwifi.sys 也不要求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為什麼 Linux 可以取得 CSI？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Linux 驅動架構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cfg80211：802.11 設定框架</a:t>
            </a:r>
          </a:p>
          <a:p>
            <a:r>
              <a:rPr sz="1600">
                <a:solidFill>
                  <a:srgbClr val="FFFFFF"/>
                </a:solidFill>
              </a:rPr>
              <a:t>mac80211：軟體 MAC 實作</a:t>
            </a:r>
          </a:p>
          <a:p>
            <a:r>
              <a:rPr sz="1600">
                <a:solidFill>
                  <a:srgbClr val="FFFFFF"/>
                </a:solidFill>
              </a:rPr>
              <a:t>nl80211：Netlink 介面（用戶空間↔核心）</a:t>
            </a:r>
          </a:p>
          <a:p>
            <a:r>
              <a:rPr sz="600"/>
              <a:t/>
            </a:r>
          </a:p>
          <a:p>
            <a:r>
              <a:rPr sz="1600">
                <a:solidFill>
                  <a:srgbClr val="FFFFFF"/>
                </a:solidFill>
              </a:rPr>
              <a:t>關鍵差異：開源驅動</a:t>
            </a:r>
          </a:p>
          <a:p>
            <a:r>
              <a:rPr sz="1400">
                <a:solidFill>
                  <a:srgbClr val="AACCFF"/>
                </a:solidFill>
              </a:rPr>
              <a:t>  · iwlwifi（Intel）可修改</a:t>
            </a:r>
          </a:p>
          <a:p>
            <a:r>
              <a:rPr sz="1400">
                <a:solidFill>
                  <a:srgbClr val="AACCFF"/>
                </a:solidFill>
              </a:rPr>
              <a:t>  · ath9k（Atheros）可修改</a:t>
            </a:r>
          </a:p>
          <a:p>
            <a:r>
              <a:rPr sz="1400">
                <a:solidFill>
                  <a:srgbClr val="AACCFF"/>
                </a:solidFill>
              </a:rPr>
              <a:t>  · brcmfmac（Broadcom）可 patch 韌體</a:t>
            </a:r>
          </a:p>
          <a:p>
            <a:r>
              <a:rPr sz="600"/>
              <a:t/>
            </a:r>
          </a:p>
          <a:p>
            <a:r>
              <a:rPr sz="1600">
                <a:solidFill>
                  <a:srgbClr val="FFFFFF"/>
                </a:solidFill>
              </a:rPr>
              <a:t>debugfs 介面：</a:t>
            </a:r>
          </a:p>
          <a:p>
            <a:r>
              <a:rPr sz="1400">
                <a:solidFill>
                  <a:srgbClr val="AACCFF"/>
                </a:solidFill>
              </a:rPr>
              <a:t>  /sys/kernel/debug/ieee80211/</a:t>
            </a:r>
          </a:p>
          <a:p>
            <a:r>
              <a:rPr sz="1400">
                <a:solidFill>
                  <a:srgbClr val="AACCFF"/>
                </a:solidFill>
              </a:rPr>
              <a:t>  部分驅動在此暴露 CSI 原始資料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005840"/>
            <a:ext cx="0" cy="5029200"/>
          </a:xfrm>
          <a:prstGeom prst="rect">
            <a:avLst/>
          </a:prstGeom>
          <a:ln w="9525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Windows 的根本差異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✗ OEM.sys 為閉源二進位</a:t>
            </a:r>
          </a:p>
          <a:p>
            <a:r>
              <a:rPr sz="1600" b="1">
                <a:solidFill>
                  <a:srgbClr val="FFFFFF"/>
                </a:solidFill>
              </a:rPr>
              <a:t>✗ NDIS 介面固定，無擴充 CSI 的機制</a:t>
            </a:r>
          </a:p>
          <a:p>
            <a:r>
              <a:rPr sz="1600" b="1">
                <a:solidFill>
                  <a:srgbClr val="FFFFFF"/>
                </a:solidFill>
              </a:rPr>
              <a:t>✗ 無等同 debugfs 的 PHY 資料介面</a:t>
            </a:r>
          </a:p>
          <a:p>
            <a:r>
              <a:rPr sz="1600" b="1">
                <a:solidFill>
                  <a:srgbClr val="FFFFFF"/>
                </a:solidFill>
              </a:rPr>
              <a:t>✗ 韌體修改需要 WHQL 簽章</a:t>
            </a:r>
          </a:p>
          <a:p>
            <a:r>
              <a:rPr sz="600"/>
              <a:t/>
            </a:r>
          </a:p>
          <a:p>
            <a:r>
              <a:rPr sz="1600">
                <a:solidFill>
                  <a:srgbClr val="FFFFFF"/>
                </a:solidFill>
              </a:rPr>
              <a:t>→ Linux 的可行性來自</a:t>
            </a:r>
          </a:p>
          <a:p>
            <a:r>
              <a:rPr sz="1400">
                <a:solidFill>
                  <a:srgbClr val="AACCFF"/>
                </a:solidFill>
              </a:rPr>
              <a:t>  開源 + 可修改驅動 + 彈性的核心介面</a:t>
            </a:r>
          </a:p>
          <a:p>
            <a:r>
              <a:rPr sz="1400">
                <a:solidFill>
                  <a:srgbClr val="AACCFF"/>
                </a:solidFill>
              </a:rPr>
              <a:t>  不是 Windows 的「bug」，是設計哲學差異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Linux 的可行性來自開源生態，不是 Windows 的設計缺陷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Linux CSI Tool：linux-80211n-csitool（Intel 5300）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作者：Daniel Halperin（University of Washington，2011）</a:t>
            </a:r>
          </a:p>
          <a:p>
            <a:r>
              <a:rPr sz="2000">
                <a:solidFill>
                  <a:srgbClr val="FFFFFF"/>
                </a:solidFill>
              </a:rPr>
              <a:t>硬體：Intel WiFi Link 5300（IWL5300），3 天線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運作原理：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1. 修改 Intel 官方韌體（firmware patch）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2. 自訂 iwlwifi 核心驅動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3. 每個 RX 封包附帶 CSI 矩陣（30 個子載波群組）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4. 每個子載波：複數值（8-bit real + 8-bit imag）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平台：Ubuntu 10.04 LTS + kernel 2.6.36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⚠ 歷史性工具，現代 Linux 核心需額外移植工作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資料格式：每個 RX 封包 → CSI 矩陣 [Ntx × Nrx × 30]</a:t>
            </a:r>
          </a:p>
          <a:p>
            <a:r>
              <a:rPr sz="2000">
                <a:solidFill>
                  <a:srgbClr val="FFFFFF"/>
                </a:solidFill>
              </a:rPr>
              <a:t>GitHub: dhalperi/linux-80211n-csitool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現代 CSI 工具生態（全部 Linux-only）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工具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硬體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頻寬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特色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PicoScenes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最完整，商業支援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FeitCSI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開源，CSI 注入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IAX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AX200/201/210/211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學術研究用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Broadcom/Cypress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802.11a/g/n/ac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20–80 MHz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Raspberry Pi 支援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AR9380（ath9k）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OpenWRT 支援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IWL5300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最早的工具，歷史性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所有工具均僅支援 Linux——這直接說明了為什麼 Windows 無法取得 CSI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Windows 替代方案 1：Raw Packet Capture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工具：WinPcap / Npcap + Monitor Mode（若網卡支援）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可以取得：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✅ 802.11 frame header（MAC Header）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✅ Radiotap Header（部分 PHY 資訊）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✅ RSSI（訊號強度，dBm）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✅ 資料速率（MCS index）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✅ 頻道資訊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無法取得：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❌ CSI（子載波增益矩陣）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❌ IQ 樣本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❌ 多天線個別 RSSI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適用情境：封包分析、協定研究、基本 RF 環境監控</a:t>
            </a:r>
          </a:p>
          <a:p>
            <a:r>
              <a:rPr sz="2000">
                <a:solidFill>
                  <a:srgbClr val="FFFFFF"/>
                </a:solidFill>
              </a:rPr>
              <a:t>限制：Monitor Mode 在 Windows 支援有限，需特定網卡與驅動版本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Windows 替代方案 2：OEM 私有 IOCTL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原理：部分廠商在 OEM.sys 中保留私有控制介面</a:t>
            </a:r>
          </a:p>
          <a:p>
            <a:r>
              <a:rPr sz="2000">
                <a:solidFill>
                  <a:srgbClr val="FFFFFF"/>
                </a:solidFill>
              </a:rPr>
              <a:t>透過 DeviceIoControl() 呼叫私有 IOCTL code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需要的工作：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1. 逆向工程 OEM.sys（IDA Pro / Ghidra）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2. 找到處理 CSI 的 IOCTL dispatch 函式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3. 確認輸入/輸出緩衝區格式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4. 撰寫呼叫程式（需以管理員權限執行）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現實情況：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Intel：部分版本 netwtw*.sys 有私有介面，但未公開文件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每次驅動更新後 IOCTL code 可能改變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可能觸發驅動簽章驗證失敗（Win10 Secure Boot）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⚠ 高風險、高維護成本，不建議用於生產環境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Windows 替代方案 3：雙系統 / 虛擬機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最實用的工程折衷方案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架構 A：雙系統（推薦）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同一台機器安裝 Linux + Windows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Linux 環境：使用 PicoScenes / FeitCSI 取 CSI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CSI 資料儲存為 .mat / .csv / .bin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重開機進 Windows 進行後處理（MATLAB / Python）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架構 B：USB Live Linux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免安裝，開機從 USB 進 Linux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FeitCSI 提供 Live USB 映像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完成採集後重開機回 Windows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架構 C：VM + USB 直通（不推薦）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WiFi 網卡 USB 直通至 Linux VM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延遲與時序精度受 Hypervisor 影響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PCIe 網卡通常無法直通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推薦：雙系統 + 共享資料分割區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替代方案比較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方案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技術難度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硬體需求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完整度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維護成本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Raw Packet Capture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★☆☆☆☆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一般 WiFi 網卡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❌ 無 CSI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OEM 私有 IOCTL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★★★★☆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特定廠商網卡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⚠ 部分，不穩定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極高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雙系統（推薦）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★★☆☆☆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支援 CSI 的網卡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VM + USB 直通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★★★☆☆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USB WiFi 網卡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⚠ 時序精度差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中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 Live USB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★☆☆☆☆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支援 CSI 的網卡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對 RF 工程師的建議：雙系統 + PicoScenes/FeitCSI 是最佳投資報酬比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支援 CSI 的硬體選型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網卡型號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晶片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工具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平台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WiFi Link 5300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IWL5300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Linux（舊）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Wi-Fi 6 AX200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AX200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Wi-Fi 6E AX210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AX210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802.11ax（6GHz）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Atheros AR9380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AR9380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 / OpenWRT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Broadcom BCM4339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BCM4339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Android / RPi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Raspberry Pi 4 (RPi)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BCM43455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Linux（RPi OS）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採購建議：Intel AX200 M.2 網卡 + Linux 雙系統 = 最易取得的 CSI 研究平台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完整架構總覽：CSI 的旅程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5029200" cy="530352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應用程式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09728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只能用 WinSock，看不到 PHY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91056"/>
            <a:ext cx="5029200" cy="530352"/>
          </a:xfrm>
          <a:prstGeom prst="rect">
            <a:avLst/>
          </a:prstGeom>
          <a:solidFill>
            <a:srgbClr val="6B4A0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NDIS / tcpip.sys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682496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無 CSI OID，協定通用化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176272"/>
            <a:ext cx="5029200" cy="530352"/>
          </a:xfrm>
          <a:prstGeom prst="rect">
            <a:avLst/>
          </a:prstGeom>
          <a:solidFill>
            <a:srgbClr val="6B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nwifi.sys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2267712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802.11 管理，丟棄 PHY metadata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761488"/>
            <a:ext cx="5029200" cy="530352"/>
          </a:xfrm>
          <a:prstGeom prst="rect">
            <a:avLst/>
          </a:prstGeom>
          <a:solidFill>
            <a:srgbClr val="6B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OEM.sys（唯一機會）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85292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能讀 CSI，但介面不暴露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346704"/>
            <a:ext cx="5029200" cy="530352"/>
          </a:xfrm>
          <a:prstGeom prst="rect">
            <a:avLst/>
          </a:prstGeom>
          <a:solidFill>
            <a:srgbClr val="1A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NIC 韌體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3438144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FF66"/>
                </a:solidFill>
                <a:latin typeface="Calibri"/>
              </a:rPr>
              <a:t>CSI 在此計算完成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931920"/>
            <a:ext cx="5029200" cy="530352"/>
          </a:xfrm>
          <a:prstGeom prst="rect">
            <a:avLst/>
          </a:prstGeom>
          <a:solidFill>
            <a:srgbClr val="1A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PHY 硬體 + RF 電路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402336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FF66"/>
                </a:solidFill>
                <a:latin typeface="Calibri"/>
              </a:rPr>
              <a:t>OFDM 解調，子載波分析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Windows 架構的每一層都有合理的設計動機，但合力造成了 CSI 無法取得的結果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給 RF 工程師的建議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4A9EFF"/>
                </a:solidFill>
              </a:rPr>
              <a:t>1. 選硬體前先確認 CSI 工具支援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→ Intel AX200/AX210 是目前最佳選擇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2. 優先使用 Linux 環境採集 CSI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→ PicoScenes（商業支援）或 FeitCSI（開源）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→ 雙系統方案最穩定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3. Windows 定位為後處理平台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→ MATLAB / Python 分析 CSI 資料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→ 不要嘗試在 Windows 直接取 CSI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4. 避免的坑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❌ 不要依賴 OEM 私有 IOCTL（維護成本極高）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❌ 不要用 VM 取 CSI（時序不準確）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❌ 不要購買沒有明確工具支援的網卡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5. 資源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· PicoScenes: ps.zpj.io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· FeitCSI: feitcsi.kuskosoft.com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· CSIKit（多格式解析）: github.com/Gi-z/CSIKit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Q&amp;A / 參考資料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0"/>
          </a:xfrm>
          <a:prstGeom prst="rect">
            <a:avLst/>
          </a:prstGeom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8412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AACCFF"/>
                </a:solidFill>
                <a:latin typeface="Calibri"/>
              </a:rPr>
              <a:t>[1] D. Halperin et al., Tool Release: Gathering 802.11n Traces with CSI, ACM SIGCOMM, 2011. -&gt; linux-80211n-csitool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[2] M. Schulz et al., Nexmon: The C-based Firmware Patching Framework -- seemoo-lab/nexmon_csi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[3] Z. Jiang, PicoScenes: Enabling Modern Wi-Fi ISAC Research -- ps.zpj.io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[4] KuskoSoft, FeitCSI: 802.11 CSI Tool -- feitcsi.kuskosoft.com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[5] X. Yaxiong et al., Atheros CSI Tool for 802.11n NICs -- xieyaxiongfly/Atheros-CSI-Tool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[6] Microsoft Docs, WDI Miniport Driver Design Guide -- learn.microsoft.com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[7] Microsoft Docs, NDIS Network Interface Architecture -- learn.microsoft.com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[8] Gi-z, CSIKit: Python CSI Processing Tools -- github.com/Gi-z/CSIKit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