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1828800"/>
          </a:xfrm>
          <a:prstGeom prst="rect">
            <a:avLst/>
          </a:prstGeom>
          <a:solidFill>
            <a:srgbClr val="0051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ctagon 2"/>
          <p:cNvSpPr/>
          <p:nvPr/>
        </p:nvSpPr>
        <p:spPr>
          <a:xfrm>
            <a:off x="7132320" y="0"/>
            <a:ext cx="2011680" cy="1828800"/>
          </a:xfrm>
          <a:prstGeom prst="octagon">
            <a:avLst/>
          </a:prstGeom>
          <a:solidFill>
            <a:srgbClr val="4B26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7772400" y="1920240"/>
            <a:ext cx="1188720" cy="1005840"/>
          </a:xfrm>
          <a:prstGeom prst="diamond">
            <a:avLst/>
          </a:prstGeom>
          <a:solidFill>
            <a:srgbClr val="0072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4503420"/>
            <a:ext cx="548640" cy="548640"/>
          </a:xfrm>
          <a:prstGeom prst="rect">
            <a:avLst/>
          </a:prstGeom>
          <a:solidFill>
            <a:srgbClr val="7D5F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508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74320" y="1508760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B4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0" y="2971800"/>
            <a:ext cx="9144000" cy="0"/>
          </a:xfrm>
          <a:prstGeom prst="line">
            <a:avLst/>
          </a:prstGeom>
          <a:ln w="50800">
            <a:solidFill>
              <a:srgbClr val="FF4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274320" y="1554480"/>
            <a:ext cx="45720" cy="12801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3960" y="1554480"/>
            <a:ext cx="45720" cy="128016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035808"/>
            <a:ext cx="8412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FFC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690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B4F8"/>
                </a:solidFill>
                <a:latin typeface="Calibri"/>
              </a:rPr>
              <a:t>2026-04-07　　v4.0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D1117"/>
              </a:gs>
              <a:gs pos="100000">
                <a:srgbClr val="00364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大綱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第一段：基礎架構（Slides 3–5）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802.11 RF 信號路徑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PHY / MAC 與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OSI 7 層 vs Windows 元件對應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第二段：Windows 驅動堆疊（Slides 6–13）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OEM.sys / nwifi.sys / NDIS / WDI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CSI 消失點分析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第三段：替代方案（Slides 14–17）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Linux 生態 vs Windows 限制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硬體選型建議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第四段：結語與建議（Slides 18–20）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003247"/>
          </a:solidFill>
          <a:ln w="2540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00B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基礎架構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4FF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B4FF"/>
                </a:solidFill>
                <a:latin typeface="Calibri"/>
              </a:rPr>
              <a:t>Section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A44"/>
              </a:gs>
              <a:gs pos="100000">
                <a:srgbClr val="00364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天線
(Antenna)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接收 RF 信號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4884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ADC
類比→數位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信號數位化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OFDM 解調
(Demodulation)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子載波分離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2356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802.11 Frame
解碼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封包還原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2793492"/>
            <a:ext cx="365760" cy="0"/>
          </a:xfrm>
          <a:prstGeom prst="line">
            <a:avLst/>
          </a:prstGeom>
          <a:ln w="25400">
            <a:solidFill>
              <a:srgbClr val="00B4FF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00364C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MAC 層
處理</a:t>
            </a:r>
          </a:p>
          <a:p>
            <a:pPr algn="ctr"/>
            <a:r>
              <a:rPr sz="1000">
                <a:solidFill>
                  <a:srgbClr val="00B4FF"/>
                </a:solidFill>
              </a:rPr>
              <a:t>上送至驅動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在 OFDM 解調後即可計算：每個子載波的複數增益（振幅 + 相位）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A44"/>
              </a:gs>
              <a:gs pos="100000">
                <a:srgbClr val="00364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PHY / MAC 與 CSI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202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FF"/>
                </a:solidFill>
                <a:latin typeface="Calibri"/>
              </a:rPr>
              <a:t>RSSI（傳統方式）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整體接收功率（單一數值）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單位：dBm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無法區分多路徑效應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精度低，只反映總體信號強度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B4FF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⚠ CSI 不在 MAC 協定範圍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PHY 解調後存於 NIC 韌體暫存器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MAC 只收到已解調的 802.11 frame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結論：CSI 旅程的第一個截斷點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= H(f)：頻域通道矩陣。從 PHY 到 MAC 已無標準傳遞路徑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A44"/>
              </a:gs>
              <a:gs pos="100000">
                <a:srgbClr val="00364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69848"/>
          <a:ext cx="8321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4021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00B4FF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B4FF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存在於 L1，NDIS 介面從 L2a 開始，兩者之間沒有標準橋接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B4FF"/>
                </a:solidFill>
                <a:latin typeface="Calibri"/>
              </a:rPr>
              <a:t>基礎架構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0F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2F1745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Windows 驅動堆疊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855F7"/>
                </a:solidFill>
                <a:latin typeface="Calibri"/>
              </a:rPr>
              <a:t>OEM.sys → nwifi.sys → NDIS → WinSock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855F7"/>
                </a:solidFill>
                <a:latin typeface="Calibri"/>
              </a:rPr>
              <a:t>Section 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29284"/>
            <a:ext cx="6583680" cy="384048"/>
          </a:xfrm>
          <a:prstGeom prst="rect">
            <a:avLst/>
          </a:prstGeom>
          <a:solidFill>
            <a:srgbClr val="2D5A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12928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User Mode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31920" y="1513332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40080" y="1549908"/>
            <a:ext cx="6583680" cy="384048"/>
          </a:xfrm>
          <a:prstGeom prst="rect">
            <a:avLst/>
          </a:prstGeom>
          <a:solidFill>
            <a:srgbClr val="2D5A2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WinSock (ws2_32.dll)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54990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User Mode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1933956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40080" y="1970532"/>
            <a:ext cx="6583680" cy="384048"/>
          </a:xfrm>
          <a:prstGeom prst="rect">
            <a:avLst/>
          </a:prstGeom>
          <a:solidFill>
            <a:srgbClr val="1A3A6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AFD.sys（Ancillary Function Driver）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97053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31920" y="2354580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40080" y="2391156"/>
            <a:ext cx="6583680" cy="384048"/>
          </a:xfrm>
          <a:prstGeom prst="rect">
            <a:avLst/>
          </a:prstGeom>
          <a:solidFill>
            <a:srgbClr val="1A3A6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tcpip.sys（TCP/IP Stack）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39115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31920" y="2775204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40080" y="2811780"/>
            <a:ext cx="6583680" cy="384048"/>
          </a:xfrm>
          <a:prstGeom prst="rect">
            <a:avLst/>
          </a:prstGeom>
          <a:solidFill>
            <a:srgbClr val="4A208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ndis.sys（NDIS）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81178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931920" y="3195828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" y="3232404"/>
            <a:ext cx="6583680" cy="384048"/>
          </a:xfrm>
          <a:prstGeom prst="rect">
            <a:avLst/>
          </a:prstGeom>
          <a:solidFill>
            <a:srgbClr val="4A208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nwifi.sys（Native WiFi）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3240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931920" y="3616452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40080" y="3653028"/>
            <a:ext cx="6583680" cy="384048"/>
          </a:xfrm>
          <a:prstGeom prst="rect">
            <a:avLst/>
          </a:prstGeom>
          <a:solidFill>
            <a:srgbClr val="7A1A1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OEM.sys（Miniport Driver）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65302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Kernel Mode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31920" y="4037076"/>
            <a:ext cx="0" cy="36576"/>
          </a:xfrm>
          <a:prstGeom prst="line">
            <a:avLst/>
          </a:prstGeom>
          <a:ln w="190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640080" y="4073652"/>
            <a:ext cx="6583680" cy="384048"/>
          </a:xfrm>
          <a:prstGeom prst="rect">
            <a:avLst/>
          </a:prstGeom>
          <a:solidFill>
            <a:srgbClr val="3A3A00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NIC 硬體 + 韌體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07365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B4F8"/>
                </a:solidFill>
                <a:latin typeface="Calibri"/>
              </a:rPr>
              <a:t>Hardware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每層只能透過明確定義的介面與相鄰層溝通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202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職責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直接與 NIC 硬體暫存器溝通（MMIO/PCI）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控制 RF 參數（頻道、頻寬、TX 功率）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管理 DMA 傳輸（TX/RX 封包緩衝）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實作 NDIS Miniport 介面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上報硬體事件給 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範例（各廠商）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Intel：iwlwifi（Linux）/ netwtw*.sys（Windows）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Qualcomm/Atheros：ath*.sys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Broadcom：bcmwl*.sys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但它選擇不向上層暴露此資料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OEM.sys 是 Windows 驅動堆疊中距離硬體最近的軟體層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NIC 韌體
計算 CSI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儲存於暫存器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14884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OEM.sys
DMA 讀取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RX 封包緩衝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2044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NDIS_RECEIVE
_NET_BUFFER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標準封包上報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2356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nwifi.sys
接收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802.11 frame 處理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2793492"/>
            <a:ext cx="365760" cy="0"/>
          </a:xfrm>
          <a:prstGeom prst="line">
            <a:avLst/>
          </a:prstGeom>
          <a:ln w="25400">
            <a:solidFill>
              <a:srgbClr val="A855F7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60920" y="2313432"/>
            <a:ext cx="1371600" cy="960120"/>
          </a:xfrm>
          <a:prstGeom prst="roundRect">
            <a:avLst>
              <a:gd name="adj" fmla="val 20000"/>
            </a:avLst>
          </a:prstGeom>
          <a:solidFill>
            <a:srgbClr val="32194A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73152"/>
          <a:lstStyle/>
          <a:p>
            <a:pPr algn="ctr"/>
            <a:r>
              <a:rPr sz="1200" b="1">
                <a:solidFill>
                  <a:srgbClr val="F0F0F0"/>
                </a:solidFill>
              </a:rPr>
              <a:t>tcpip.sys
→ 應用層</a:t>
            </a:r>
          </a:p>
          <a:p>
            <a:pPr algn="ctr"/>
            <a:r>
              <a:rPr sz="1000">
                <a:solidFill>
                  <a:srgbClr val="A855F7"/>
                </a:solidFill>
              </a:rPr>
              <a:t>IP 封包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存於 NIC 暫存器，OEM.sys 只將 802.11 frame payload 上報——CSI 從未進入 NDIS 封包結構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▶ 職責：802.11 連線管理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認證（WPA2/WPA3）、漫遊、省電、掃描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▶ 向上暴露的介面：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SSID / RSSI / 連線狀態 / 頻道 / 連線速率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Native WiFi API（wlanapi.dll）→ 應用程式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⚠ 不暴露任何 PHY 層原始資料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❌ CSI、❌ IQ 樣本、❌ 每天線獨立 RSSI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設計目標是連線管理，不是 RF 量測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從 nwifi.sys 向上，PHY 層資訊已被永久丟棄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NDIS 設計目標：跨廠商通用介面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任何協定 × 任何網卡 = 最大公約數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OID 機制提供：SSID / RSSI / 掃描 / 統計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❌ 無任何 OID 定義 CSI 查詢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A855F7"/>
                </a:solidFill>
              </a:rPr>
              <a:t>▶ 為什麼無法標準化 CSI？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Intel 5300：30 個子載波群組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Atheros AR9380：56 個子載波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· 格式完全不同，無法取最大公約數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0F0F0"/>
                </a:solidFill>
              </a:rPr>
              <a:t>● 結論：通用性的代價 = 丟棄廠商私有 PHY 細節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NDIS 的「通用性」正是 CSI 無法取得的根本原因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202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WDI 改變了什麼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WLAN Device Driver Interface（WDI）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Win10 引入，取代部分 NDIS WiFi 介面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WDI 框架（KMDF，Kernel Mode）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降低藍屏風險（User Mode crash 不致命）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簡化 IHV 驅動開發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A855F7"/>
                </a:solidFill>
                <a:latin typeface="Calibri"/>
              </a:rPr>
              <a:t>WDI 對 CSI 的影響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→ 架構更新，但 CSI 缺席問題未解決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WDI 是架構改進，不是 PHY 資料暴露的嘗試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1E0A33"/>
              </a:gs>
              <a:gs pos="100000">
                <a:srgbClr val="32194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9848"/>
            <a:ext cx="4754880" cy="402336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應用程式 / WinSock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155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B4F8"/>
                </a:solidFill>
                <a:latin typeface="Calibri"/>
              </a:rPr>
              <a:t>無法感知 CSI 存在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754880" cy="402336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B4F8"/>
                </a:solidFill>
                <a:latin typeface="Calibri"/>
              </a:rPr>
              <a:t>只處理 IP 封包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4754880" cy="402336"/>
          </a:xfrm>
          <a:prstGeom prst="rect">
            <a:avLst/>
          </a:prstGeom>
          <a:solidFill>
            <a:srgbClr val="6B4A00"/>
          </a:solidFill>
          <a:ln w="317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ndis.sys（NDIS）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無 CSI OID 定義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86584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nwifi.sys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323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5496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OEM.sys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71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64408"/>
            <a:ext cx="4754880" cy="402336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NIC 韌體 + 硬體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10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FF66"/>
                </a:solidFill>
                <a:latin typeface="Calibri"/>
              </a:rPr>
              <a:t>CSI 計算並儲存於此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CSI 消失於 OEM.sys ↔ nwifi.sys 介面：OEM.sys 有能力讀取但選擇不轉發，nwifi.sys 也不要求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A855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55F7"/>
                </a:solidFill>
                <a:latin typeface="Calibri"/>
              </a:rPr>
              <a:t>Windows 驅動堆疊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D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004738"/>
          </a:solidFill>
          <a:ln w="25400">
            <a:solidFill>
              <a:srgbClr val="00F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替代方案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FFC8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FFC8"/>
                </a:solidFill>
                <a:latin typeface="Calibri"/>
              </a:rPr>
              <a:t>Section 3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E22"/>
              </a:gs>
              <a:gs pos="100000">
                <a:srgbClr val="004C3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32020" y="1024128"/>
            <a:ext cx="404622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732022" y="1024130"/>
            <a:ext cx="404621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4572000" y="1024128"/>
            <a:ext cx="0" cy="3538728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292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C8"/>
                </a:solidFill>
                <a:latin typeface="Calibri"/>
              </a:rPr>
              <a:t>Linux 驅動架構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cfg80211：802.11 設定框架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mac80211：軟體 MAC 實作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部分驅動在此暴露 CSI 原始資料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9180" y="1115568"/>
            <a:ext cx="37719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FFC8"/>
                </a:solidFill>
                <a:latin typeface="Calibri"/>
              </a:rPr>
              <a:t>Windows 的根本差異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9180" y="1572768"/>
            <a:ext cx="3771900" cy="2898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OEM.sys 為閉源二進位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NDIS 介面固定，無擴充 CSI 的機制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無等同 debugfs 的 PHY 資料介面</a:t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F0F0F0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0F0F0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300">
                <a:solidFill>
                  <a:srgbClr val="8AB4F8"/>
                </a:solidFill>
              </a:rPr>
              <a:t>  不是 Windows 的「bug」，是設計哲學差異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Linux 的可行性來自開源生態，不是 Windows 的設計缺陷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E22"/>
              </a:gs>
              <a:gs pos="100000">
                <a:srgbClr val="004C3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69848"/>
          <a:ext cx="8321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4021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所有工具均僅支援 Linux——這直接說明了為什麼 Windows 無法取得 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E22"/>
              </a:gs>
              <a:gs pos="100000">
                <a:srgbClr val="004C3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69848"/>
          <a:ext cx="83210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建議：Intel AX200 + 雙系統 Linux + PicoScenes/FeitCSI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002E22"/>
              </a:gs>
              <a:gs pos="100000">
                <a:srgbClr val="004C3C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069848"/>
          <a:ext cx="8321040" cy="3081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40218"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400">
                          <a:solidFill>
                            <a:srgbClr val="0D1117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00FFC8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  <a:tr h="44021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1A1A2E"/>
                    </a:solidFill>
                  </a:tcPr>
                </a:tc>
              </a:tr>
              <a:tr h="4402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FFC8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0F0F0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採購建議：Intel AX200 M.2 網卡 + Linux 雙系統 = 最易取得的 CSI 研究平台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00F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FFC8"/>
                </a:solidFill>
                <a:latin typeface="Calibri"/>
              </a:rPr>
              <a:t>替代方案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2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7680960" cy="2286000"/>
          </a:xfrm>
          <a:prstGeom prst="rect">
            <a:avLst/>
          </a:prstGeom>
          <a:solidFill>
            <a:srgbClr val="46350A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91440" cy="22860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498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0F0F0"/>
                </a:solidFill>
                <a:latin typeface="Calibri"/>
              </a:rPr>
              <a:t>結語與建議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7498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BBF24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0" y="4206240"/>
            <a:ext cx="9144000" cy="0"/>
          </a:xfrm>
          <a:prstGeom prst="line">
            <a:avLst/>
          </a:prstGeom>
          <a:ln w="190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65760" y="43159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Calibri"/>
              </a:rPr>
              <a:t>Section 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2A1E00"/>
              </a:gs>
              <a:gs pos="100000">
                <a:srgbClr val="4B390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69848"/>
            <a:ext cx="4754880" cy="402336"/>
          </a:xfrm>
          <a:prstGeom prst="rect">
            <a:avLst/>
          </a:prstGeom>
          <a:solidFill>
            <a:srgbClr val="1A3A6B"/>
          </a:solidFill>
          <a:ln w="19050">
            <a:solidFill>
              <a:srgbClr val="00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應用程式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111556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B4F8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754880" cy="402336"/>
          </a:xfrm>
          <a:prstGeom prst="rect">
            <a:avLst/>
          </a:prstGeom>
          <a:solidFill>
            <a:srgbClr val="6B4A00"/>
          </a:solidFill>
          <a:ln w="31750">
            <a:solidFill>
              <a:srgbClr val="FFCC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NDIS / tcpip.sys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55448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47672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nwifi.sys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199339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386584"/>
            <a:ext cx="4754880" cy="402336"/>
          </a:xfrm>
          <a:prstGeom prst="rect">
            <a:avLst/>
          </a:prstGeom>
          <a:solidFill>
            <a:srgbClr val="6B1A1A"/>
          </a:solidFill>
          <a:ln w="317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OEM.sys（唯一機會）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43230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4757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25496"/>
            <a:ext cx="4754880" cy="402336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NIC 韌體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87121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FF66"/>
                </a:solidFill>
                <a:latin typeface="Calibri"/>
              </a:rPr>
              <a:t>CSI 在此計算完成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64408"/>
            <a:ext cx="4754880" cy="402336"/>
          </a:xfrm>
          <a:prstGeom prst="rect">
            <a:avLst/>
          </a:prstGeom>
          <a:solidFill>
            <a:srgbClr val="1A5A27"/>
          </a:solidFill>
          <a:ln w="19050">
            <a:solidFill>
              <a:srgbClr val="66FF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F0F0"/>
                </a:solidFill>
              </a:rPr>
              <a:t>PHY 硬體 + RF 電路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1012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FF66"/>
                </a:solidFill>
                <a:latin typeface="Calibri"/>
              </a:rPr>
              <a:t>OFDM 解調，子載波分析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8853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B4F8"/>
                </a:solidFill>
                <a:latin typeface="Calibri"/>
              </a:rPr>
              <a:t>▶ Windows 架構的每一層都有合理的設計動機，但合力造成了 CSI 無法取得的結果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2A1E00"/>
              </a:gs>
              <a:gs pos="100000">
                <a:srgbClr val="4B390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813816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1. 選硬體先確認 CSI 工具支援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Intel AX200/AX210 = 目前最佳選擇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2. 優先 Linux 環境採集 CSI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→ 雙系統：Linux 採集，Windows 後處理</a:t>
            </a:r>
          </a:p>
          <a:p>
            <a:pPr>
              <a:spcBef>
                <a:spcPts val="200"/>
              </a:spcBef>
            </a:pPr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b="1" sz="2000">
                <a:solidFill>
                  <a:srgbClr val="FBBF24"/>
                </a:solidFill>
              </a:rPr>
              <a:t>3. 避免的坑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OEM 私有 IOCTL（每次驅動更新後失效）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VM 取 CSI（時序精度受 Hypervisor 影響）</a:t>
            </a:r>
          </a:p>
          <a:p>
            <a:pPr lvl="1">
              <a:spcBef>
                <a:spcPts val="200"/>
              </a:spcBef>
            </a:pPr>
            <a:r>
              <a:rPr sz="1500">
                <a:solidFill>
                  <a:srgbClr val="8AB4F8"/>
                </a:solidFill>
              </a:rPr>
              <a:t>  › ❌ 未在支援清單上的網卡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gradFill rotWithShape="1">
            <a:gsLst>
              <a:gs pos="0">
                <a:srgbClr val="2A1E00"/>
              </a:gs>
              <a:gs pos="100000">
                <a:srgbClr val="4B390A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914400"/>
            <a:ext cx="9144000" cy="0"/>
          </a:xfrm>
          <a:prstGeom prst="line">
            <a:avLst/>
          </a:prstGeom>
          <a:ln w="3175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9144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0F0F0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24128"/>
            <a:ext cx="8412480" cy="3538728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41C27"/>
              </a:gs>
              <a:gs pos="100000">
                <a:srgbClr val="0D1117"/>
              </a:gs>
            </a:gsLst>
            <a:lin scaled="0" ang="5400000"/>
          </a:gradFill>
          <a:ln w="9525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2" y="1024130"/>
            <a:ext cx="8412476" cy="22860"/>
          </a:xfrm>
          <a:prstGeom prst="rect">
            <a:avLst/>
          </a:prstGeom>
          <a:solidFill>
            <a:srgbClr val="3A4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61288"/>
            <a:ext cx="8046720" cy="32644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8AB4F8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08576"/>
            <a:ext cx="9144000" cy="53492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0" y="4608576"/>
            <a:ext cx="9144000" cy="0"/>
          </a:xfrm>
          <a:prstGeom prst="line">
            <a:avLst/>
          </a:prstGeom>
          <a:ln w="12700">
            <a:solidFill>
              <a:srgbClr val="FBB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4320" y="4654296"/>
            <a:ext cx="457200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BF24"/>
                </a:solidFill>
                <a:latin typeface="Calibri"/>
              </a:rPr>
              <a:t>結語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54296"/>
            <a:ext cx="731520" cy="443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AB4F8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