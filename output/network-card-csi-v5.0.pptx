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驅動架構。這張堆疊圖從上到下代表從應用程式到硬體的路徑。</a:t>
            </a:r>
          </a:p>
          <a:p/>
          <a:p>
            <a:r>
              <a:t>顏色區分了三個層次：綠色是 User Mode（使用者模式），藍色和紫色是 Kernel Mode（核心模式），最底層是硬體。</a:t>
            </a:r>
          </a:p>
          <a:p/>
          <a:p>
            <a:r>
              <a:t>每一層只能和相鄰層溝通，而且必須透過明確定義的介面。這個設計保證了穩定性，但也意味著 L1 的 PHY 資訊沒有辦法「跳過」中間層直接到應用程式。</a:t>
            </a:r>
          </a:p>
          <a:p/>
          <a:p>
            <a:r>
              <a:t>接下來我們逐層解釋，重點在紅色的 OEM.sys 和紫色的 nwifi.sys。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驅動，職責是管理 802.11 連線狀態。它向上暴露的介面完全沒有任何 PHY 層資訊的傳遞路徑——這是設計目標，不是疏漏。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NDIS 的核心設計目標是跨廠商通用性，但 CSI 是廠商私有 PHY 細節，不同廠商格式完全不同。無法取最大公約數，所以 NDIS 根本沒有嘗試。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四種方案快速比較。Raw Packet Capture 最簡單但無 CSI。OEM IOCTL 風險極高。雙系統和 Live USB 都能取到完整 CSI，推薦雙系統。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基於今天的內容，給各位三點具體建議。希望能幫助大家避免走彎路，直接使用最有效的工具。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2857500"/>
            <a:ext cx="2743200" cy="228600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0" y="3771900"/>
            <a:ext cx="1645920" cy="13716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2788920"/>
            <a:ext cx="8229600" cy="0"/>
          </a:xfrm>
          <a:prstGeom prst="line">
            <a:avLst/>
          </a:prstGeom>
          <a:ln w="25400">
            <a:solidFill>
              <a:srgbClr val="2E7D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4E8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AC0"/>
                </a:solidFill>
                <a:latin typeface="Calibri"/>
              </a:rPr>
              <a:t>2026-04-07    v4.0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2E7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大綱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2E7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第一段：基礎架構（Slides 3–5）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802.11 RF 信號路徑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PHY / MAC 與 CSI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OSI 7 層 vs Windows 元件對應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第二段：Windows 驅動堆疊（Slides 6–13）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OEM.sys / nwifi.sys / NDIS / WDI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CSI 消失點分析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第三段：替代方案（Slides 14–17）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Linux 生態 vs Windows 限制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硬體選型建議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第四段：結語與建議（Slides 18–20）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214A7B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基礎架構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7DD1"/>
                </a:solidFill>
                <a:latin typeface="Calibri"/>
              </a:rPr>
              <a:t>PHY / MAC / CSI / OSI 對應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2E7D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2E7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802.11 RF 信號路徑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7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天線
(Antenna)</a:t>
            </a:r>
          </a:p>
          <a:p>
            <a:pPr algn="ctr"/>
            <a:r>
              <a:rPr sz="1100">
                <a:solidFill>
                  <a:srgbClr val="2E7DD1"/>
                </a:solidFill>
                <a:latin typeface="Calibri"/>
              </a:rPr>
              <a:t>接收 RF 信號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2E7DD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7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ADC
類比→數位</a:t>
            </a:r>
          </a:p>
          <a:p>
            <a:pPr algn="ctr"/>
            <a:r>
              <a:rPr sz="1100">
                <a:solidFill>
                  <a:srgbClr val="2E7DD1"/>
                </a:solidFill>
                <a:latin typeface="Calibri"/>
              </a:rPr>
              <a:t>信號數位化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2E7DD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7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OFDM 解調
(Demodulation)</a:t>
            </a:r>
          </a:p>
          <a:p>
            <a:pPr algn="ctr"/>
            <a:r>
              <a:rPr sz="1100">
                <a:solidFill>
                  <a:srgbClr val="2E7DD1"/>
                </a:solidFill>
                <a:latin typeface="Calibri"/>
              </a:rPr>
              <a:t>子載波分離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2E7DD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7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802.11 Frame
解碼</a:t>
            </a:r>
          </a:p>
          <a:p>
            <a:pPr algn="ctr"/>
            <a:r>
              <a:rPr sz="1100">
                <a:solidFill>
                  <a:srgbClr val="2E7DD1"/>
                </a:solidFill>
                <a:latin typeface="Calibri"/>
              </a:rPr>
              <a:t>封包還原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2E7DD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7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MAC 層
處理</a:t>
            </a:r>
          </a:p>
          <a:p>
            <a:pPr algn="ctr"/>
            <a:r>
              <a:rPr sz="1100">
                <a:solidFill>
                  <a:srgbClr val="2E7DD1"/>
                </a:solidFill>
                <a:latin typeface="Calibri"/>
              </a:rPr>
              <a:t>上送至驅動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在 OFDM 解調後即可計算：每個子載波的複數增益（振幅 + 相位）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2E7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PHY / MAC 與 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D1"/>
                </a:solidFill>
                <a:latin typeface="Calibri"/>
              </a:rPr>
              <a:t>RSSI（傳統方式）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整體接收功率（單一數值）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單位：dBm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無法區分多路徑效應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精度低，只反映總體信號強度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D1"/>
                </a:solidFill>
                <a:latin typeface="Calibri"/>
              </a:rPr>
              <a:t>MAC 層對 CSI 的態度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MAC 職責：CSMA/CA、ACK、Frame 組裝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⚠ CSI 不在 MAC 協定範圍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PHY 解調後存於 NIC 韌體暫存器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MAC 只收到已解調的 802.11 frame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CSI 從未進入 NDIS 封包結構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結論：CSI 旅程的第一個截斷點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= H(f)：頻域通道矩陣。從 PHY 到 MAC 已無標準傳遞路徑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2E7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OSI 7 層 vs Windows 實際元件對應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D1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D1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D1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D1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D1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D1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存在於 L1，NDIS 介面從 L2a 開始，兩者之間沒有標準橋接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284277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Windows 驅動堆疊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5FC1"/>
                </a:solidFill>
                <a:latin typeface="Calibri"/>
              </a:rPr>
              <a:t>OEM.sys → nwifi.sys → NDIS → WinSock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4A5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網路驅動架構總覽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6978"/>
            <a:ext cx="6583680" cy="384048"/>
          </a:xfrm>
          <a:prstGeom prst="rect">
            <a:avLst/>
          </a:prstGeom>
          <a:solidFill>
            <a:srgbClr val="192143"/>
          </a:solidFill>
          <a:ln w="1270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96697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User Mode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351026"/>
            <a:ext cx="0" cy="36576"/>
          </a:xfrm>
          <a:prstGeom prst="line">
            <a:avLst/>
          </a:prstGeom>
          <a:ln w="12700">
            <a:solidFill>
              <a:srgbClr val="4A5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1387602"/>
            <a:ext cx="6583680" cy="384048"/>
          </a:xfrm>
          <a:prstGeom prst="rect">
            <a:avLst/>
          </a:prstGeom>
          <a:solidFill>
            <a:srgbClr val="1F2852"/>
          </a:solidFill>
          <a:ln w="1270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WinSock (ws2_32.dll)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8760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User Mode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1771650"/>
            <a:ext cx="0" cy="36576"/>
          </a:xfrm>
          <a:prstGeom prst="line">
            <a:avLst/>
          </a:prstGeom>
          <a:ln w="12700">
            <a:solidFill>
              <a:srgbClr val="4A5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" y="1808226"/>
            <a:ext cx="6583680" cy="384048"/>
          </a:xfrm>
          <a:prstGeom prst="rect">
            <a:avLst/>
          </a:prstGeom>
          <a:solidFill>
            <a:srgbClr val="253061"/>
          </a:solidFill>
          <a:ln w="1270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AFD.sys（Ancillary Function Driver）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0822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2192274"/>
            <a:ext cx="0" cy="36576"/>
          </a:xfrm>
          <a:prstGeom prst="line">
            <a:avLst/>
          </a:prstGeom>
          <a:ln w="12700">
            <a:solidFill>
              <a:srgbClr val="4A5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" y="2228850"/>
            <a:ext cx="6583680" cy="384048"/>
          </a:xfrm>
          <a:prstGeom prst="rect">
            <a:avLst/>
          </a:prstGeom>
          <a:solidFill>
            <a:srgbClr val="2B3771"/>
          </a:solidFill>
          <a:ln w="1270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tcpip.sys（TCP/IP Stack）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2885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612898"/>
            <a:ext cx="0" cy="36576"/>
          </a:xfrm>
          <a:prstGeom prst="line">
            <a:avLst/>
          </a:prstGeom>
          <a:ln w="12700">
            <a:solidFill>
              <a:srgbClr val="4A5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0080" y="2649474"/>
            <a:ext cx="6583680" cy="384048"/>
          </a:xfrm>
          <a:prstGeom prst="rect">
            <a:avLst/>
          </a:prstGeom>
          <a:solidFill>
            <a:srgbClr val="313F80"/>
          </a:solidFill>
          <a:ln w="1270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4947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3033522"/>
            <a:ext cx="0" cy="36576"/>
          </a:xfrm>
          <a:prstGeom prst="line">
            <a:avLst/>
          </a:prstGeom>
          <a:ln w="12700">
            <a:solidFill>
              <a:srgbClr val="4A5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" y="3070098"/>
            <a:ext cx="6583680" cy="384048"/>
          </a:xfrm>
          <a:prstGeom prst="rect">
            <a:avLst/>
          </a:prstGeom>
          <a:solidFill>
            <a:srgbClr val="36468F"/>
          </a:solidFill>
          <a:ln w="1270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nwifi.sys（Native WiFi）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07009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3454146"/>
            <a:ext cx="0" cy="36576"/>
          </a:xfrm>
          <a:prstGeom prst="line">
            <a:avLst/>
          </a:prstGeom>
          <a:ln w="12700">
            <a:solidFill>
              <a:srgbClr val="4A5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" y="3490722"/>
            <a:ext cx="6583680" cy="384048"/>
          </a:xfrm>
          <a:prstGeom prst="rect">
            <a:avLst/>
          </a:prstGeom>
          <a:solidFill>
            <a:srgbClr val="3C4E9E"/>
          </a:solidFill>
          <a:ln w="1270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OEM.sys（Miniport Driver）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49072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3874770"/>
            <a:ext cx="0" cy="36576"/>
          </a:xfrm>
          <a:prstGeom prst="line">
            <a:avLst/>
          </a:prstGeom>
          <a:ln w="12700">
            <a:solidFill>
              <a:srgbClr val="4A5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" y="3911346"/>
            <a:ext cx="6583680" cy="384048"/>
          </a:xfrm>
          <a:prstGeom prst="rect">
            <a:avLst/>
          </a:prstGeom>
          <a:solidFill>
            <a:srgbClr val="4255AD"/>
          </a:solidFill>
          <a:ln w="1270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硬體 + 韌體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1134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Hardware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每層只能透過明確定義的介面與相鄰層溝通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OEM.sys：網卡廠商 Miniport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5FC1"/>
                </a:solidFill>
                <a:latin typeface="Calibri"/>
              </a:rPr>
              <a:t>職責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直接與 NIC 硬體暫存器溝通（MMIO/PCI）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控制 RF 參數（頻道、頻寬、TX 功率）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管理 DMA 傳輸（TX/RX 封包緩衝）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實作 NDIS Miniport 介面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上報硬體事件給 nwifi.sys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D1"/>
                </a:solidFill>
                <a:latin typeface="Calibri"/>
              </a:rPr>
              <a:t>範例（各廠商）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Intel：iwlwifi（Linux）/ netwtw*.sys（Windows）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Qualcomm/Atheros：ath*.sys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Broadcom：bcmwl*.sys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MediaTek：mt*.sys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⚠ OEM.sys 是唯一能讀取 CSI 的軟體元件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但它選擇不向上層暴露此資料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OEM.sys 是 Windows 驅動堆疊中距離硬體最近的軟體層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 的資料路徑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NIC 韌體
計算 CSI</a:t>
            </a:r>
          </a:p>
          <a:p>
            <a:pPr algn="ctr"/>
            <a:r>
              <a:rPr sz="1100">
                <a:solidFill>
                  <a:srgbClr val="4A5FC1"/>
                </a:solidFill>
                <a:latin typeface="Calibri"/>
              </a:rPr>
              <a:t>儲存於暫存器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4A5FC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OEM.sys
DMA 讀取</a:t>
            </a:r>
          </a:p>
          <a:p>
            <a:pPr algn="ctr"/>
            <a:r>
              <a:rPr sz="1100">
                <a:solidFill>
                  <a:srgbClr val="4A5FC1"/>
                </a:solidFill>
                <a:latin typeface="Calibri"/>
              </a:rPr>
              <a:t>RX 封包緩衝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4A5FC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NDIS_RECEIVE
_NET_BUFFER</a:t>
            </a:r>
          </a:p>
          <a:p>
            <a:pPr algn="ctr"/>
            <a:r>
              <a:rPr sz="1100">
                <a:solidFill>
                  <a:srgbClr val="4A5FC1"/>
                </a:solidFill>
                <a:latin typeface="Calibri"/>
              </a:rPr>
              <a:t>標準封包上報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4A5FC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nwifi.sys
接收</a:t>
            </a:r>
          </a:p>
          <a:p>
            <a:pPr algn="ctr"/>
            <a:r>
              <a:rPr sz="1100">
                <a:solidFill>
                  <a:srgbClr val="4A5FC1"/>
                </a:solidFill>
                <a:latin typeface="Calibri"/>
              </a:rPr>
              <a:t>802.11 frame 處理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4A5FC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tcpip.sys
→ 應用層</a:t>
            </a:r>
          </a:p>
          <a:p>
            <a:pPr algn="ctr"/>
            <a:r>
              <a:rPr sz="1100">
                <a:solidFill>
                  <a:srgbClr val="4A5FC1"/>
                </a:solidFill>
                <a:latin typeface="Calibri"/>
              </a:rPr>
              <a:t>IP 封包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存於 NIC 暫存器，OEM.sys 只將 802.11 frame payload 上報——CSI 從未進入 NDIS 封包結構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nwifi.sys：連線管理層（PHY 資訊截斷點）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4A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2000">
                <a:solidFill>
                  <a:srgbClr val="4A5FC1"/>
                </a:solidFill>
              </a:rPr>
              <a:t>▶ 職責：802.11 連線管理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認證（WPA2/WPA3）、漫遊、省電、掃描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A5FC1"/>
                </a:solidFill>
              </a:rPr>
              <a:t>▶ 向上暴露的介面：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SSID / RSSI / 連線狀態 / 頻道 / 連線速率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Native WiFi API（wlanapi.dll）→ 應用程式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A5FC1"/>
                </a:solidFill>
              </a:rPr>
              <a:t>⚠ 不暴露任何 PHY 層原始資料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❌ CSI、❌ IQ 樣本、❌ 每天線獨立 RSSI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設計目標是連線管理，不是 RF 量測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從 nwifi.sys 向上，PHY 層資訊已被永久丟棄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NDIS 無 CSI 的根本原因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4A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NDIS 設計目標：跨廠商通用介面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任何協定 × 任何網卡 = 最大公約數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OID 機制提供：SSID / RSSI / 掃描 / 統計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1A1A2E"/>
                </a:solidFill>
              </a:rPr>
              <a:t>❌ 無任何 OID 定義 CSI 查詢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A5FC1"/>
                </a:solidFill>
              </a:rPr>
              <a:t>▶ 為什麼無法標準化 CSI？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Intel 5300：30 個子載波群組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Atheros AR9380：56 個子載波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格式完全不同，無法取最大公約數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結論：通用性的代價 = 丟棄廠商私有 PHY 細節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NDIS 的「通用性」正是 CSI 無法取得的根本原因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WDI：Windows 10+ 新驅動模型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5FC1"/>
                </a:solidFill>
                <a:latin typeface="Calibri"/>
              </a:rPr>
              <a:t>WDI 改變了什麼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WLAN Device Driver Interface（WDI）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Win10 引入，取代部分 NDIS WiFi 介面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將驅動分為：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IHV 元件（UMDF，User Mode）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WDI 框架（KMDF，Kernel Mode）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降低藍屏風險（User Mode crash 不致命）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簡化 IHV 驅動開發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D1"/>
                </a:solidFill>
                <a:latin typeface="Calibri"/>
              </a:rPr>
              <a:t>WDI 對 CSI 的影響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❌ WDI Task/Property 定義中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 同樣沒有 CSI 相關介面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WDITASK 清單（部分）：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TaskScan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TaskConnect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TaskDisconnect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TaskSendRequest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→ 架構更新，但 CSI 缺席問題未解決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WDI 是架構改進，不是 PHY 資料暴露的嘗試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CSI 消失點分析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28346A"/>
          </a:solidFill>
          <a:ln w="1270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 / WinSock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無法感知 CSI 存在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28346A"/>
          </a:solidFill>
          <a:ln w="12700">
            <a:solidFill>
              <a:srgbClr val="4A5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只處理 IP 封包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924000"/>
          </a:solidFill>
          <a:ln w="317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6000"/>
                </a:solidFill>
                <a:latin typeface="Calibri"/>
              </a:rPr>
              <a:t>無 CSI OID 定義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0E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 + 硬體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8F8F"/>
                </a:solidFill>
                <a:latin typeface="Calibri"/>
              </a:rPr>
              <a:t>CSI 計算並儲存於此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消失於 OEM.sys ↔ nwifi.sys 介面：OEM.sys 有能力讀取但選擇不轉發，nwifi.sys 也不要求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194E6A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替代方案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8F8F"/>
                </a:solidFill>
                <a:latin typeface="Calibri"/>
              </a:rPr>
              <a:t>Linux 生態 vs Windows 限制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0E8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0E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為什麼 Linux 可以取得 CSI？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8F8F"/>
                </a:solidFill>
                <a:latin typeface="Calibri"/>
              </a:rPr>
              <a:t>Linux 驅動架構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cfg80211：802.11 設定框架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mac80211：軟體 MAC 實作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nl80211：Netlink 介面（用戶空間↔核心）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關鍵差異：開源驅動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iwlwifi（Intel）可修改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ath9k（Atheros）可修改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brcmfmac（Broadcom）可 patch 韌體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debugfs 介面：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/sys/kernel/debug/ieee80211/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部分驅動在此暴露 CSI 原始資料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D1"/>
                </a:solidFill>
                <a:latin typeface="Calibri"/>
              </a:rPr>
              <a:t>Windows 的根本差異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OEM.sys 為閉源二進位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NDIS 介面固定，無擴充 CSI 的機制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無等同 debugfs 的 PHY 資料介面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韌體修改需要 WHQL 簽章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→ Linux 的可行性來自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開源 + 可修改驅動 + 彈性的核心介面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不是 Windows 的「bug」，是設計哲學差異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Linux 的可行性來自開源生態，不是 Windows 的設計缺陷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0E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現代 CSI 工具生態（全部 Linux-only）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所有工具均僅支援 Linux——這直接說明了為什麼 Windows 無法取得 CSI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0E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替代方案比較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建議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Raw Packet Capture</a:t>
                      </a:r>
                    </a:p>
                    <a:p>
                      <a:r>
                        <a:t>(WinPcap/Npcap)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僅封包分析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OEM 私有 IOCTL</a:t>
                      </a:r>
                    </a:p>
                    <a:p>
                      <a:r>
                        <a:t>(逆向 OEM.sys)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★★★★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⚠ 不穩定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不建議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雙系統 Linux（推薦）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★★☆☆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最佳方案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Linux Live USB</a:t>
                      </a:r>
                    </a:p>
                    <a:p>
                      <a:r>
                        <a:t>(FeitCSI)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快速上手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建議：Intel AX200 + 雙系統 Linux + PicoScenes/FeitCSI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0E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支援 CSI 的硬體選型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1E3A5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8F8F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BCM43455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採購建議：Intel AX200 M.2 網卡 + Linux 雙系統 = 最易取得的 CSI 研究平台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464351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結語與建議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0602A"/>
                </a:solidFill>
                <a:latin typeface="Calibri"/>
              </a:rPr>
              <a:t>硬體選型 + 環境建議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C06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完整架構總覽：CSI 的旅程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693417"/>
          </a:solidFill>
          <a:ln w="12700">
            <a:solidFill>
              <a:srgbClr val="C06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924000"/>
          </a:solidFill>
          <a:ln w="317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 / tcpip.sys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6000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OEM.sys（唯一機會）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0E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8F8F"/>
                </a:solidFill>
                <a:latin typeface="Calibri"/>
              </a:rPr>
              <a:t>CSI 在此計算完成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0E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PHY 硬體 + RF 電路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8F8F"/>
                </a:solidFill>
                <a:latin typeface="Calibri"/>
              </a:rPr>
              <a:t>OFDM 解調，子載波分析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Windows 架構的每一層都有合理的設計動機，但合力造成了 CSI 無法取得的結果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給 RF 工程師的建議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2000">
                <a:solidFill>
                  <a:srgbClr val="C0602A"/>
                </a:solidFill>
              </a:rPr>
              <a:t>1. 選硬體先確認 CSI 工具支援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Intel AX200/AX210 = 目前最佳選擇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C0602A"/>
                </a:solidFill>
              </a:rPr>
              <a:t>2. 優先 Linux 環境採集 CSI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PicoScenes（商業支援）或 FeitCSI（開源）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雙系統：Linux 採集，Windows 後處理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C0602A"/>
                </a:solidFill>
              </a:rPr>
              <a:t>3. 避免的坑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OEM 私有 IOCTL（每次驅動更新後失效）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VM 取 CSI（時序精度受 Hypervisor 影響）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未在支援清單上的網卡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C0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Q&amp;A / 參考資料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138160" cy="341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2E7DD1"/>
                </a:solidFill>
                <a:latin typeface="Calibri"/>
              </a:rPr>
              <a:t>[1] D. Halperin et al., Tool Release: Gathering 802.11n Traces with CSI, ACM SIGCOMM, 2011. -&gt; linux-80211n-csitool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E7DD1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E7DD1"/>
                </a:solidFill>
                <a:latin typeface="Calibri"/>
              </a:rPr>
              <a:t>[3] Z. Jiang, PicoScenes: Enabling Modern Wi-Fi ISAC Research -- ps.zpj.io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E7DD1"/>
                </a:solidFill>
                <a:latin typeface="Calibri"/>
              </a:rPr>
              <a:t>[4] KuskoSoft, FeitCSI: 802.11 CSI Tool -- feitcsi.kuskosoft.com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E7DD1"/>
                </a:solidFill>
                <a:latin typeface="Calibri"/>
              </a:rPr>
              <a:t>[5] X. Yaxiong et al., Atheros CSI Tool for 802.11n NICs -- xieyaxiongfly/Atheros-CSI-Tool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E7DD1"/>
                </a:solidFill>
                <a:latin typeface="Calibri"/>
              </a:rPr>
              <a:t>[6] Microsoft Docs, WDI Miniport Driver Design Guide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E7DD1"/>
                </a:solidFill>
                <a:latin typeface="Calibri"/>
              </a:rPr>
              <a:t>[7] Microsoft Docs, NDIS Network Interface Architecture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2E7DD1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