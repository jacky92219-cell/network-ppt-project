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  <p:sldId id="268" r:id="rId20"/>
    <p:sldId id="269" r:id="rId21"/>
    <p:sldId id="270" r:id="rId22"/>
    <p:sldId id="271" r:id="rId23"/>
    <p:sldId id="272" r:id="rId24"/>
    <p:sldId id="273" r:id="rId25"/>
    <p:sldId id="274" r:id="rId26"/>
    <p:sldId id="275" r:id="rId27"/>
    <p:sldId id="276" r:id="rId28"/>
    <p:sldId id="277" r:id="rId29"/>
    <p:sldId id="278" r:id="rId30"/>
  </p:sldIdLst>
  <p:sldSz cx="9144000" cy="51435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Relationship Id="rId20" Type="http://schemas.openxmlformats.org/officeDocument/2006/relationships/slide" Target="slides/slide13.xml"/><Relationship Id="rId21" Type="http://schemas.openxmlformats.org/officeDocument/2006/relationships/slide" Target="slides/slide14.xml"/><Relationship Id="rId22" Type="http://schemas.openxmlformats.org/officeDocument/2006/relationships/slide" Target="slides/slide15.xml"/><Relationship Id="rId23" Type="http://schemas.openxmlformats.org/officeDocument/2006/relationships/slide" Target="slides/slide16.xml"/><Relationship Id="rId24" Type="http://schemas.openxmlformats.org/officeDocument/2006/relationships/slide" Target="slides/slide17.xml"/><Relationship Id="rId25" Type="http://schemas.openxmlformats.org/officeDocument/2006/relationships/slide" Target="slides/slide18.xml"/><Relationship Id="rId26" Type="http://schemas.openxmlformats.org/officeDocument/2006/relationships/slide" Target="slides/slide19.xml"/><Relationship Id="rId27" Type="http://schemas.openxmlformats.org/officeDocument/2006/relationships/slide" Target="slides/slide20.xml"/><Relationship Id="rId28" Type="http://schemas.openxmlformats.org/officeDocument/2006/relationships/slide" Target="slides/slide21.xml"/><Relationship Id="rId29" Type="http://schemas.openxmlformats.org/officeDocument/2006/relationships/slide" Target="slides/slide22.xml"/><Relationship Id="rId30" Type="http://schemas.openxmlformats.org/officeDocument/2006/relationships/slide" Target="slides/slide23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7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8.xml"/></Relationships>
</file>

<file path=ppt/notesSlides/_rels/notesSlide1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9.xml"/></Relationships>
</file>

<file path=ppt/notesSlides/_rels/notesSlide1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1.xml"/></Relationships>
</file>

<file path=ppt/notesSlides/_rels/notesSlide1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2.xml"/></Relationships>
</file>

<file path=ppt/notesSlides/_rels/notesSlide1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3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大家好，今天的主題是「網卡與 OS 層的關係」。我們會從 RF 工程師最熟悉的 PHY 層出發，一路向上追溯到 Windows 的應用程式層，最後回答一個很多 RF 工程師都碰過的問題：為什麼在 Windows 上無法取得網卡的 CSI 資料？</a:t>
            </a:r>
          </a:p>
          <a:p/>
          <a:p>
            <a:r>
              <a:t>這份投影片設計給有 PHY/MAC 背景的工程師，所以我不會花太多時間在 RF 基礎，而是聚焦在 OS 軟體層的架構與限制。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今天的內容分四段。</a:t>
            </a:r>
          </a:p>
          <a:p/>
          <a:p>
            <a:r>
              <a:t>第一段從 PHY/MAC 基礎出發，確保大家對 CSI 的定義有共同的認知。第二段進入 Windows 的驅動架構，這是大多數 RF 工程師比較陌生的領域。第三段是今天的核心：為什麼 Linux 可以但 Windows 不行，以及有哪些替代方案。最後給出實際的硬體選型建議。</a:t>
            </a:r>
          </a:p>
          <a:p/>
          <a:p>
            <a:r>
              <a:t>整個演講大約 45 到 60 分鐘，最後留時間 Q&amp;A。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這張圖應該是大家最熟悉的起點。從天線接收到 RF 信號後，經過 ADC 轉換成數位信號，再透過 OFDM 解調把各個子載波分離出來，最後解碼成 802.11 frame。</a:t>
            </a:r>
          </a:p>
          <a:p/>
          <a:p>
            <a:r>
              <a:t>關鍵點在這裡：CSI 的計算發生在 OFDM 解調這個步驟。每個子載波在解調過程中，NIC 的 DSP 會計算出複數增益，這就是 CSI 的來源。這個資料此時還在 NIC 的韌體裡，尚未進入任何 OS 軟體層。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在座各位應該都知道 RSSI，但我還是簡單對比一下。RSSI 是整個頻帶的總接收功率，是一個純量值，單位 dBm。它告訴你「訊號有多強」，但不告訴你「通道長什麼樣子」。</a:t>
            </a:r>
          </a:p>
          <a:p/>
          <a:p>
            <a:r>
              <a:t>CSI 則是每個 OFDM 子載波的複數增益，包含振幅和相位。802.11n 的情況下，IWL5300 會報告 30 個子載波群組的 CSI。這個資訊豐富多了——你可以從 CSI 重建多路徑傳播特性，這就是為什麼 CSI 可以用於室內定位和手勢辨識，而 RSSI 不行。</a:t>
            </a:r>
          </a:p>
          <a:p/>
          <a:p>
            <a:r>
              <a:t>CSI 的數學表示是頻域通道矩陣 H(f)，對每對 TX-RX 天線各有一個。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這張表是今天的地圖，後面的所有討論都會對應回這張表。</a:t>
            </a:r>
          </a:p>
          <a:p/>
          <a:p>
            <a:r>
              <a:t>最重要的觀察：CSI 存在於 L1（PHY 硬體），但 Windows 的軟體介面從 L2a 才開始（nwifi.sys 和 OEM.sys）。L1 和 L2a 之間沒有標準的橋接機制來傳遞 CSI。</a:t>
            </a:r>
          </a:p>
          <a:p/>
          <a:p>
            <a:r>
              <a:t>右邊的 Windows 元件欄位就是我們接下來要深入討論的每一個元件。請記住這個對應關係。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現在進入 Windows 驅動架構。這張堆疊圖從上到下代表從應用程式到硬體的路徑。</a:t>
            </a:r>
          </a:p>
          <a:p/>
          <a:p>
            <a:r>
              <a:t>顏色區分了三個層次：綠色是 User Mode（使用者模式），藍色和紫色是 Kernel Mode（核心模式），最底層是硬體。</a:t>
            </a:r>
          </a:p>
          <a:p/>
          <a:p>
            <a:r>
              <a:t>每一層只能和相鄰層溝通，而且必須透過明確定義的介面。這個設計保證了穩定性，但也意味著 L1 的 PHY 資訊沒有辦法「跳過」中間層直接到應用程式。</a:t>
            </a:r>
          </a:p>
          <a:p/>
          <a:p>
            <a:r>
              <a:t>接下來我們逐層解釋，重點在紅色的 OEM.sys 和紫色的 nwifi.sys。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OEM.sys 是網卡廠商提供的 Miniport Driver，是整個 Windows 網路堆疊中距離硬體最近的軟體元件。</a:t>
            </a:r>
          </a:p>
          <a:p/>
          <a:p>
            <a:r>
              <a:t>它透過 MMIO 或 PCI 介面直接讀寫網卡的硬體暫存器，可以控制 RF 參數像是頻道和 TX 功率，也負責管理 DMA 傳輸。</a:t>
            </a:r>
          </a:p>
          <a:p/>
          <a:p>
            <a:r>
              <a:t>右邊的例子列出各廠商的驅動名稱。Intel 在 Linux 上叫 iwlwifi，但在 Windows 上叫 netwtw*.sys，星號代表版本號。</a:t>
            </a:r>
          </a:p>
          <a:p/>
          <a:p>
            <a:r>
              <a:t>這裡有一個關鍵觀察：OEM.sys 理論上可以讀取 NIC 韌體計算的 CSI 資料，因為它有直接訪問硬體暫存器的能力。問題是它選擇不向上層暴露這個資料。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這張流程圖展示了一個 RX 封包從 NIC 韌體到應用層的路徑。</a:t>
            </a:r>
          </a:p>
          <a:p/>
          <a:p>
            <a:r>
              <a:t>注意最左邊：NIC 韌體計算 CSI 後，把結果儲存在硬體暫存器。OEM.sys 透過 DMA 讀取 RX 封包緩衝區，但這個緩衝區裡只有 802.11 frame 的內容，不含 CSI。</a:t>
            </a:r>
          </a:p>
          <a:p/>
          <a:p>
            <a:r>
              <a:t>CSI 從來沒有進入 NDIS_NET_BUFFER 這個標準封包結構。換句話說，CSI 在 OEM.sys 這一步就已經被排除在資料流之外了。</a:t>
            </a:r>
          </a:p>
          <a:p/>
          <a:p>
            <a:r>
              <a:t>這就是 CSI 消失的根本原因：不是某個軟體元件「擋住」了 CSI，而是 CSI 從一開始就沒有被放進標準的資料傳輸路徑。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nwifi.sys 是 Windows Native WiFi 驅動，職責是管理 802.11 連線狀態。它向上暴露的介面完全沒有任何 PHY 層資訊的傳遞路徑——這是設計目標，不是疏漏。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NDIS 的核心設計目標是跨廠商通用性，但 CSI 是廠商私有 PHY 細節，不同廠商格式完全不同。無法取最大公約數，所以 NDIS 根本沒有嘗試。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Windows 10 引入了 WDI 作為新的 WiFi 驅動模型。WDI 把驅動分成兩部分：IHV 廠商負責的 User Mode 元件，和 WDI 框架的 Kernel Mode 元件。</a:t>
            </a:r>
          </a:p>
          <a:p/>
          <a:p>
            <a:r>
              <a:t>這個架構的優點是：User Mode 的 crash 不會導致藍屏，大幅提升系統穩定性，也簡化了廠商的驅動開發。</a:t>
            </a:r>
          </a:p>
          <a:p/>
          <a:p>
            <a:r>
              <a:t>但是——WDI 的 Task 和 Property 定義完全沒有包含 CSI 相關的介面。WDI 是架構上的改進，不是解決 CSI 取得問題的嘗試。所以即使升級到 WDI 模型，CSI 依然無法取得。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這是今天的核心投影片。讓我們總結 CSI 在哪裡消失。</a:t>
            </a:r>
          </a:p>
          <a:p/>
          <a:p>
            <a:r>
              <a:t>橙色和紅色標注的兩個元件是關鍵：OEM.sys 和 nwifi.sys。</a:t>
            </a:r>
          </a:p>
          <a:p/>
          <a:p>
            <a:r>
              <a:t>OEM.sys 有能力讀取 CSI（因為它可以直接訪問 NIC 硬體暫存器），但它不上報給 nwifi.sys。nwifi.sys 也從未向 OEM.sys 請求 CSI 資料。這個邊界就是 CSI 消失的地方。</a:t>
            </a:r>
          </a:p>
          <a:p/>
          <a:p>
            <a:r>
              <a:t>再往上，ndis.sys 沒有 CSI 的 OID 定義，tcpip.sys 只看到 IP 封包，應用程式完全感知不到 CSI 的存在。</a:t>
            </a:r>
          </a:p>
          <a:p/>
          <a:p>
            <a:r>
              <a:t>結論：CSI 的消失是多層架構決策累積的結果，每一層都有其合理性。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現在我們來看為什麼 Linux 可以取得 CSI。</a:t>
            </a:r>
          </a:p>
          <a:p/>
          <a:p>
            <a:r>
              <a:t>Linux 的關鍵優勢是開源。iwlwifi、ath9k、brcmfmac 這些驅動都是開源的，研究人員可以直接修改驅動程式碼，甚至修改 NIC 韌體。debugfs 提供了一個核心介面，讓驅動可以暴露任意的除錯資料，包括 CSI。</a:t>
            </a:r>
          </a:p>
          <a:p/>
          <a:p>
            <a:r>
              <a:t>右邊列出了 Windows 的根本差異：OEM.sys 是閉源二進位，不可修改；NDIS 介面固定，沒有擴充機制；韌體修改需要 WHQL 認證簽章。</a:t>
            </a:r>
          </a:p>
          <a:p/>
          <a:p>
            <a:r>
              <a:t>這不是 Windows 的 bug，而是商業產品（Windows）vs 開源生態（Linux）的架構哲學差異。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這是目前（2026 年）的現代 CSI 工具生態。</a:t>
            </a:r>
          </a:p>
          <a:p/>
          <a:p>
            <a:r>
              <a:t>PicoScenes 是目前功能最完整的平台，支援 Intel AX200/AX210，可以取得 802.11ax 格式的 CSI，最寬支援 160 MHz。它有商業支援，適合需要穩定維護的研究團隊。</a:t>
            </a:r>
          </a:p>
          <a:p/>
          <a:p>
            <a:r>
              <a:t>FeitCSI 是開源替代方案，功能相近，也支援 CSI 注入，可以用於主動量測。</a:t>
            </a:r>
          </a:p>
          <a:p/>
          <a:p>
            <a:r>
              <a:t>這張表的最右欄「平台」請注意：全部都是 Linux。這個事實本身就是今天演講的核心論點之一——所有成熟的 CSI 工具都選擇 Linux，因為 Windows 的架構限制讓這件事在 Windows 上無法實現。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四種方案快速比較。Raw Packet Capture 最簡單但無 CSI。OEM IOCTL 風險極高。雙系統和 Live USB 都能取到完整 CSI，推薦雙系統。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這張表列出目前（2026 年）有明確 CSI 工具支援的網卡。</a:t>
            </a:r>
          </a:p>
          <a:p/>
          <a:p>
            <a:r>
              <a:t>如果你要買新硬體，Intel AX200 M.2 是最容易取得、工具支援最完整的選擇。它便宜（通常 500 到 1000 台幣），支援 802.11ax，PicoScenes 和 FeitCSI 都支援它。買 M.2 版本可以裝在筆電或桌機，或者用 M.2 轉 PCIe 轉接卡。</a:t>
            </a:r>
          </a:p>
          <a:p/>
          <a:p>
            <a:r>
              <a:t>如果你有 Raspberry Pi，BCM43455 晶片已經內建，Nexmon CSI 直接支援，不需要額外購買硬體，非常適合做嵌入式 CSI 採集節點。</a:t>
            </a:r>
          </a:p>
          <a:p/>
          <a:p>
            <a:r>
              <a:t>Atheros AR9380 在 OpenWRT 路由器上很常見，適合布署多點 CSI 量測環境。</a:t>
            </a:r>
          </a:p>
          <a:p/>
          <a:p>
            <a:r>
              <a:t>請避免購買沒有在這份清單上的網卡，除非你願意自己移植驅動。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讓我們用這張總結圖回顧整個旅程。</a:t>
            </a:r>
          </a:p>
          <a:p/>
          <a:p>
            <a:r>
              <a:t>從最下面的 PHY 硬體開始，OFDM 解調計算出 CSI，儲存在 NIC 韌體的暫存器中。NIC 韌體計算完成後，這個資訊就在這裡等待被讀取。</a:t>
            </a:r>
          </a:p>
          <a:p/>
          <a:p>
            <a:r>
              <a:t>OEM.sys 是唯一有能力讀取這個資料的軟體元件，但它的設計目標不包含上報 CSI，所以它沒有這樣做。</a:t>
            </a:r>
          </a:p>
          <a:p/>
          <a:p>
            <a:r>
              <a:t>往上的每一層，從 nwifi.sys 到 NDIS 到應用程式，都沒有任何機制可以取得 CSI。每一層都有合理的設計動機，但合在一起的結果就是 CSI 無法從應用層存取。</a:t>
            </a:r>
          </a:p>
          <a:p/>
          <a:p>
            <a:r>
              <a:t>這不是一個單一決策造成的問題，而是多層架構設計累積的結果。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基於今天的內容，給各位三點具體建議。希望能幫助大家避免走彎路，直接使用最有效的工具。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以上是今天的所有內容。</a:t>
            </a:r>
          </a:p>
          <a:p/>
          <a:p>
            <a:r>
              <a:t>如果你要開始 CSI 研究，推薦先看 PicoScenes 的文件（ps.zpj.io），它提供了很完整的 setup guide。FeitCSI（feitcsi.kuskosoft.com）是開源替代方案，適合想要自己修改的研究者。CSIKit 是一個 Python 函式庫，可以解析多種 CSI 工具的輸出格式，方便資料分析。</a:t>
            </a:r>
          </a:p>
          <a:p/>
          <a:p>
            <a:r>
              <a:t>有任何問題嗎？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9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0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1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2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3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4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5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6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7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8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9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gradFill rotWithShape="1">
            <a:gsLst>
              <a:gs pos="0">
                <a:srgbClr val="1E1E1E"/>
              </a:gs>
              <a:gs pos="100000">
                <a:srgbClr val="2A2A2A"/>
              </a:gs>
            </a:gsLst>
            <a:lin scaled="0" ang="8100000"/>
          </a:gra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6400800" y="2857500"/>
            <a:ext cx="2743200" cy="2286000"/>
          </a:xfrm>
          <a:prstGeom prst="rect">
            <a:avLst/>
          </a:prstGeom>
          <a:solidFill>
            <a:srgbClr val="1A1A1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7498080" y="3771900"/>
            <a:ext cx="1645920" cy="1371600"/>
          </a:xfrm>
          <a:prstGeom prst="rect">
            <a:avLst/>
          </a:prstGeom>
          <a:solidFill>
            <a:srgbClr val="0F0F0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0" y="0"/>
            <a:ext cx="73152" cy="5143500"/>
          </a:xfrm>
          <a:prstGeom prst="rect">
            <a:avLst/>
          </a:prstGeom>
          <a:solidFill>
            <a:srgbClr val="50505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57200" y="1280160"/>
            <a:ext cx="8229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4000" b="1">
                <a:solidFill>
                  <a:srgbClr val="FFFFFF"/>
                </a:solidFill>
                <a:latin typeface="Calibri"/>
              </a:rPr>
              <a:t>網卡與 OS 層的關係</a:t>
            </a:r>
          </a:p>
        </p:txBody>
      </p:sp>
      <p:cxnSp>
        <p:nvCxnSpPr>
          <p:cNvPr id="7" name="Connector 6"/>
          <p:cNvCxnSpPr/>
          <p:nvPr/>
        </p:nvCxnSpPr>
        <p:spPr>
          <a:xfrm>
            <a:off x="457200" y="2788920"/>
            <a:ext cx="8229600" cy="0"/>
          </a:xfrm>
          <a:prstGeom prst="line">
            <a:avLst/>
          </a:prstGeom>
          <a:ln w="25400">
            <a:solidFill>
              <a:srgbClr val="50505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" name="TextBox 7"/>
          <p:cNvSpPr txBox="1"/>
          <p:nvPr/>
        </p:nvSpPr>
        <p:spPr>
          <a:xfrm>
            <a:off x="457200" y="2880360"/>
            <a:ext cx="82296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0">
                <a:solidFill>
                  <a:srgbClr val="C0C0C0"/>
                </a:solidFill>
                <a:latin typeface="Calibri"/>
              </a:rPr>
              <a:t>從 PHY/MAC 到 Windows 驅動堆疊
——為什麼無法從 Windows 取得 CSI？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4069080"/>
            <a:ext cx="45720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>
                <a:solidFill>
                  <a:srgbClr val="909090"/>
                </a:solidFill>
                <a:latin typeface="Calibri"/>
              </a:rPr>
              <a:t>2026-04-07    v4.0</a:t>
            </a:r>
          </a:p>
        </p:txBody>
      </p:sp>
      <p:sp>
        <p:nvSpPr>
          <p:cNvPr id="10" name="Rectangle 9"/>
          <p:cNvSpPr/>
          <p:nvPr/>
        </p:nvSpPr>
        <p:spPr>
          <a:xfrm>
            <a:off x="0" y="4686300"/>
            <a:ext cx="9144000" cy="457200"/>
          </a:xfrm>
          <a:prstGeom prst="rect">
            <a:avLst/>
          </a:prstGeom>
          <a:gradFill rotWithShape="1">
            <a:gsLst>
              <a:gs pos="0">
                <a:srgbClr val="2A2A2A"/>
              </a:gs>
              <a:gs pos="100000">
                <a:srgbClr val="343434"/>
              </a:gs>
            </a:gsLst>
            <a:lin scaled="0" ang="0"/>
          </a:gra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863840" y="4722876"/>
            <a:ext cx="91440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300" b="0">
                <a:solidFill>
                  <a:srgbClr val="B0B0B0"/>
                </a:solidFill>
                <a:latin typeface="Calibri"/>
              </a:rPr>
              <a:t>01 / 23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822960"/>
          </a:xfrm>
          <a:prstGeom prst="rect">
            <a:avLst/>
          </a:prstGeom>
          <a:gradFill rotWithShape="1">
            <a:gsLst>
              <a:gs pos="0">
                <a:srgbClr val="2A2A2A"/>
              </a:gs>
              <a:gs pos="100000">
                <a:srgbClr val="363636"/>
              </a:gs>
            </a:gsLst>
            <a:lin scaled="0" ang="0"/>
          </a:gra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50292" cy="822960"/>
          </a:xfrm>
          <a:prstGeom prst="rect">
            <a:avLst/>
          </a:prstGeom>
          <a:solidFill>
            <a:srgbClr val="50505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365760" y="109728"/>
            <a:ext cx="704088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>
                <a:solidFill>
                  <a:srgbClr val="FFFFFF"/>
                </a:solidFill>
                <a:latin typeface="Calibri"/>
              </a:rPr>
              <a:t>大綱</a:t>
            </a:r>
          </a:p>
        </p:txBody>
      </p:sp>
      <p:sp>
        <p:nvSpPr>
          <p:cNvPr id="5" name="Rectangle 4"/>
          <p:cNvSpPr/>
          <p:nvPr/>
        </p:nvSpPr>
        <p:spPr>
          <a:xfrm>
            <a:off x="365760" y="960120"/>
            <a:ext cx="36576" cy="3433572"/>
          </a:xfrm>
          <a:prstGeom prst="rect">
            <a:avLst/>
          </a:prstGeom>
          <a:solidFill>
            <a:srgbClr val="50505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30352" y="1051560"/>
            <a:ext cx="8138160" cy="32506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600"/>
              </a:spcBef>
            </a:pPr>
            <a:r>
              <a:rPr sz="2000">
                <a:solidFill>
                  <a:srgbClr val="1C1C1C"/>
                </a:solidFill>
              </a:rPr>
              <a:t>● 第一段：基礎架構（Slides 3–5）</a:t>
            </a:r>
          </a:p>
          <a:p>
            <a:pPr lvl="1">
              <a:spcBef>
                <a:spcPts val="200"/>
              </a:spcBef>
            </a:pPr>
            <a:r>
              <a:rPr sz="1700">
                <a:solidFill>
                  <a:srgbClr val="6B6B6B"/>
                </a:solidFill>
              </a:rPr>
              <a:t>  · · 802.11 RF 信號路徑</a:t>
            </a:r>
          </a:p>
          <a:p>
            <a:pPr lvl="1">
              <a:spcBef>
                <a:spcPts val="200"/>
              </a:spcBef>
            </a:pPr>
            <a:r>
              <a:rPr sz="1700">
                <a:solidFill>
                  <a:srgbClr val="6B6B6B"/>
                </a:solidFill>
              </a:rPr>
              <a:t>  · · PHY / MAC 與 CSI</a:t>
            </a:r>
          </a:p>
          <a:p>
            <a:pPr lvl="1">
              <a:spcBef>
                <a:spcPts val="200"/>
              </a:spcBef>
            </a:pPr>
            <a:r>
              <a:rPr sz="1700">
                <a:solidFill>
                  <a:srgbClr val="6B6B6B"/>
                </a:solidFill>
              </a:rPr>
              <a:t>  · · OSI 7 層 vs Windows 元件對應</a:t>
            </a:r>
          </a:p>
          <a:p>
            <a:pPr>
              <a:spcBef>
                <a:spcPts val="600"/>
              </a:spcBef>
            </a:pPr>
            <a:r>
              <a:rPr sz="2000">
                <a:solidFill>
                  <a:srgbClr val="1C1C1C"/>
                </a:solidFill>
              </a:rPr>
              <a:t>● 第二段：Windows 驅動堆疊（Slides 6–13）</a:t>
            </a:r>
          </a:p>
          <a:p>
            <a:pPr lvl="1">
              <a:spcBef>
                <a:spcPts val="200"/>
              </a:spcBef>
            </a:pPr>
            <a:r>
              <a:rPr sz="1700">
                <a:solidFill>
                  <a:srgbClr val="6B6B6B"/>
                </a:solidFill>
              </a:rPr>
              <a:t>  · · OEM.sys / nwifi.sys / NDIS / WDI</a:t>
            </a:r>
          </a:p>
          <a:p>
            <a:pPr lvl="1">
              <a:spcBef>
                <a:spcPts val="200"/>
              </a:spcBef>
            </a:pPr>
            <a:r>
              <a:rPr sz="1700">
                <a:solidFill>
                  <a:srgbClr val="6B6B6B"/>
                </a:solidFill>
              </a:rPr>
              <a:t>  · · CSI 消失點分析</a:t>
            </a:r>
          </a:p>
          <a:p>
            <a:pPr>
              <a:spcBef>
                <a:spcPts val="600"/>
              </a:spcBef>
            </a:pPr>
            <a:r>
              <a:rPr sz="2000">
                <a:solidFill>
                  <a:srgbClr val="1C1C1C"/>
                </a:solidFill>
              </a:rPr>
              <a:t>● 第三段：替代方案（Slides 14–17）</a:t>
            </a:r>
          </a:p>
          <a:p>
            <a:pPr lvl="1">
              <a:spcBef>
                <a:spcPts val="200"/>
              </a:spcBef>
            </a:pPr>
            <a:r>
              <a:rPr sz="1700">
                <a:solidFill>
                  <a:srgbClr val="6B6B6B"/>
                </a:solidFill>
              </a:rPr>
              <a:t>  · · Linux 生態 vs Windows 限制</a:t>
            </a:r>
          </a:p>
          <a:p>
            <a:pPr lvl="1">
              <a:spcBef>
                <a:spcPts val="200"/>
              </a:spcBef>
            </a:pPr>
            <a:r>
              <a:rPr sz="1700">
                <a:solidFill>
                  <a:srgbClr val="6B6B6B"/>
                </a:solidFill>
              </a:rPr>
              <a:t>  · · 硬體選型建議</a:t>
            </a:r>
          </a:p>
          <a:p>
            <a:pPr>
              <a:spcBef>
                <a:spcPts val="600"/>
              </a:spcBef>
            </a:pPr>
            <a:r>
              <a:rPr sz="2000">
                <a:solidFill>
                  <a:srgbClr val="1C1C1C"/>
                </a:solidFill>
              </a:rPr>
              <a:t>● 第四段：結語與建議（Slides 18–20）</a:t>
            </a:r>
          </a:p>
        </p:txBody>
      </p:sp>
      <p:sp>
        <p:nvSpPr>
          <p:cNvPr id="7" name="Rectangle 6"/>
          <p:cNvSpPr/>
          <p:nvPr/>
        </p:nvSpPr>
        <p:spPr>
          <a:xfrm>
            <a:off x="0" y="4686300"/>
            <a:ext cx="9144000" cy="457200"/>
          </a:xfrm>
          <a:prstGeom prst="rect">
            <a:avLst/>
          </a:prstGeom>
          <a:gradFill rotWithShape="1">
            <a:gsLst>
              <a:gs pos="0">
                <a:srgbClr val="2A2A2A"/>
              </a:gs>
              <a:gs pos="100000">
                <a:srgbClr val="343434"/>
              </a:gs>
            </a:gsLst>
            <a:lin scaled="0" ang="0"/>
          </a:gra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863840" y="4722876"/>
            <a:ext cx="91440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300" b="0">
                <a:solidFill>
                  <a:srgbClr val="B0B0B0"/>
                </a:solidFill>
                <a:latin typeface="Calibri"/>
              </a:rPr>
              <a:t>02 / 23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gradFill rotWithShape="1">
            <a:gsLst>
              <a:gs pos="0">
                <a:srgbClr val="222222"/>
              </a:gs>
              <a:gs pos="100000">
                <a:srgbClr val="2E2E2E"/>
              </a:gs>
            </a:gsLst>
            <a:lin scaled="0" ang="5400000"/>
          </a:gra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9144000" cy="109728"/>
          </a:xfrm>
          <a:prstGeom prst="rect">
            <a:avLst/>
          </a:prstGeom>
          <a:solidFill>
            <a:srgbClr val="50505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943600" y="731520"/>
            <a:ext cx="2743200" cy="3200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6000" b="1">
                <a:solidFill>
                  <a:srgbClr val="333333"/>
                </a:solidFill>
                <a:latin typeface="Calibri"/>
              </a:rPr>
              <a:t>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645920"/>
            <a:ext cx="6400800" cy="1188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4400" b="1">
                <a:solidFill>
                  <a:srgbClr val="FFFFFF"/>
                </a:solidFill>
                <a:latin typeface="Calibri"/>
              </a:rPr>
              <a:t>基礎架構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2834640"/>
            <a:ext cx="68580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0">
                <a:solidFill>
                  <a:srgbClr val="505050"/>
                </a:solidFill>
                <a:latin typeface="Calibri"/>
              </a:rPr>
              <a:t>PHY / MAC / CSI / OSI 對應</a:t>
            </a:r>
          </a:p>
        </p:txBody>
      </p:sp>
      <p:cxnSp>
        <p:nvCxnSpPr>
          <p:cNvPr id="7" name="Connector 6"/>
          <p:cNvCxnSpPr/>
          <p:nvPr/>
        </p:nvCxnSpPr>
        <p:spPr>
          <a:xfrm>
            <a:off x="365760" y="3840480"/>
            <a:ext cx="8412480" cy="0"/>
          </a:xfrm>
          <a:prstGeom prst="line">
            <a:avLst/>
          </a:prstGeom>
          <a:ln w="19050">
            <a:solidFill>
              <a:srgbClr val="50505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" name="Rectangle 7"/>
          <p:cNvSpPr/>
          <p:nvPr/>
        </p:nvSpPr>
        <p:spPr>
          <a:xfrm>
            <a:off x="0" y="4686300"/>
            <a:ext cx="9144000" cy="457200"/>
          </a:xfrm>
          <a:prstGeom prst="rect">
            <a:avLst/>
          </a:prstGeom>
          <a:gradFill rotWithShape="1">
            <a:gsLst>
              <a:gs pos="0">
                <a:srgbClr val="2A2A2A"/>
              </a:gs>
              <a:gs pos="100000">
                <a:srgbClr val="343434"/>
              </a:gs>
            </a:gsLst>
            <a:lin scaled="0" ang="0"/>
          </a:gra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274320" y="4722876"/>
            <a:ext cx="457200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B0B0B0"/>
                </a:solidFill>
                <a:latin typeface="Calibri"/>
              </a:rPr>
              <a:t>基礎架構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863840" y="4722876"/>
            <a:ext cx="91440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300" b="0">
                <a:solidFill>
                  <a:srgbClr val="B0B0B0"/>
                </a:solidFill>
                <a:latin typeface="Calibri"/>
              </a:rPr>
              <a:t>03 / 23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822960"/>
          </a:xfrm>
          <a:prstGeom prst="rect">
            <a:avLst/>
          </a:prstGeom>
          <a:gradFill rotWithShape="1">
            <a:gsLst>
              <a:gs pos="0">
                <a:srgbClr val="2A2A2A"/>
              </a:gs>
              <a:gs pos="100000">
                <a:srgbClr val="363636"/>
              </a:gs>
            </a:gsLst>
            <a:lin scaled="0" ang="0"/>
          </a:gra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50292" cy="822960"/>
          </a:xfrm>
          <a:prstGeom prst="rect">
            <a:avLst/>
          </a:prstGeom>
          <a:solidFill>
            <a:srgbClr val="50505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365760" y="109728"/>
            <a:ext cx="704088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>
                <a:solidFill>
                  <a:srgbClr val="FFFFFF"/>
                </a:solidFill>
                <a:latin typeface="Calibri"/>
              </a:rPr>
              <a:t>802.11 RF 信號路徑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498080" y="109728"/>
            <a:ext cx="128016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300" b="0">
                <a:solidFill>
                  <a:srgbClr val="B0B0B0"/>
                </a:solidFill>
                <a:latin typeface="Calibri"/>
              </a:rPr>
              <a:t>Section 1/4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02920" y="2105406"/>
            <a:ext cx="1371600" cy="1005840"/>
          </a:xfrm>
          <a:prstGeom prst="roundRect">
            <a:avLst>
              <a:gd name="adj" fmla="val 20000"/>
            </a:avLst>
          </a:prstGeom>
          <a:solidFill>
            <a:srgbClr val="FFFFFF"/>
          </a:solidFill>
          <a:ln w="19050">
            <a:solidFill>
              <a:srgbClr val="50505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91440"/>
          <a:lstStyle/>
          <a:p>
            <a:pPr algn="ctr"/>
            <a:r>
              <a:rPr sz="1300" b="1">
                <a:solidFill>
                  <a:srgbClr val="1C1C1C"/>
                </a:solidFill>
                <a:latin typeface="Calibri"/>
              </a:rPr>
              <a:t>天線
(Antenna)</a:t>
            </a:r>
          </a:p>
          <a:p>
            <a:pPr algn="ctr"/>
            <a:r>
              <a:rPr sz="1100">
                <a:solidFill>
                  <a:srgbClr val="505050"/>
                </a:solidFill>
                <a:latin typeface="Calibri"/>
              </a:rPr>
              <a:t>接收 RF 信號</a:t>
            </a:r>
          </a:p>
        </p:txBody>
      </p:sp>
      <p:cxnSp>
        <p:nvCxnSpPr>
          <p:cNvPr id="7" name="Connector 6"/>
          <p:cNvCxnSpPr/>
          <p:nvPr/>
        </p:nvCxnSpPr>
        <p:spPr>
          <a:xfrm>
            <a:off x="1874520" y="2608326"/>
            <a:ext cx="320040" cy="0"/>
          </a:xfrm>
          <a:prstGeom prst="line">
            <a:avLst/>
          </a:prstGeom>
          <a:ln w="25400">
            <a:solidFill>
              <a:srgbClr val="505050"/>
            </a:solidFill>
            <a:tailEnd type="arrow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" name="Rounded Rectangle 7"/>
          <p:cNvSpPr/>
          <p:nvPr/>
        </p:nvSpPr>
        <p:spPr>
          <a:xfrm>
            <a:off x="2194560" y="2105406"/>
            <a:ext cx="1371600" cy="1005840"/>
          </a:xfrm>
          <a:prstGeom prst="roundRect">
            <a:avLst>
              <a:gd name="adj" fmla="val 20000"/>
            </a:avLst>
          </a:prstGeom>
          <a:solidFill>
            <a:srgbClr val="FFFFFF"/>
          </a:solidFill>
          <a:ln w="19050">
            <a:solidFill>
              <a:srgbClr val="50505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91440"/>
          <a:lstStyle/>
          <a:p>
            <a:pPr algn="ctr"/>
            <a:r>
              <a:rPr sz="1300" b="1">
                <a:solidFill>
                  <a:srgbClr val="1C1C1C"/>
                </a:solidFill>
                <a:latin typeface="Calibri"/>
              </a:rPr>
              <a:t>ADC
類比→數位</a:t>
            </a:r>
          </a:p>
          <a:p>
            <a:pPr algn="ctr"/>
            <a:r>
              <a:rPr sz="1100">
                <a:solidFill>
                  <a:srgbClr val="505050"/>
                </a:solidFill>
                <a:latin typeface="Calibri"/>
              </a:rPr>
              <a:t>信號數位化</a:t>
            </a:r>
          </a:p>
        </p:txBody>
      </p:sp>
      <p:cxnSp>
        <p:nvCxnSpPr>
          <p:cNvPr id="9" name="Connector 8"/>
          <p:cNvCxnSpPr/>
          <p:nvPr/>
        </p:nvCxnSpPr>
        <p:spPr>
          <a:xfrm>
            <a:off x="3566160" y="2608326"/>
            <a:ext cx="320040" cy="0"/>
          </a:xfrm>
          <a:prstGeom prst="line">
            <a:avLst/>
          </a:prstGeom>
          <a:ln w="25400">
            <a:solidFill>
              <a:srgbClr val="505050"/>
            </a:solidFill>
            <a:tailEnd type="arrow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" name="Rounded Rectangle 9"/>
          <p:cNvSpPr/>
          <p:nvPr/>
        </p:nvSpPr>
        <p:spPr>
          <a:xfrm>
            <a:off x="3886200" y="2105406"/>
            <a:ext cx="1371600" cy="1005840"/>
          </a:xfrm>
          <a:prstGeom prst="roundRect">
            <a:avLst>
              <a:gd name="adj" fmla="val 20000"/>
            </a:avLst>
          </a:prstGeom>
          <a:solidFill>
            <a:srgbClr val="FFFFFF"/>
          </a:solidFill>
          <a:ln w="19050">
            <a:solidFill>
              <a:srgbClr val="50505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91440"/>
          <a:lstStyle/>
          <a:p>
            <a:pPr algn="ctr"/>
            <a:r>
              <a:rPr sz="1300" b="1">
                <a:solidFill>
                  <a:srgbClr val="1C1C1C"/>
                </a:solidFill>
                <a:latin typeface="Calibri"/>
              </a:rPr>
              <a:t>OFDM 解調
(Demodulation)</a:t>
            </a:r>
          </a:p>
          <a:p>
            <a:pPr algn="ctr"/>
            <a:r>
              <a:rPr sz="1100">
                <a:solidFill>
                  <a:srgbClr val="505050"/>
                </a:solidFill>
                <a:latin typeface="Calibri"/>
              </a:rPr>
              <a:t>子載波分離</a:t>
            </a:r>
          </a:p>
        </p:txBody>
      </p:sp>
      <p:cxnSp>
        <p:nvCxnSpPr>
          <p:cNvPr id="11" name="Connector 10"/>
          <p:cNvCxnSpPr/>
          <p:nvPr/>
        </p:nvCxnSpPr>
        <p:spPr>
          <a:xfrm>
            <a:off x="5257800" y="2608326"/>
            <a:ext cx="320040" cy="0"/>
          </a:xfrm>
          <a:prstGeom prst="line">
            <a:avLst/>
          </a:prstGeom>
          <a:ln w="25400">
            <a:solidFill>
              <a:srgbClr val="505050"/>
            </a:solidFill>
            <a:tailEnd type="arrow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" name="Rounded Rectangle 11"/>
          <p:cNvSpPr/>
          <p:nvPr/>
        </p:nvSpPr>
        <p:spPr>
          <a:xfrm>
            <a:off x="5577840" y="2105406"/>
            <a:ext cx="1371600" cy="1005840"/>
          </a:xfrm>
          <a:prstGeom prst="roundRect">
            <a:avLst>
              <a:gd name="adj" fmla="val 20000"/>
            </a:avLst>
          </a:prstGeom>
          <a:solidFill>
            <a:srgbClr val="FFFFFF"/>
          </a:solidFill>
          <a:ln w="19050">
            <a:solidFill>
              <a:srgbClr val="50505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91440"/>
          <a:lstStyle/>
          <a:p>
            <a:pPr algn="ctr"/>
            <a:r>
              <a:rPr sz="1300" b="1">
                <a:solidFill>
                  <a:srgbClr val="1C1C1C"/>
                </a:solidFill>
                <a:latin typeface="Calibri"/>
              </a:rPr>
              <a:t>802.11 Frame
解碼</a:t>
            </a:r>
          </a:p>
          <a:p>
            <a:pPr algn="ctr"/>
            <a:r>
              <a:rPr sz="1100">
                <a:solidFill>
                  <a:srgbClr val="505050"/>
                </a:solidFill>
                <a:latin typeface="Calibri"/>
              </a:rPr>
              <a:t>封包還原</a:t>
            </a:r>
          </a:p>
        </p:txBody>
      </p:sp>
      <p:cxnSp>
        <p:nvCxnSpPr>
          <p:cNvPr id="13" name="Connector 12"/>
          <p:cNvCxnSpPr/>
          <p:nvPr/>
        </p:nvCxnSpPr>
        <p:spPr>
          <a:xfrm>
            <a:off x="6949440" y="2608326"/>
            <a:ext cx="320040" cy="0"/>
          </a:xfrm>
          <a:prstGeom prst="line">
            <a:avLst/>
          </a:prstGeom>
          <a:ln w="25400">
            <a:solidFill>
              <a:srgbClr val="505050"/>
            </a:solidFill>
            <a:tailEnd type="arrow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4" name="Rounded Rectangle 13"/>
          <p:cNvSpPr/>
          <p:nvPr/>
        </p:nvSpPr>
        <p:spPr>
          <a:xfrm>
            <a:off x="7269480" y="2105406"/>
            <a:ext cx="1371600" cy="1005840"/>
          </a:xfrm>
          <a:prstGeom prst="roundRect">
            <a:avLst>
              <a:gd name="adj" fmla="val 20000"/>
            </a:avLst>
          </a:prstGeom>
          <a:solidFill>
            <a:srgbClr val="FFFFFF"/>
          </a:solidFill>
          <a:ln w="19050">
            <a:solidFill>
              <a:srgbClr val="50505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91440"/>
          <a:lstStyle/>
          <a:p>
            <a:pPr algn="ctr"/>
            <a:r>
              <a:rPr sz="1300" b="1">
                <a:solidFill>
                  <a:srgbClr val="1C1C1C"/>
                </a:solidFill>
                <a:latin typeface="Calibri"/>
              </a:rPr>
              <a:t>MAC 層
處理</a:t>
            </a:r>
          </a:p>
          <a:p>
            <a:pPr algn="ctr"/>
            <a:r>
              <a:rPr sz="1100">
                <a:solidFill>
                  <a:srgbClr val="505050"/>
                </a:solidFill>
                <a:latin typeface="Calibri"/>
              </a:rPr>
              <a:t>上送至驅動</a:t>
            </a:r>
          </a:p>
        </p:txBody>
      </p:sp>
      <p:cxnSp>
        <p:nvCxnSpPr>
          <p:cNvPr id="15" name="Connector 14"/>
          <p:cNvCxnSpPr/>
          <p:nvPr/>
        </p:nvCxnSpPr>
        <p:spPr>
          <a:xfrm>
            <a:off x="365760" y="4393688"/>
            <a:ext cx="8412480" cy="0"/>
          </a:xfrm>
          <a:prstGeom prst="line">
            <a:avLst/>
          </a:prstGeom>
          <a:ln w="6350">
            <a:solidFill>
              <a:srgbClr val="DCDCD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6" name="TextBox 15"/>
          <p:cNvSpPr txBox="1"/>
          <p:nvPr/>
        </p:nvSpPr>
        <p:spPr>
          <a:xfrm>
            <a:off x="457200" y="4393692"/>
            <a:ext cx="82296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6B6B6B"/>
                </a:solidFill>
                <a:latin typeface="Calibri"/>
              </a:rPr>
              <a:t>CSI 在 OFDM 解調後即可計算：每個子載波的複數增益（振幅 + 相位）</a:t>
            </a:r>
          </a:p>
        </p:txBody>
      </p:sp>
      <p:sp>
        <p:nvSpPr>
          <p:cNvPr id="17" name="Rectangle 16"/>
          <p:cNvSpPr/>
          <p:nvPr/>
        </p:nvSpPr>
        <p:spPr>
          <a:xfrm>
            <a:off x="0" y="4686300"/>
            <a:ext cx="9144000" cy="457200"/>
          </a:xfrm>
          <a:prstGeom prst="rect">
            <a:avLst/>
          </a:prstGeom>
          <a:gradFill rotWithShape="1">
            <a:gsLst>
              <a:gs pos="0">
                <a:srgbClr val="2A2A2A"/>
              </a:gs>
              <a:gs pos="100000">
                <a:srgbClr val="343434"/>
              </a:gs>
            </a:gsLst>
            <a:lin scaled="0" ang="0"/>
          </a:gra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274320" y="4722876"/>
            <a:ext cx="457200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B0B0B0"/>
                </a:solidFill>
                <a:latin typeface="Calibri"/>
              </a:rPr>
              <a:t>基礎架構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863840" y="4722876"/>
            <a:ext cx="91440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300" b="0">
                <a:solidFill>
                  <a:srgbClr val="B0B0B0"/>
                </a:solidFill>
                <a:latin typeface="Calibri"/>
              </a:rPr>
              <a:t>04 / 23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822960"/>
          </a:xfrm>
          <a:prstGeom prst="rect">
            <a:avLst/>
          </a:prstGeom>
          <a:gradFill rotWithShape="1">
            <a:gsLst>
              <a:gs pos="0">
                <a:srgbClr val="2A2A2A"/>
              </a:gs>
              <a:gs pos="100000">
                <a:srgbClr val="363636"/>
              </a:gs>
            </a:gsLst>
            <a:lin scaled="0" ang="0"/>
          </a:gra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50292" cy="822960"/>
          </a:xfrm>
          <a:prstGeom prst="rect">
            <a:avLst/>
          </a:prstGeom>
          <a:solidFill>
            <a:srgbClr val="50505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365760" y="109728"/>
            <a:ext cx="704088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>
                <a:solidFill>
                  <a:srgbClr val="FFFFFF"/>
                </a:solidFill>
                <a:latin typeface="Calibri"/>
              </a:rPr>
              <a:t>PHY / MAC 與 CSI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498080" y="109728"/>
            <a:ext cx="128016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300" b="0">
                <a:solidFill>
                  <a:srgbClr val="B0B0B0"/>
                </a:solidFill>
                <a:latin typeface="Calibri"/>
              </a:rPr>
              <a:t>Section 1/4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4572000" y="960120"/>
            <a:ext cx="0" cy="3433572"/>
          </a:xfrm>
          <a:prstGeom prst="line">
            <a:avLst/>
          </a:prstGeom>
          <a:ln w="6350">
            <a:solidFill>
              <a:srgbClr val="DCDCD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TextBox 6"/>
          <p:cNvSpPr txBox="1"/>
          <p:nvPr/>
        </p:nvSpPr>
        <p:spPr>
          <a:xfrm>
            <a:off x="457200" y="1033272"/>
            <a:ext cx="386334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1">
                <a:solidFill>
                  <a:srgbClr val="505050"/>
                </a:solidFill>
                <a:latin typeface="Calibri"/>
              </a:rPr>
              <a:t>RSSI（傳統方式）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1463040"/>
            <a:ext cx="3863340" cy="28392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500"/>
              </a:spcBef>
            </a:pPr>
            <a:r>
              <a:rPr sz="1700">
                <a:solidFill>
                  <a:srgbClr val="1C1C1C"/>
                </a:solidFill>
              </a:rPr>
              <a:t>整體接收功率（單一數值）</a:t>
            </a:r>
          </a:p>
          <a:p>
            <a:pPr>
              <a:spcBef>
                <a:spcPts val="500"/>
              </a:spcBef>
            </a:pPr>
            <a:r>
              <a:rPr sz="1700">
                <a:solidFill>
                  <a:srgbClr val="1C1C1C"/>
                </a:solidFill>
              </a:rPr>
              <a:t>單位：dBm</a:t>
            </a:r>
          </a:p>
          <a:p>
            <a:pPr>
              <a:spcBef>
                <a:spcPts val="500"/>
              </a:spcBef>
            </a:pPr>
            <a:r>
              <a:rPr sz="1700">
                <a:solidFill>
                  <a:srgbClr val="1C1C1C"/>
                </a:solidFill>
              </a:rPr>
              <a:t>無法區分多路徑效應</a:t>
            </a:r>
          </a:p>
          <a:p>
            <a:pPr>
              <a:spcBef>
                <a:spcPts val="500"/>
              </a:spcBef>
            </a:pPr>
            <a:r>
              <a:rPr sz="1700">
                <a:solidFill>
                  <a:srgbClr val="1C1C1C"/>
                </a:solidFill>
              </a:rPr>
              <a:t>精度低，只反映總體信號強度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823460" y="1033272"/>
            <a:ext cx="386334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1">
                <a:solidFill>
                  <a:srgbClr val="505050"/>
                </a:solidFill>
                <a:latin typeface="Calibri"/>
              </a:rPr>
              <a:t>MAC 層對 CSI 的態度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823460" y="1463040"/>
            <a:ext cx="3863340" cy="28392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500"/>
              </a:spcBef>
            </a:pPr>
            <a:r>
              <a:rPr sz="1700">
                <a:solidFill>
                  <a:srgbClr val="1C1C1C"/>
                </a:solidFill>
              </a:rPr>
              <a:t>MAC 職責：CSMA/CA、ACK、Frame 組裝</a:t>
            </a:r>
          </a:p>
          <a:p>
            <a:r>
              <a:rPr sz="600"/>
              <a:t/>
            </a:r>
          </a:p>
          <a:p>
            <a:pPr>
              <a:spcBef>
                <a:spcPts val="500"/>
              </a:spcBef>
            </a:pPr>
            <a:r>
              <a:rPr sz="1700" b="1">
                <a:solidFill>
                  <a:srgbClr val="1C1C1C"/>
                </a:solidFill>
              </a:rPr>
              <a:t>⚠ CSI 不在 MAC 協定範圍</a:t>
            </a:r>
          </a:p>
          <a:p>
            <a:pPr>
              <a:spcBef>
                <a:spcPts val="200"/>
              </a:spcBef>
            </a:pPr>
            <a:r>
              <a:rPr sz="1500">
                <a:solidFill>
                  <a:srgbClr val="6B6B6B"/>
                </a:solidFill>
              </a:rPr>
              <a:t>  · PHY 解調後存於 NIC 韌體暫存器</a:t>
            </a:r>
          </a:p>
          <a:p>
            <a:pPr>
              <a:spcBef>
                <a:spcPts val="200"/>
              </a:spcBef>
            </a:pPr>
            <a:r>
              <a:rPr sz="1500">
                <a:solidFill>
                  <a:srgbClr val="6B6B6B"/>
                </a:solidFill>
              </a:rPr>
              <a:t>  · MAC 只收到已解調的 802.11 frame</a:t>
            </a:r>
          </a:p>
          <a:p>
            <a:pPr>
              <a:spcBef>
                <a:spcPts val="200"/>
              </a:spcBef>
            </a:pPr>
            <a:r>
              <a:rPr sz="1500">
                <a:solidFill>
                  <a:srgbClr val="6B6B6B"/>
                </a:solidFill>
              </a:rPr>
              <a:t>  · CSI 從未進入 NDIS 封包結構</a:t>
            </a:r>
          </a:p>
          <a:p>
            <a:r>
              <a:rPr sz="600"/>
              <a:t/>
            </a:r>
          </a:p>
          <a:p>
            <a:pPr>
              <a:spcBef>
                <a:spcPts val="500"/>
              </a:spcBef>
            </a:pPr>
            <a:r>
              <a:rPr sz="1700">
                <a:solidFill>
                  <a:srgbClr val="1C1C1C"/>
                </a:solidFill>
              </a:rPr>
              <a:t>結論：CSI 旅程的第一個截斷點</a:t>
            </a:r>
          </a:p>
        </p:txBody>
      </p:sp>
      <p:cxnSp>
        <p:nvCxnSpPr>
          <p:cNvPr id="11" name="Connector 10"/>
          <p:cNvCxnSpPr/>
          <p:nvPr/>
        </p:nvCxnSpPr>
        <p:spPr>
          <a:xfrm>
            <a:off x="365760" y="4393688"/>
            <a:ext cx="8412480" cy="0"/>
          </a:xfrm>
          <a:prstGeom prst="line">
            <a:avLst/>
          </a:prstGeom>
          <a:ln w="6350">
            <a:solidFill>
              <a:srgbClr val="DCDCD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" name="TextBox 11"/>
          <p:cNvSpPr txBox="1"/>
          <p:nvPr/>
        </p:nvSpPr>
        <p:spPr>
          <a:xfrm>
            <a:off x="457200" y="4393692"/>
            <a:ext cx="82296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6B6B6B"/>
                </a:solidFill>
                <a:latin typeface="Calibri"/>
              </a:rPr>
              <a:t>CSI = H(f)：頻域通道矩陣。從 PHY 到 MAC 已無標準傳遞路徑</a:t>
            </a:r>
          </a:p>
        </p:txBody>
      </p:sp>
      <p:sp>
        <p:nvSpPr>
          <p:cNvPr id="13" name="Rectangle 12"/>
          <p:cNvSpPr/>
          <p:nvPr/>
        </p:nvSpPr>
        <p:spPr>
          <a:xfrm>
            <a:off x="0" y="4686300"/>
            <a:ext cx="9144000" cy="457200"/>
          </a:xfrm>
          <a:prstGeom prst="rect">
            <a:avLst/>
          </a:prstGeom>
          <a:gradFill rotWithShape="1">
            <a:gsLst>
              <a:gs pos="0">
                <a:srgbClr val="2A2A2A"/>
              </a:gs>
              <a:gs pos="100000">
                <a:srgbClr val="343434"/>
              </a:gs>
            </a:gsLst>
            <a:lin scaled="0" ang="0"/>
          </a:gra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274320" y="4722876"/>
            <a:ext cx="457200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B0B0B0"/>
                </a:solidFill>
                <a:latin typeface="Calibri"/>
              </a:rPr>
              <a:t>基礎架構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863840" y="4722876"/>
            <a:ext cx="91440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300" b="0">
                <a:solidFill>
                  <a:srgbClr val="B0B0B0"/>
                </a:solidFill>
                <a:latin typeface="Calibri"/>
              </a:rPr>
              <a:t>05 / 23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822960"/>
          </a:xfrm>
          <a:prstGeom prst="rect">
            <a:avLst/>
          </a:prstGeom>
          <a:gradFill rotWithShape="1">
            <a:gsLst>
              <a:gs pos="0">
                <a:srgbClr val="2A2A2A"/>
              </a:gs>
              <a:gs pos="100000">
                <a:srgbClr val="363636"/>
              </a:gs>
            </a:gsLst>
            <a:lin scaled="0" ang="0"/>
          </a:gra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50292" cy="822960"/>
          </a:xfrm>
          <a:prstGeom prst="rect">
            <a:avLst/>
          </a:prstGeom>
          <a:solidFill>
            <a:srgbClr val="50505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365760" y="109728"/>
            <a:ext cx="704088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>
                <a:solidFill>
                  <a:srgbClr val="FFFFFF"/>
                </a:solidFill>
                <a:latin typeface="Calibri"/>
              </a:rPr>
              <a:t>OSI 7 層 vs Windows 實際元件對應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498080" y="109728"/>
            <a:ext cx="128016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300" b="0">
                <a:solidFill>
                  <a:srgbClr val="B0B0B0"/>
                </a:solidFill>
                <a:latin typeface="Calibri"/>
              </a:rPr>
              <a:t>Section 1/4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411480" y="1033272"/>
          <a:ext cx="8321040" cy="3163824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080260"/>
                <a:gridCol w="2080260"/>
                <a:gridCol w="2080260"/>
                <a:gridCol w="2080260"/>
              </a:tblGrid>
              <a:tr h="451974">
                <a:tc>
                  <a:txBody>
                    <a:bodyPr/>
                    <a:lstStyle/>
                    <a:p>
                      <a:pPr algn="ctr"/>
                      <a:r>
                        <a:rPr b="1" sz="1500">
                          <a:solidFill>
                            <a:srgbClr val="FFFFFF"/>
                          </a:solidFill>
                          <a:latin typeface="Calibri"/>
                        </a:rPr>
                        <a:t>OSI 層</a:t>
                      </a:r>
                    </a:p>
                  </a:txBody>
                  <a:tcPr marL="73152" marR="73152" marT="45720" marB="45720">
                    <a:solidFill>
                      <a:srgbClr val="2A2A2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b="1" sz="1500">
                          <a:solidFill>
                            <a:srgbClr val="FFFFFF"/>
                          </a:solidFill>
                          <a:latin typeface="Calibri"/>
                        </a:rPr>
                        <a:t>標準名稱</a:t>
                      </a:r>
                    </a:p>
                  </a:txBody>
                  <a:tcPr marL="73152" marR="73152" marT="45720" marB="45720">
                    <a:solidFill>
                      <a:srgbClr val="2A2A2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b="1" sz="1500">
                          <a:solidFill>
                            <a:srgbClr val="FFFFFF"/>
                          </a:solidFill>
                          <a:latin typeface="Calibri"/>
                        </a:rPr>
                        <a:t>Windows 元件</a:t>
                      </a:r>
                    </a:p>
                  </a:txBody>
                  <a:tcPr marL="73152" marR="73152" marT="45720" marB="45720">
                    <a:solidFill>
                      <a:srgbClr val="2A2A2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b="1" sz="1500">
                          <a:solidFill>
                            <a:srgbClr val="FFFFFF"/>
                          </a:solidFill>
                          <a:latin typeface="Calibri"/>
                        </a:rPr>
                        <a:t>備註</a:t>
                      </a:r>
                    </a:p>
                  </a:txBody>
                  <a:tcPr marL="73152" marR="73152" marT="45720" marB="45720">
                    <a:solidFill>
                      <a:srgbClr val="2A2A2A"/>
                    </a:solidFill>
                  </a:tcPr>
                </a:tc>
              </a:tr>
              <a:tr h="451974">
                <a:tc>
                  <a:txBody>
                    <a:bodyPr/>
                    <a:lstStyle/>
                    <a:p>
                      <a:r>
                        <a:rPr sz="1400" b="1">
                          <a:solidFill>
                            <a:srgbClr val="505050"/>
                          </a:solidFill>
                          <a:latin typeface="Calibri"/>
                        </a:rPr>
                        <a:t>L7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1C1C1C"/>
                          </a:solidFill>
                          <a:latin typeface="Calibri"/>
                        </a:rPr>
                        <a:t>Application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1C1C1C"/>
                          </a:solidFill>
                          <a:latin typeface="Calibri"/>
                        </a:rPr>
                        <a:t>應用程式 / WinSock API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1C1C1C"/>
                          </a:solidFill>
                          <a:latin typeface="Calibri"/>
                        </a:rPr>
                        <a:t>send() / recv()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</a:tr>
              <a:tr h="451974">
                <a:tc>
                  <a:txBody>
                    <a:bodyPr/>
                    <a:lstStyle/>
                    <a:p>
                      <a:r>
                        <a:rPr sz="1400" b="1">
                          <a:solidFill>
                            <a:srgbClr val="505050"/>
                          </a:solidFill>
                          <a:latin typeface="Calibri"/>
                        </a:rPr>
                        <a:t>L4</a:t>
                      </a:r>
                    </a:p>
                  </a:txBody>
                  <a:tcPr marL="73152" marR="73152" marT="36576" marB="36576">
                    <a:solidFill>
                      <a:srgbClr val="F0F0F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1C1C1C"/>
                          </a:solidFill>
                          <a:latin typeface="Calibri"/>
                        </a:rPr>
                        <a:t>Transport</a:t>
                      </a:r>
                    </a:p>
                  </a:txBody>
                  <a:tcPr marL="73152" marR="73152" marT="36576" marB="36576">
                    <a:solidFill>
                      <a:srgbClr val="F0F0F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1C1C1C"/>
                          </a:solidFill>
                          <a:latin typeface="Calibri"/>
                        </a:rPr>
                        <a:t>tcpip.sys (TCP/UDP)</a:t>
                      </a:r>
                    </a:p>
                  </a:txBody>
                  <a:tcPr marL="73152" marR="73152" marT="36576" marB="36576">
                    <a:solidFill>
                      <a:srgbClr val="F0F0F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1C1C1C"/>
                          </a:solidFill>
                          <a:latin typeface="Calibri"/>
                        </a:rPr>
                        <a:t>連接埠管理</a:t>
                      </a:r>
                    </a:p>
                  </a:txBody>
                  <a:tcPr marL="73152" marR="73152" marT="36576" marB="36576">
                    <a:solidFill>
                      <a:srgbClr val="F0F0F0"/>
                    </a:solidFill>
                  </a:tcPr>
                </a:tc>
              </a:tr>
              <a:tr h="451974">
                <a:tc>
                  <a:txBody>
                    <a:bodyPr/>
                    <a:lstStyle/>
                    <a:p>
                      <a:r>
                        <a:rPr sz="1400" b="1">
                          <a:solidFill>
                            <a:srgbClr val="505050"/>
                          </a:solidFill>
                          <a:latin typeface="Calibri"/>
                        </a:rPr>
                        <a:t>L3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1C1C1C"/>
                          </a:solidFill>
                          <a:latin typeface="Calibri"/>
                        </a:rPr>
                        <a:t>Network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1C1C1C"/>
                          </a:solidFill>
                          <a:latin typeface="Calibri"/>
                        </a:rPr>
                        <a:t>tcpip.sys (IP)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1C1C1C"/>
                          </a:solidFill>
                          <a:latin typeface="Calibri"/>
                        </a:rPr>
                        <a:t>路由、IP 封包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</a:tr>
              <a:tr h="451974">
                <a:tc>
                  <a:txBody>
                    <a:bodyPr/>
                    <a:lstStyle/>
                    <a:p>
                      <a:r>
                        <a:rPr sz="1400" b="1">
                          <a:solidFill>
                            <a:srgbClr val="505050"/>
                          </a:solidFill>
                          <a:latin typeface="Calibri"/>
                        </a:rPr>
                        <a:t>L2b</a:t>
                      </a:r>
                    </a:p>
                  </a:txBody>
                  <a:tcPr marL="73152" marR="73152" marT="36576" marB="36576">
                    <a:solidFill>
                      <a:srgbClr val="F0F0F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1C1C1C"/>
                          </a:solidFill>
                          <a:latin typeface="Calibri"/>
                        </a:rPr>
                        <a:t>LLC</a:t>
                      </a:r>
                    </a:p>
                  </a:txBody>
                  <a:tcPr marL="73152" marR="73152" marT="36576" marB="36576">
                    <a:solidFill>
                      <a:srgbClr val="F0F0F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1C1C1C"/>
                          </a:solidFill>
                          <a:latin typeface="Calibri"/>
                        </a:rPr>
                        <a:t>ndis.sys (NDIS)</a:t>
                      </a:r>
                    </a:p>
                  </a:txBody>
                  <a:tcPr marL="73152" marR="73152" marT="36576" marB="36576">
                    <a:solidFill>
                      <a:srgbClr val="F0F0F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1C1C1C"/>
                          </a:solidFill>
                          <a:latin typeface="Calibri"/>
                        </a:rPr>
                        <a:t>協定多工/解多工</a:t>
                      </a:r>
                    </a:p>
                  </a:txBody>
                  <a:tcPr marL="73152" marR="73152" marT="36576" marB="36576">
                    <a:solidFill>
                      <a:srgbClr val="F0F0F0"/>
                    </a:solidFill>
                  </a:tcPr>
                </a:tc>
              </a:tr>
              <a:tr h="451974">
                <a:tc>
                  <a:txBody>
                    <a:bodyPr/>
                    <a:lstStyle/>
                    <a:p>
                      <a:r>
                        <a:rPr sz="1400" b="1">
                          <a:solidFill>
                            <a:srgbClr val="505050"/>
                          </a:solidFill>
                          <a:latin typeface="Calibri"/>
                        </a:rPr>
                        <a:t>L2a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1C1C1C"/>
                          </a:solidFill>
                          <a:latin typeface="Calibri"/>
                        </a:rPr>
                        <a:t>MAC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1C1C1C"/>
                          </a:solidFill>
                          <a:latin typeface="Calibri"/>
                        </a:rPr>
                        <a:t>nwifi.sys + OEM.sys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1C1C1C"/>
                          </a:solidFill>
                          <a:latin typeface="Calibri"/>
                        </a:rPr>
                        <a:t>802.11 管理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</a:tr>
              <a:tr h="451980">
                <a:tc>
                  <a:txBody>
                    <a:bodyPr/>
                    <a:lstStyle/>
                    <a:p>
                      <a:r>
                        <a:rPr sz="1400" b="1">
                          <a:solidFill>
                            <a:srgbClr val="505050"/>
                          </a:solidFill>
                          <a:latin typeface="Calibri"/>
                        </a:rPr>
                        <a:t>L1</a:t>
                      </a:r>
                    </a:p>
                  </a:txBody>
                  <a:tcPr marL="73152" marR="73152" marT="36576" marB="36576">
                    <a:solidFill>
                      <a:srgbClr val="F0F0F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1C1C1C"/>
                          </a:solidFill>
                          <a:latin typeface="Calibri"/>
                        </a:rPr>
                        <a:t>PHY</a:t>
                      </a:r>
                    </a:p>
                  </a:txBody>
                  <a:tcPr marL="73152" marR="73152" marT="36576" marB="36576">
                    <a:solidFill>
                      <a:srgbClr val="F0F0F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1C1C1C"/>
                          </a:solidFill>
                          <a:latin typeface="Calibri"/>
                        </a:rPr>
                        <a:t>NIC 韌體 + 硬體</a:t>
                      </a:r>
                    </a:p>
                  </a:txBody>
                  <a:tcPr marL="73152" marR="73152" marT="36576" marB="36576">
                    <a:solidFill>
                      <a:srgbClr val="F0F0F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1C1C1C"/>
                          </a:solidFill>
                          <a:latin typeface="Calibri"/>
                        </a:rPr>
                        <a:t>RF 信號處理，CSI 在此層</a:t>
                      </a:r>
                    </a:p>
                  </a:txBody>
                  <a:tcPr marL="73152" marR="73152" marT="36576" marB="36576">
                    <a:solidFill>
                      <a:srgbClr val="F0F0F0"/>
                    </a:solidFill>
                  </a:tcPr>
                </a:tc>
              </a:tr>
            </a:tbl>
          </a:graphicData>
        </a:graphic>
      </p:graphicFrame>
      <p:cxnSp>
        <p:nvCxnSpPr>
          <p:cNvPr id="7" name="Connector 6"/>
          <p:cNvCxnSpPr/>
          <p:nvPr/>
        </p:nvCxnSpPr>
        <p:spPr>
          <a:xfrm>
            <a:off x="365760" y="4393688"/>
            <a:ext cx="8412480" cy="0"/>
          </a:xfrm>
          <a:prstGeom prst="line">
            <a:avLst/>
          </a:prstGeom>
          <a:ln w="6350">
            <a:solidFill>
              <a:srgbClr val="DCDCD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" name="TextBox 7"/>
          <p:cNvSpPr txBox="1"/>
          <p:nvPr/>
        </p:nvSpPr>
        <p:spPr>
          <a:xfrm>
            <a:off x="457200" y="4393692"/>
            <a:ext cx="82296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6B6B6B"/>
                </a:solidFill>
                <a:latin typeface="Calibri"/>
              </a:rPr>
              <a:t>CSI 存在於 L1，NDIS 介面從 L2a 開始，兩者之間沒有標準橋接</a:t>
            </a:r>
          </a:p>
        </p:txBody>
      </p:sp>
      <p:sp>
        <p:nvSpPr>
          <p:cNvPr id="9" name="Rectangle 8"/>
          <p:cNvSpPr/>
          <p:nvPr/>
        </p:nvSpPr>
        <p:spPr>
          <a:xfrm>
            <a:off x="0" y="4686300"/>
            <a:ext cx="9144000" cy="457200"/>
          </a:xfrm>
          <a:prstGeom prst="rect">
            <a:avLst/>
          </a:prstGeom>
          <a:gradFill rotWithShape="1">
            <a:gsLst>
              <a:gs pos="0">
                <a:srgbClr val="2A2A2A"/>
              </a:gs>
              <a:gs pos="100000">
                <a:srgbClr val="343434"/>
              </a:gs>
            </a:gsLst>
            <a:lin scaled="0" ang="0"/>
          </a:gra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274320" y="4722876"/>
            <a:ext cx="457200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B0B0B0"/>
                </a:solidFill>
                <a:latin typeface="Calibri"/>
              </a:rPr>
              <a:t>基礎架構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863840" y="4722876"/>
            <a:ext cx="91440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300" b="0">
                <a:solidFill>
                  <a:srgbClr val="B0B0B0"/>
                </a:solidFill>
                <a:latin typeface="Calibri"/>
              </a:rPr>
              <a:t>06 / 23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gradFill rotWithShape="1">
            <a:gsLst>
              <a:gs pos="0">
                <a:srgbClr val="222222"/>
              </a:gs>
              <a:gs pos="100000">
                <a:srgbClr val="2E2E2E"/>
              </a:gs>
            </a:gsLst>
            <a:lin scaled="0" ang="5400000"/>
          </a:gra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9144000" cy="109728"/>
          </a:xfrm>
          <a:prstGeom prst="rect">
            <a:avLst/>
          </a:prstGeom>
          <a:solidFill>
            <a:srgbClr val="50505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943600" y="731520"/>
            <a:ext cx="2743200" cy="3200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6000" b="1">
                <a:solidFill>
                  <a:srgbClr val="333333"/>
                </a:solidFill>
                <a:latin typeface="Calibri"/>
              </a:rPr>
              <a:t>2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645920"/>
            <a:ext cx="6400800" cy="1188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4400" b="1">
                <a:solidFill>
                  <a:srgbClr val="FFFFFF"/>
                </a:solidFill>
                <a:latin typeface="Calibri"/>
              </a:rPr>
              <a:t>Windows 驅動堆疊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2834640"/>
            <a:ext cx="68580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0">
                <a:solidFill>
                  <a:srgbClr val="505050"/>
                </a:solidFill>
                <a:latin typeface="Calibri"/>
              </a:rPr>
              <a:t>OEM.sys → nwifi.sys → NDIS → WinSock</a:t>
            </a:r>
          </a:p>
        </p:txBody>
      </p:sp>
      <p:cxnSp>
        <p:nvCxnSpPr>
          <p:cNvPr id="7" name="Connector 6"/>
          <p:cNvCxnSpPr/>
          <p:nvPr/>
        </p:nvCxnSpPr>
        <p:spPr>
          <a:xfrm>
            <a:off x="365760" y="3840480"/>
            <a:ext cx="8412480" cy="0"/>
          </a:xfrm>
          <a:prstGeom prst="line">
            <a:avLst/>
          </a:prstGeom>
          <a:ln w="19050">
            <a:solidFill>
              <a:srgbClr val="50505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" name="Rectangle 7"/>
          <p:cNvSpPr/>
          <p:nvPr/>
        </p:nvSpPr>
        <p:spPr>
          <a:xfrm>
            <a:off x="0" y="4686300"/>
            <a:ext cx="9144000" cy="457200"/>
          </a:xfrm>
          <a:prstGeom prst="rect">
            <a:avLst/>
          </a:prstGeom>
          <a:gradFill rotWithShape="1">
            <a:gsLst>
              <a:gs pos="0">
                <a:srgbClr val="2A2A2A"/>
              </a:gs>
              <a:gs pos="100000">
                <a:srgbClr val="343434"/>
              </a:gs>
            </a:gsLst>
            <a:lin scaled="0" ang="0"/>
          </a:gra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274320" y="4722876"/>
            <a:ext cx="457200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B0B0B0"/>
                </a:solidFill>
                <a:latin typeface="Calibri"/>
              </a:rPr>
              <a:t>Windows 驅動堆疊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863840" y="4722876"/>
            <a:ext cx="91440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300" b="0">
                <a:solidFill>
                  <a:srgbClr val="B0B0B0"/>
                </a:solidFill>
                <a:latin typeface="Calibri"/>
              </a:rPr>
              <a:t>07 / 23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822960"/>
          </a:xfrm>
          <a:prstGeom prst="rect">
            <a:avLst/>
          </a:prstGeom>
          <a:gradFill rotWithShape="1">
            <a:gsLst>
              <a:gs pos="0">
                <a:srgbClr val="2A2A2A"/>
              </a:gs>
              <a:gs pos="100000">
                <a:srgbClr val="363636"/>
              </a:gs>
            </a:gsLst>
            <a:lin scaled="0" ang="0"/>
          </a:gra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50292" cy="822960"/>
          </a:xfrm>
          <a:prstGeom prst="rect">
            <a:avLst/>
          </a:prstGeom>
          <a:solidFill>
            <a:srgbClr val="50505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365760" y="109728"/>
            <a:ext cx="704088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>
                <a:solidFill>
                  <a:srgbClr val="FFFFFF"/>
                </a:solidFill>
                <a:latin typeface="Calibri"/>
              </a:rPr>
              <a:t>Windows 網路驅動架構總覽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498080" y="109728"/>
            <a:ext cx="128016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300" b="0">
                <a:solidFill>
                  <a:srgbClr val="B0B0B0"/>
                </a:solidFill>
                <a:latin typeface="Calibri"/>
              </a:rPr>
              <a:t>Section 2/4</a:t>
            </a:r>
          </a:p>
        </p:txBody>
      </p:sp>
      <p:sp>
        <p:nvSpPr>
          <p:cNvPr id="6" name="Rectangle 5"/>
          <p:cNvSpPr/>
          <p:nvPr/>
        </p:nvSpPr>
        <p:spPr>
          <a:xfrm>
            <a:off x="640080" y="966978"/>
            <a:ext cx="6583680" cy="384048"/>
          </a:xfrm>
          <a:prstGeom prst="rect">
            <a:avLst/>
          </a:prstGeom>
          <a:gradFill rotWithShape="1">
            <a:gsLst>
              <a:gs pos="0">
                <a:srgbClr val="1C1C1C"/>
              </a:gs>
              <a:gs pos="100000">
                <a:srgbClr val="202020"/>
              </a:gs>
            </a:gsLst>
            <a:lin scaled="0" ang="0"/>
          </a:gradFill>
          <a:ln w="12700">
            <a:solidFill>
              <a:srgbClr val="50505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400" b="1">
                <a:solidFill>
                  <a:srgbClr val="FFFFFF"/>
                </a:solidFill>
                <a:latin typeface="Calibri"/>
              </a:rPr>
              <a:t>應用程式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200" y="966978"/>
            <a:ext cx="146304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6B6B6B"/>
                </a:solidFill>
                <a:latin typeface="Calibri"/>
              </a:rPr>
              <a:t>User Mode</a:t>
            </a:r>
          </a:p>
        </p:txBody>
      </p:sp>
      <p:cxnSp>
        <p:nvCxnSpPr>
          <p:cNvPr id="8" name="Connector 7"/>
          <p:cNvCxnSpPr/>
          <p:nvPr/>
        </p:nvCxnSpPr>
        <p:spPr>
          <a:xfrm>
            <a:off x="3931920" y="1351026"/>
            <a:ext cx="0" cy="36576"/>
          </a:xfrm>
          <a:prstGeom prst="line">
            <a:avLst/>
          </a:prstGeom>
          <a:ln w="12700">
            <a:solidFill>
              <a:srgbClr val="50505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Rectangle 8"/>
          <p:cNvSpPr/>
          <p:nvPr/>
        </p:nvSpPr>
        <p:spPr>
          <a:xfrm>
            <a:off x="640080" y="1387602"/>
            <a:ext cx="6583680" cy="384048"/>
          </a:xfrm>
          <a:prstGeom prst="rect">
            <a:avLst/>
          </a:prstGeom>
          <a:gradFill rotWithShape="1">
            <a:gsLst>
              <a:gs pos="0">
                <a:srgbClr val="222222"/>
              </a:gs>
              <a:gs pos="100000">
                <a:srgbClr val="272727"/>
              </a:gs>
            </a:gsLst>
            <a:lin scaled="0" ang="0"/>
          </a:gradFill>
          <a:ln w="12700">
            <a:solidFill>
              <a:srgbClr val="50505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400" b="1">
                <a:solidFill>
                  <a:srgbClr val="FFFFFF"/>
                </a:solidFill>
                <a:latin typeface="Calibri"/>
              </a:rPr>
              <a:t>WinSock (ws2_32.dll)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315200" y="1387602"/>
            <a:ext cx="146304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6B6B6B"/>
                </a:solidFill>
                <a:latin typeface="Calibri"/>
              </a:rPr>
              <a:t>User Mode</a:t>
            </a:r>
          </a:p>
        </p:txBody>
      </p:sp>
      <p:cxnSp>
        <p:nvCxnSpPr>
          <p:cNvPr id="11" name="Connector 10"/>
          <p:cNvCxnSpPr/>
          <p:nvPr/>
        </p:nvCxnSpPr>
        <p:spPr>
          <a:xfrm>
            <a:off x="3931920" y="1771650"/>
            <a:ext cx="0" cy="36576"/>
          </a:xfrm>
          <a:prstGeom prst="line">
            <a:avLst/>
          </a:prstGeom>
          <a:ln w="12700">
            <a:solidFill>
              <a:srgbClr val="50505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" name="Rectangle 11"/>
          <p:cNvSpPr/>
          <p:nvPr/>
        </p:nvSpPr>
        <p:spPr>
          <a:xfrm>
            <a:off x="640080" y="1808226"/>
            <a:ext cx="6583680" cy="384048"/>
          </a:xfrm>
          <a:prstGeom prst="rect">
            <a:avLst/>
          </a:prstGeom>
          <a:gradFill rotWithShape="1">
            <a:gsLst>
              <a:gs pos="0">
                <a:srgbClr val="282828"/>
              </a:gs>
              <a:gs pos="100000">
                <a:srgbClr val="2E2E2E"/>
              </a:gs>
            </a:gsLst>
            <a:lin scaled="0" ang="0"/>
          </a:gradFill>
          <a:ln w="12700">
            <a:solidFill>
              <a:srgbClr val="50505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400" b="1">
                <a:solidFill>
                  <a:srgbClr val="FFFFFF"/>
                </a:solidFill>
                <a:latin typeface="Calibri"/>
              </a:rPr>
              <a:t>AFD.sys（Ancillary Function Driver）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315200" y="1808226"/>
            <a:ext cx="146304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6B6B6B"/>
                </a:solidFill>
                <a:latin typeface="Calibri"/>
              </a:rPr>
              <a:t>Kernel Mode</a:t>
            </a:r>
          </a:p>
        </p:txBody>
      </p:sp>
      <p:cxnSp>
        <p:nvCxnSpPr>
          <p:cNvPr id="14" name="Connector 13"/>
          <p:cNvCxnSpPr/>
          <p:nvPr/>
        </p:nvCxnSpPr>
        <p:spPr>
          <a:xfrm>
            <a:off x="3931920" y="2192274"/>
            <a:ext cx="0" cy="36576"/>
          </a:xfrm>
          <a:prstGeom prst="line">
            <a:avLst/>
          </a:prstGeom>
          <a:ln w="12700">
            <a:solidFill>
              <a:srgbClr val="50505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" name="Rectangle 14"/>
          <p:cNvSpPr/>
          <p:nvPr/>
        </p:nvSpPr>
        <p:spPr>
          <a:xfrm>
            <a:off x="640080" y="2228850"/>
            <a:ext cx="6583680" cy="384048"/>
          </a:xfrm>
          <a:prstGeom prst="rect">
            <a:avLst/>
          </a:prstGeom>
          <a:gradFill rotWithShape="1">
            <a:gsLst>
              <a:gs pos="0">
                <a:srgbClr val="2E2E2E"/>
              </a:gs>
              <a:gs pos="100000">
                <a:srgbClr val="343434"/>
              </a:gs>
            </a:gsLst>
            <a:lin scaled="0" ang="0"/>
          </a:gradFill>
          <a:ln w="12700">
            <a:solidFill>
              <a:srgbClr val="50505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400" b="1">
                <a:solidFill>
                  <a:srgbClr val="FFFFFF"/>
                </a:solidFill>
                <a:latin typeface="Calibri"/>
              </a:rPr>
              <a:t>tcpip.sys（TCP/IP Stack）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315200" y="2228850"/>
            <a:ext cx="146304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6B6B6B"/>
                </a:solidFill>
                <a:latin typeface="Calibri"/>
              </a:rPr>
              <a:t>Kernel Mode</a:t>
            </a:r>
          </a:p>
        </p:txBody>
      </p:sp>
      <p:cxnSp>
        <p:nvCxnSpPr>
          <p:cNvPr id="17" name="Connector 16"/>
          <p:cNvCxnSpPr/>
          <p:nvPr/>
        </p:nvCxnSpPr>
        <p:spPr>
          <a:xfrm>
            <a:off x="3931920" y="2612898"/>
            <a:ext cx="0" cy="36576"/>
          </a:xfrm>
          <a:prstGeom prst="line">
            <a:avLst/>
          </a:prstGeom>
          <a:ln w="12700">
            <a:solidFill>
              <a:srgbClr val="50505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8" name="Rectangle 17"/>
          <p:cNvSpPr/>
          <p:nvPr/>
        </p:nvSpPr>
        <p:spPr>
          <a:xfrm>
            <a:off x="640080" y="2649474"/>
            <a:ext cx="6583680" cy="384048"/>
          </a:xfrm>
          <a:prstGeom prst="rect">
            <a:avLst/>
          </a:prstGeom>
          <a:gradFill rotWithShape="1">
            <a:gsLst>
              <a:gs pos="0">
                <a:srgbClr val="353535"/>
              </a:gs>
              <a:gs pos="100000">
                <a:srgbClr val="3C3C3C"/>
              </a:gs>
            </a:gsLst>
            <a:lin scaled="0" ang="0"/>
          </a:gradFill>
          <a:ln w="12700">
            <a:solidFill>
              <a:srgbClr val="50505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400" b="1">
                <a:solidFill>
                  <a:srgbClr val="FFFFFF"/>
                </a:solidFill>
                <a:latin typeface="Calibri"/>
              </a:rPr>
              <a:t>ndis.sys（NDIS）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315200" y="2649474"/>
            <a:ext cx="146304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6B6B6B"/>
                </a:solidFill>
                <a:latin typeface="Calibri"/>
              </a:rPr>
              <a:t>Kernel Mode</a:t>
            </a:r>
          </a:p>
        </p:txBody>
      </p:sp>
      <p:cxnSp>
        <p:nvCxnSpPr>
          <p:cNvPr id="20" name="Connector 19"/>
          <p:cNvCxnSpPr/>
          <p:nvPr/>
        </p:nvCxnSpPr>
        <p:spPr>
          <a:xfrm>
            <a:off x="3931920" y="3033522"/>
            <a:ext cx="0" cy="36576"/>
          </a:xfrm>
          <a:prstGeom prst="line">
            <a:avLst/>
          </a:prstGeom>
          <a:ln w="12700">
            <a:solidFill>
              <a:srgbClr val="50505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1" name="Rectangle 20"/>
          <p:cNvSpPr/>
          <p:nvPr/>
        </p:nvSpPr>
        <p:spPr>
          <a:xfrm>
            <a:off x="640080" y="3070098"/>
            <a:ext cx="6583680" cy="384048"/>
          </a:xfrm>
          <a:prstGeom prst="rect">
            <a:avLst/>
          </a:prstGeom>
          <a:gradFill rotWithShape="1">
            <a:gsLst>
              <a:gs pos="0">
                <a:srgbClr val="3B3B3B"/>
              </a:gs>
              <a:gs pos="100000">
                <a:srgbClr val="434343"/>
              </a:gs>
            </a:gsLst>
            <a:lin scaled="0" ang="0"/>
          </a:gradFill>
          <a:ln w="12700">
            <a:solidFill>
              <a:srgbClr val="50505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400" b="1">
                <a:solidFill>
                  <a:srgbClr val="FFFFFF"/>
                </a:solidFill>
                <a:latin typeface="Calibri"/>
              </a:rPr>
              <a:t>nwifi.sys（Native WiFi）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7315200" y="3070098"/>
            <a:ext cx="146304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6B6B6B"/>
                </a:solidFill>
                <a:latin typeface="Calibri"/>
              </a:rPr>
              <a:t>Kernel Mode</a:t>
            </a:r>
          </a:p>
        </p:txBody>
      </p:sp>
      <p:cxnSp>
        <p:nvCxnSpPr>
          <p:cNvPr id="23" name="Connector 22"/>
          <p:cNvCxnSpPr/>
          <p:nvPr/>
        </p:nvCxnSpPr>
        <p:spPr>
          <a:xfrm>
            <a:off x="3931920" y="3454146"/>
            <a:ext cx="0" cy="36576"/>
          </a:xfrm>
          <a:prstGeom prst="line">
            <a:avLst/>
          </a:prstGeom>
          <a:ln w="12700">
            <a:solidFill>
              <a:srgbClr val="50505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4" name="Rectangle 23"/>
          <p:cNvSpPr/>
          <p:nvPr/>
        </p:nvSpPr>
        <p:spPr>
          <a:xfrm>
            <a:off x="640080" y="3490722"/>
            <a:ext cx="6583680" cy="384048"/>
          </a:xfrm>
          <a:prstGeom prst="rect">
            <a:avLst/>
          </a:prstGeom>
          <a:gradFill rotWithShape="1">
            <a:gsLst>
              <a:gs pos="0">
                <a:srgbClr val="414141"/>
              </a:gs>
              <a:gs pos="100000">
                <a:srgbClr val="4A4A4A"/>
              </a:gs>
            </a:gsLst>
            <a:lin scaled="0" ang="0"/>
          </a:gradFill>
          <a:ln w="12700">
            <a:solidFill>
              <a:srgbClr val="50505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400" b="1">
                <a:solidFill>
                  <a:srgbClr val="FFFFFF"/>
                </a:solidFill>
                <a:latin typeface="Calibri"/>
              </a:rPr>
              <a:t>OEM.sys（Miniport Driver）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7315200" y="3490722"/>
            <a:ext cx="146304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6B6B6B"/>
                </a:solidFill>
                <a:latin typeface="Calibri"/>
              </a:rPr>
              <a:t>Kernel Mode</a:t>
            </a:r>
          </a:p>
        </p:txBody>
      </p:sp>
      <p:cxnSp>
        <p:nvCxnSpPr>
          <p:cNvPr id="26" name="Connector 25"/>
          <p:cNvCxnSpPr/>
          <p:nvPr/>
        </p:nvCxnSpPr>
        <p:spPr>
          <a:xfrm>
            <a:off x="3931920" y="3874770"/>
            <a:ext cx="0" cy="36576"/>
          </a:xfrm>
          <a:prstGeom prst="line">
            <a:avLst/>
          </a:prstGeom>
          <a:ln w="12700">
            <a:solidFill>
              <a:srgbClr val="50505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7" name="Rectangle 26"/>
          <p:cNvSpPr/>
          <p:nvPr/>
        </p:nvSpPr>
        <p:spPr>
          <a:xfrm>
            <a:off x="640080" y="3911346"/>
            <a:ext cx="6583680" cy="384048"/>
          </a:xfrm>
          <a:prstGeom prst="rect">
            <a:avLst/>
          </a:prstGeom>
          <a:gradFill rotWithShape="1">
            <a:gsLst>
              <a:gs pos="0">
                <a:srgbClr val="484848"/>
              </a:gs>
              <a:gs pos="100000">
                <a:srgbClr val="525252"/>
              </a:gs>
            </a:gsLst>
            <a:lin scaled="0" ang="0"/>
          </a:gradFill>
          <a:ln w="12700">
            <a:solidFill>
              <a:srgbClr val="50505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400" b="1">
                <a:solidFill>
                  <a:srgbClr val="FFFFFF"/>
                </a:solidFill>
                <a:latin typeface="Calibri"/>
              </a:rPr>
              <a:t>NIC 硬體 + 韌體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7315200" y="3911346"/>
            <a:ext cx="146304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6B6B6B"/>
                </a:solidFill>
                <a:latin typeface="Calibri"/>
              </a:rPr>
              <a:t>Hardware</a:t>
            </a:r>
          </a:p>
        </p:txBody>
      </p:sp>
      <p:cxnSp>
        <p:nvCxnSpPr>
          <p:cNvPr id="29" name="Connector 28"/>
          <p:cNvCxnSpPr/>
          <p:nvPr/>
        </p:nvCxnSpPr>
        <p:spPr>
          <a:xfrm>
            <a:off x="365760" y="4393688"/>
            <a:ext cx="8412480" cy="0"/>
          </a:xfrm>
          <a:prstGeom prst="line">
            <a:avLst/>
          </a:prstGeom>
          <a:ln w="6350">
            <a:solidFill>
              <a:srgbClr val="DCDCD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0" name="TextBox 29"/>
          <p:cNvSpPr txBox="1"/>
          <p:nvPr/>
        </p:nvSpPr>
        <p:spPr>
          <a:xfrm>
            <a:off x="457200" y="4393692"/>
            <a:ext cx="82296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6B6B6B"/>
                </a:solidFill>
                <a:latin typeface="Calibri"/>
              </a:rPr>
              <a:t>每層只能透過明確定義的介面與相鄰層溝通</a:t>
            </a:r>
          </a:p>
        </p:txBody>
      </p:sp>
      <p:sp>
        <p:nvSpPr>
          <p:cNvPr id="31" name="Rectangle 30"/>
          <p:cNvSpPr/>
          <p:nvPr/>
        </p:nvSpPr>
        <p:spPr>
          <a:xfrm>
            <a:off x="0" y="4686300"/>
            <a:ext cx="9144000" cy="457200"/>
          </a:xfrm>
          <a:prstGeom prst="rect">
            <a:avLst/>
          </a:prstGeom>
          <a:gradFill rotWithShape="1">
            <a:gsLst>
              <a:gs pos="0">
                <a:srgbClr val="2A2A2A"/>
              </a:gs>
              <a:gs pos="100000">
                <a:srgbClr val="343434"/>
              </a:gs>
            </a:gsLst>
            <a:lin scaled="0" ang="0"/>
          </a:gra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274320" y="4722876"/>
            <a:ext cx="457200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B0B0B0"/>
                </a:solidFill>
                <a:latin typeface="Calibri"/>
              </a:rPr>
              <a:t>Windows 驅動堆疊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7863840" y="4722876"/>
            <a:ext cx="91440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300" b="0">
                <a:solidFill>
                  <a:srgbClr val="B0B0B0"/>
                </a:solidFill>
                <a:latin typeface="Calibri"/>
              </a:rPr>
              <a:t>08 / 23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822960"/>
          </a:xfrm>
          <a:prstGeom prst="rect">
            <a:avLst/>
          </a:prstGeom>
          <a:gradFill rotWithShape="1">
            <a:gsLst>
              <a:gs pos="0">
                <a:srgbClr val="2A2A2A"/>
              </a:gs>
              <a:gs pos="100000">
                <a:srgbClr val="363636"/>
              </a:gs>
            </a:gsLst>
            <a:lin scaled="0" ang="0"/>
          </a:gra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50292" cy="822960"/>
          </a:xfrm>
          <a:prstGeom prst="rect">
            <a:avLst/>
          </a:prstGeom>
          <a:solidFill>
            <a:srgbClr val="50505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365760" y="109728"/>
            <a:ext cx="704088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>
                <a:solidFill>
                  <a:srgbClr val="FFFFFF"/>
                </a:solidFill>
                <a:latin typeface="Calibri"/>
              </a:rPr>
              <a:t>OEM.sys：網卡廠商 Miniport Driver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498080" y="109728"/>
            <a:ext cx="128016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300" b="0">
                <a:solidFill>
                  <a:srgbClr val="B0B0B0"/>
                </a:solidFill>
                <a:latin typeface="Calibri"/>
              </a:rPr>
              <a:t>Section 2/4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4572000" y="960120"/>
            <a:ext cx="0" cy="3433572"/>
          </a:xfrm>
          <a:prstGeom prst="line">
            <a:avLst/>
          </a:prstGeom>
          <a:ln w="6350">
            <a:solidFill>
              <a:srgbClr val="DCDCD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TextBox 6"/>
          <p:cNvSpPr txBox="1"/>
          <p:nvPr/>
        </p:nvSpPr>
        <p:spPr>
          <a:xfrm>
            <a:off x="457200" y="1033272"/>
            <a:ext cx="386334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1">
                <a:solidFill>
                  <a:srgbClr val="505050"/>
                </a:solidFill>
                <a:latin typeface="Calibri"/>
              </a:rPr>
              <a:t>職責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1463040"/>
            <a:ext cx="3863340" cy="28392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500"/>
              </a:spcBef>
            </a:pPr>
            <a:r>
              <a:rPr sz="1700">
                <a:solidFill>
                  <a:srgbClr val="1C1C1C"/>
                </a:solidFill>
              </a:rPr>
              <a:t>直接與 NIC 硬體暫存器溝通（MMIO/PCI）</a:t>
            </a:r>
          </a:p>
          <a:p>
            <a:pPr>
              <a:spcBef>
                <a:spcPts val="500"/>
              </a:spcBef>
            </a:pPr>
            <a:r>
              <a:rPr sz="1700">
                <a:solidFill>
                  <a:srgbClr val="1C1C1C"/>
                </a:solidFill>
              </a:rPr>
              <a:t>控制 RF 參數（頻道、頻寬、TX 功率）</a:t>
            </a:r>
          </a:p>
          <a:p>
            <a:pPr>
              <a:spcBef>
                <a:spcPts val="500"/>
              </a:spcBef>
            </a:pPr>
            <a:r>
              <a:rPr sz="1700">
                <a:solidFill>
                  <a:srgbClr val="1C1C1C"/>
                </a:solidFill>
              </a:rPr>
              <a:t>管理 DMA 傳輸（TX/RX 封包緩衝）</a:t>
            </a:r>
          </a:p>
          <a:p>
            <a:pPr>
              <a:spcBef>
                <a:spcPts val="500"/>
              </a:spcBef>
            </a:pPr>
            <a:r>
              <a:rPr sz="1700">
                <a:solidFill>
                  <a:srgbClr val="1C1C1C"/>
                </a:solidFill>
              </a:rPr>
              <a:t>實作 NDIS Miniport 介面</a:t>
            </a:r>
          </a:p>
          <a:p>
            <a:pPr>
              <a:spcBef>
                <a:spcPts val="500"/>
              </a:spcBef>
            </a:pPr>
            <a:r>
              <a:rPr sz="1700">
                <a:solidFill>
                  <a:srgbClr val="1C1C1C"/>
                </a:solidFill>
              </a:rPr>
              <a:t>上報硬體事件給 nwifi.sys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823460" y="1033272"/>
            <a:ext cx="386334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1">
                <a:solidFill>
                  <a:srgbClr val="505050"/>
                </a:solidFill>
                <a:latin typeface="Calibri"/>
              </a:rPr>
              <a:t>範例（各廠商）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823460" y="1463040"/>
            <a:ext cx="3863340" cy="28392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500"/>
              </a:spcBef>
            </a:pPr>
            <a:r>
              <a:rPr sz="1700">
                <a:solidFill>
                  <a:srgbClr val="1C1C1C"/>
                </a:solidFill>
              </a:rPr>
              <a:t>Intel：iwlwifi（Linux）/ netwtw*.sys（Windows）</a:t>
            </a:r>
          </a:p>
          <a:p>
            <a:pPr>
              <a:spcBef>
                <a:spcPts val="500"/>
              </a:spcBef>
            </a:pPr>
            <a:r>
              <a:rPr sz="1700">
                <a:solidFill>
                  <a:srgbClr val="1C1C1C"/>
                </a:solidFill>
              </a:rPr>
              <a:t>Qualcomm/Atheros：ath*.sys</a:t>
            </a:r>
          </a:p>
          <a:p>
            <a:pPr>
              <a:spcBef>
                <a:spcPts val="500"/>
              </a:spcBef>
            </a:pPr>
            <a:r>
              <a:rPr sz="1700">
                <a:solidFill>
                  <a:srgbClr val="1C1C1C"/>
                </a:solidFill>
              </a:rPr>
              <a:t>Broadcom：bcmwl*.sys</a:t>
            </a:r>
          </a:p>
          <a:p>
            <a:pPr>
              <a:spcBef>
                <a:spcPts val="500"/>
              </a:spcBef>
            </a:pPr>
            <a:r>
              <a:rPr sz="1700">
                <a:solidFill>
                  <a:srgbClr val="1C1C1C"/>
                </a:solidFill>
              </a:rPr>
              <a:t>MediaTek：mt*.sys</a:t>
            </a:r>
          </a:p>
          <a:p>
            <a:r>
              <a:rPr sz="600"/>
              <a:t/>
            </a:r>
          </a:p>
          <a:p>
            <a:pPr>
              <a:spcBef>
                <a:spcPts val="500"/>
              </a:spcBef>
            </a:pPr>
            <a:r>
              <a:rPr sz="1700" b="1">
                <a:solidFill>
                  <a:srgbClr val="1C1C1C"/>
                </a:solidFill>
              </a:rPr>
              <a:t>⚠ OEM.sys 是唯一能讀取 CSI 的軟體元件</a:t>
            </a:r>
          </a:p>
          <a:p>
            <a:pPr>
              <a:spcBef>
                <a:spcPts val="200"/>
              </a:spcBef>
            </a:pPr>
            <a:r>
              <a:rPr sz="1500">
                <a:solidFill>
                  <a:srgbClr val="6B6B6B"/>
                </a:solidFill>
              </a:rPr>
              <a:t>  但它選擇不向上層暴露此資料</a:t>
            </a:r>
          </a:p>
        </p:txBody>
      </p:sp>
      <p:cxnSp>
        <p:nvCxnSpPr>
          <p:cNvPr id="11" name="Connector 10"/>
          <p:cNvCxnSpPr/>
          <p:nvPr/>
        </p:nvCxnSpPr>
        <p:spPr>
          <a:xfrm>
            <a:off x="365760" y="4393688"/>
            <a:ext cx="8412480" cy="0"/>
          </a:xfrm>
          <a:prstGeom prst="line">
            <a:avLst/>
          </a:prstGeom>
          <a:ln w="6350">
            <a:solidFill>
              <a:srgbClr val="DCDCD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" name="TextBox 11"/>
          <p:cNvSpPr txBox="1"/>
          <p:nvPr/>
        </p:nvSpPr>
        <p:spPr>
          <a:xfrm>
            <a:off x="457200" y="4393692"/>
            <a:ext cx="82296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6B6B6B"/>
                </a:solidFill>
                <a:latin typeface="Calibri"/>
              </a:rPr>
              <a:t>OEM.sys 是 Windows 驅動堆疊中距離硬體最近的軟體層</a:t>
            </a:r>
          </a:p>
        </p:txBody>
      </p:sp>
      <p:sp>
        <p:nvSpPr>
          <p:cNvPr id="13" name="Rectangle 12"/>
          <p:cNvSpPr/>
          <p:nvPr/>
        </p:nvSpPr>
        <p:spPr>
          <a:xfrm>
            <a:off x="0" y="4686300"/>
            <a:ext cx="9144000" cy="457200"/>
          </a:xfrm>
          <a:prstGeom prst="rect">
            <a:avLst/>
          </a:prstGeom>
          <a:gradFill rotWithShape="1">
            <a:gsLst>
              <a:gs pos="0">
                <a:srgbClr val="2A2A2A"/>
              </a:gs>
              <a:gs pos="100000">
                <a:srgbClr val="343434"/>
              </a:gs>
            </a:gsLst>
            <a:lin scaled="0" ang="0"/>
          </a:gra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274320" y="4722876"/>
            <a:ext cx="457200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B0B0B0"/>
                </a:solidFill>
                <a:latin typeface="Calibri"/>
              </a:rPr>
              <a:t>Windows 驅動堆疊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863840" y="4722876"/>
            <a:ext cx="91440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300" b="0">
                <a:solidFill>
                  <a:srgbClr val="B0B0B0"/>
                </a:solidFill>
                <a:latin typeface="Calibri"/>
              </a:rPr>
              <a:t>09 / 23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822960"/>
          </a:xfrm>
          <a:prstGeom prst="rect">
            <a:avLst/>
          </a:prstGeom>
          <a:gradFill rotWithShape="1">
            <a:gsLst>
              <a:gs pos="0">
                <a:srgbClr val="2A2A2A"/>
              </a:gs>
              <a:gs pos="100000">
                <a:srgbClr val="363636"/>
              </a:gs>
            </a:gsLst>
            <a:lin scaled="0" ang="0"/>
          </a:gra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50292" cy="822960"/>
          </a:xfrm>
          <a:prstGeom prst="rect">
            <a:avLst/>
          </a:prstGeom>
          <a:solidFill>
            <a:srgbClr val="50505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365760" y="109728"/>
            <a:ext cx="704088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>
                <a:solidFill>
                  <a:srgbClr val="FFFFFF"/>
                </a:solidFill>
                <a:latin typeface="Calibri"/>
              </a:rPr>
              <a:t>OEM.sys 的資料路徑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498080" y="109728"/>
            <a:ext cx="128016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300" b="0">
                <a:solidFill>
                  <a:srgbClr val="B0B0B0"/>
                </a:solidFill>
                <a:latin typeface="Calibri"/>
              </a:rPr>
              <a:t>Section 2/4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02920" y="2105406"/>
            <a:ext cx="1371600" cy="1005840"/>
          </a:xfrm>
          <a:prstGeom prst="roundRect">
            <a:avLst>
              <a:gd name="adj" fmla="val 20000"/>
            </a:avLst>
          </a:prstGeom>
          <a:solidFill>
            <a:srgbClr val="FFFFFF"/>
          </a:solidFill>
          <a:ln w="19050">
            <a:solidFill>
              <a:srgbClr val="50505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91440"/>
          <a:lstStyle/>
          <a:p>
            <a:pPr algn="ctr"/>
            <a:r>
              <a:rPr sz="1300" b="1">
                <a:solidFill>
                  <a:srgbClr val="1C1C1C"/>
                </a:solidFill>
                <a:latin typeface="Calibri"/>
              </a:rPr>
              <a:t>NIC 韌體
計算 CSI</a:t>
            </a:r>
          </a:p>
          <a:p>
            <a:pPr algn="ctr"/>
            <a:r>
              <a:rPr sz="1100">
                <a:solidFill>
                  <a:srgbClr val="505050"/>
                </a:solidFill>
                <a:latin typeface="Calibri"/>
              </a:rPr>
              <a:t>儲存於暫存器</a:t>
            </a:r>
          </a:p>
        </p:txBody>
      </p:sp>
      <p:cxnSp>
        <p:nvCxnSpPr>
          <p:cNvPr id="7" name="Connector 6"/>
          <p:cNvCxnSpPr/>
          <p:nvPr/>
        </p:nvCxnSpPr>
        <p:spPr>
          <a:xfrm>
            <a:off x="1874520" y="2608326"/>
            <a:ext cx="320040" cy="0"/>
          </a:xfrm>
          <a:prstGeom prst="line">
            <a:avLst/>
          </a:prstGeom>
          <a:ln w="25400">
            <a:solidFill>
              <a:srgbClr val="505050"/>
            </a:solidFill>
            <a:tailEnd type="arrow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" name="Rounded Rectangle 7"/>
          <p:cNvSpPr/>
          <p:nvPr/>
        </p:nvSpPr>
        <p:spPr>
          <a:xfrm>
            <a:off x="2194560" y="2105406"/>
            <a:ext cx="1371600" cy="1005840"/>
          </a:xfrm>
          <a:prstGeom prst="roundRect">
            <a:avLst>
              <a:gd name="adj" fmla="val 20000"/>
            </a:avLst>
          </a:prstGeom>
          <a:solidFill>
            <a:srgbClr val="FFFFFF"/>
          </a:solidFill>
          <a:ln w="19050">
            <a:solidFill>
              <a:srgbClr val="50505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91440"/>
          <a:lstStyle/>
          <a:p>
            <a:pPr algn="ctr"/>
            <a:r>
              <a:rPr sz="1300" b="1">
                <a:solidFill>
                  <a:srgbClr val="1C1C1C"/>
                </a:solidFill>
                <a:latin typeface="Calibri"/>
              </a:rPr>
              <a:t>OEM.sys
DMA 讀取</a:t>
            </a:r>
          </a:p>
          <a:p>
            <a:pPr algn="ctr"/>
            <a:r>
              <a:rPr sz="1100">
                <a:solidFill>
                  <a:srgbClr val="505050"/>
                </a:solidFill>
                <a:latin typeface="Calibri"/>
              </a:rPr>
              <a:t>RX 封包緩衝</a:t>
            </a:r>
          </a:p>
        </p:txBody>
      </p:sp>
      <p:cxnSp>
        <p:nvCxnSpPr>
          <p:cNvPr id="9" name="Connector 8"/>
          <p:cNvCxnSpPr/>
          <p:nvPr/>
        </p:nvCxnSpPr>
        <p:spPr>
          <a:xfrm>
            <a:off x="3566160" y="2608326"/>
            <a:ext cx="320040" cy="0"/>
          </a:xfrm>
          <a:prstGeom prst="line">
            <a:avLst/>
          </a:prstGeom>
          <a:ln w="25400">
            <a:solidFill>
              <a:srgbClr val="505050"/>
            </a:solidFill>
            <a:tailEnd type="arrow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" name="Rounded Rectangle 9"/>
          <p:cNvSpPr/>
          <p:nvPr/>
        </p:nvSpPr>
        <p:spPr>
          <a:xfrm>
            <a:off x="3886200" y="2105406"/>
            <a:ext cx="1371600" cy="1005840"/>
          </a:xfrm>
          <a:prstGeom prst="roundRect">
            <a:avLst>
              <a:gd name="adj" fmla="val 20000"/>
            </a:avLst>
          </a:prstGeom>
          <a:solidFill>
            <a:srgbClr val="FFFFFF"/>
          </a:solidFill>
          <a:ln w="19050">
            <a:solidFill>
              <a:srgbClr val="50505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91440"/>
          <a:lstStyle/>
          <a:p>
            <a:pPr algn="ctr"/>
            <a:r>
              <a:rPr sz="1300" b="1">
                <a:solidFill>
                  <a:srgbClr val="1C1C1C"/>
                </a:solidFill>
                <a:latin typeface="Calibri"/>
              </a:rPr>
              <a:t>NDIS_RECEIVE
_NET_BUFFER</a:t>
            </a:r>
          </a:p>
          <a:p>
            <a:pPr algn="ctr"/>
            <a:r>
              <a:rPr sz="1100">
                <a:solidFill>
                  <a:srgbClr val="505050"/>
                </a:solidFill>
                <a:latin typeface="Calibri"/>
              </a:rPr>
              <a:t>標準封包上報</a:t>
            </a:r>
          </a:p>
        </p:txBody>
      </p:sp>
      <p:cxnSp>
        <p:nvCxnSpPr>
          <p:cNvPr id="11" name="Connector 10"/>
          <p:cNvCxnSpPr/>
          <p:nvPr/>
        </p:nvCxnSpPr>
        <p:spPr>
          <a:xfrm>
            <a:off x="5257800" y="2608326"/>
            <a:ext cx="320040" cy="0"/>
          </a:xfrm>
          <a:prstGeom prst="line">
            <a:avLst/>
          </a:prstGeom>
          <a:ln w="25400">
            <a:solidFill>
              <a:srgbClr val="505050"/>
            </a:solidFill>
            <a:tailEnd type="arrow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" name="Rounded Rectangle 11"/>
          <p:cNvSpPr/>
          <p:nvPr/>
        </p:nvSpPr>
        <p:spPr>
          <a:xfrm>
            <a:off x="5577840" y="2105406"/>
            <a:ext cx="1371600" cy="1005840"/>
          </a:xfrm>
          <a:prstGeom prst="roundRect">
            <a:avLst>
              <a:gd name="adj" fmla="val 20000"/>
            </a:avLst>
          </a:prstGeom>
          <a:solidFill>
            <a:srgbClr val="FFFFFF"/>
          </a:solidFill>
          <a:ln w="19050">
            <a:solidFill>
              <a:srgbClr val="50505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91440"/>
          <a:lstStyle/>
          <a:p>
            <a:pPr algn="ctr"/>
            <a:r>
              <a:rPr sz="1300" b="1">
                <a:solidFill>
                  <a:srgbClr val="1C1C1C"/>
                </a:solidFill>
                <a:latin typeface="Calibri"/>
              </a:rPr>
              <a:t>nwifi.sys
接收</a:t>
            </a:r>
          </a:p>
          <a:p>
            <a:pPr algn="ctr"/>
            <a:r>
              <a:rPr sz="1100">
                <a:solidFill>
                  <a:srgbClr val="505050"/>
                </a:solidFill>
                <a:latin typeface="Calibri"/>
              </a:rPr>
              <a:t>802.11 frame 處理</a:t>
            </a:r>
          </a:p>
        </p:txBody>
      </p:sp>
      <p:cxnSp>
        <p:nvCxnSpPr>
          <p:cNvPr id="13" name="Connector 12"/>
          <p:cNvCxnSpPr/>
          <p:nvPr/>
        </p:nvCxnSpPr>
        <p:spPr>
          <a:xfrm>
            <a:off x="6949440" y="2608326"/>
            <a:ext cx="320040" cy="0"/>
          </a:xfrm>
          <a:prstGeom prst="line">
            <a:avLst/>
          </a:prstGeom>
          <a:ln w="25400">
            <a:solidFill>
              <a:srgbClr val="505050"/>
            </a:solidFill>
            <a:tailEnd type="arrow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4" name="Rounded Rectangle 13"/>
          <p:cNvSpPr/>
          <p:nvPr/>
        </p:nvSpPr>
        <p:spPr>
          <a:xfrm>
            <a:off x="7269480" y="2105406"/>
            <a:ext cx="1371600" cy="1005840"/>
          </a:xfrm>
          <a:prstGeom prst="roundRect">
            <a:avLst>
              <a:gd name="adj" fmla="val 20000"/>
            </a:avLst>
          </a:prstGeom>
          <a:solidFill>
            <a:srgbClr val="FFFFFF"/>
          </a:solidFill>
          <a:ln w="19050">
            <a:solidFill>
              <a:srgbClr val="50505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91440"/>
          <a:lstStyle/>
          <a:p>
            <a:pPr algn="ctr"/>
            <a:r>
              <a:rPr sz="1300" b="1">
                <a:solidFill>
                  <a:srgbClr val="1C1C1C"/>
                </a:solidFill>
                <a:latin typeface="Calibri"/>
              </a:rPr>
              <a:t>tcpip.sys
→ 應用層</a:t>
            </a:r>
          </a:p>
          <a:p>
            <a:pPr algn="ctr"/>
            <a:r>
              <a:rPr sz="1100">
                <a:solidFill>
                  <a:srgbClr val="505050"/>
                </a:solidFill>
                <a:latin typeface="Calibri"/>
              </a:rPr>
              <a:t>IP 封包</a:t>
            </a:r>
          </a:p>
        </p:txBody>
      </p:sp>
      <p:cxnSp>
        <p:nvCxnSpPr>
          <p:cNvPr id="15" name="Connector 14"/>
          <p:cNvCxnSpPr/>
          <p:nvPr/>
        </p:nvCxnSpPr>
        <p:spPr>
          <a:xfrm>
            <a:off x="365760" y="4393688"/>
            <a:ext cx="8412480" cy="0"/>
          </a:xfrm>
          <a:prstGeom prst="line">
            <a:avLst/>
          </a:prstGeom>
          <a:ln w="6350">
            <a:solidFill>
              <a:srgbClr val="DCDCD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6" name="TextBox 15"/>
          <p:cNvSpPr txBox="1"/>
          <p:nvPr/>
        </p:nvSpPr>
        <p:spPr>
          <a:xfrm>
            <a:off x="457200" y="4393692"/>
            <a:ext cx="82296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6B6B6B"/>
                </a:solidFill>
                <a:latin typeface="Calibri"/>
              </a:rPr>
              <a:t>CSI 存於 NIC 暫存器，OEM.sys 只將 802.11 frame payload 上報——CSI 從未進入 NDIS 封包結構</a:t>
            </a:r>
          </a:p>
        </p:txBody>
      </p:sp>
      <p:sp>
        <p:nvSpPr>
          <p:cNvPr id="17" name="Rectangle 16"/>
          <p:cNvSpPr/>
          <p:nvPr/>
        </p:nvSpPr>
        <p:spPr>
          <a:xfrm>
            <a:off x="0" y="4686300"/>
            <a:ext cx="9144000" cy="457200"/>
          </a:xfrm>
          <a:prstGeom prst="rect">
            <a:avLst/>
          </a:prstGeom>
          <a:gradFill rotWithShape="1">
            <a:gsLst>
              <a:gs pos="0">
                <a:srgbClr val="2A2A2A"/>
              </a:gs>
              <a:gs pos="100000">
                <a:srgbClr val="343434"/>
              </a:gs>
            </a:gsLst>
            <a:lin scaled="0" ang="0"/>
          </a:gra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274320" y="4722876"/>
            <a:ext cx="457200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B0B0B0"/>
                </a:solidFill>
                <a:latin typeface="Calibri"/>
              </a:rPr>
              <a:t>Windows 驅動堆疊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863840" y="4722876"/>
            <a:ext cx="91440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300" b="0">
                <a:solidFill>
                  <a:srgbClr val="B0B0B0"/>
                </a:solidFill>
                <a:latin typeface="Calibri"/>
              </a:rPr>
              <a:t>10 / 23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822960"/>
          </a:xfrm>
          <a:prstGeom prst="rect">
            <a:avLst/>
          </a:prstGeom>
          <a:gradFill rotWithShape="1">
            <a:gsLst>
              <a:gs pos="0">
                <a:srgbClr val="2A2A2A"/>
              </a:gs>
              <a:gs pos="100000">
                <a:srgbClr val="363636"/>
              </a:gs>
            </a:gsLst>
            <a:lin scaled="0" ang="0"/>
          </a:gra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50292" cy="822960"/>
          </a:xfrm>
          <a:prstGeom prst="rect">
            <a:avLst/>
          </a:prstGeom>
          <a:solidFill>
            <a:srgbClr val="50505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365760" y="109728"/>
            <a:ext cx="704088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>
                <a:solidFill>
                  <a:srgbClr val="FFFFFF"/>
                </a:solidFill>
                <a:latin typeface="Calibri"/>
              </a:rPr>
              <a:t>nwifi.sys：連線管理層（PHY 資訊截斷點）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498080" y="109728"/>
            <a:ext cx="128016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300" b="0">
                <a:solidFill>
                  <a:srgbClr val="B0B0B0"/>
                </a:solidFill>
                <a:latin typeface="Calibri"/>
              </a:rPr>
              <a:t>Section 2/4</a:t>
            </a:r>
          </a:p>
        </p:txBody>
      </p:sp>
      <p:sp>
        <p:nvSpPr>
          <p:cNvPr id="6" name="Rectangle 5"/>
          <p:cNvSpPr/>
          <p:nvPr/>
        </p:nvSpPr>
        <p:spPr>
          <a:xfrm>
            <a:off x="365760" y="960120"/>
            <a:ext cx="36576" cy="3433572"/>
          </a:xfrm>
          <a:prstGeom prst="rect">
            <a:avLst/>
          </a:prstGeom>
          <a:solidFill>
            <a:srgbClr val="50505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30352" y="1051560"/>
            <a:ext cx="8138160" cy="32506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600"/>
              </a:spcBef>
            </a:pPr>
            <a:r>
              <a:rPr b="1" sz="2000">
                <a:solidFill>
                  <a:srgbClr val="505050"/>
                </a:solidFill>
              </a:rPr>
              <a:t>▶ 職責：802.11 連線管理（Native 802.11 架構，Windows 10 起由 WDI 取代但概念相同）</a:t>
            </a:r>
          </a:p>
          <a:p>
            <a:pPr lvl="1">
              <a:spcBef>
                <a:spcPts val="200"/>
              </a:spcBef>
            </a:pPr>
            <a:r>
              <a:rPr sz="1700">
                <a:solidFill>
                  <a:srgbClr val="6B6B6B"/>
                </a:solidFill>
              </a:rPr>
              <a:t>  · · 認證（WPA2/WPA3）、漫遊、省電、掃描</a:t>
            </a:r>
          </a:p>
          <a:p>
            <a:r>
              <a:rPr sz="600"/>
              <a:t/>
            </a:r>
          </a:p>
          <a:p>
            <a:pPr>
              <a:spcBef>
                <a:spcPts val="600"/>
              </a:spcBef>
            </a:pPr>
            <a:r>
              <a:rPr b="1" sz="2000">
                <a:solidFill>
                  <a:srgbClr val="505050"/>
                </a:solidFill>
              </a:rPr>
              <a:t>▶ 向上暴露的介面：</a:t>
            </a:r>
          </a:p>
          <a:p>
            <a:pPr lvl="1">
              <a:spcBef>
                <a:spcPts val="200"/>
              </a:spcBef>
            </a:pPr>
            <a:r>
              <a:rPr sz="1700">
                <a:solidFill>
                  <a:srgbClr val="6B6B6B"/>
                </a:solidFill>
              </a:rPr>
              <a:t>  · · SSID / RSSI / 連線狀態 / 頻道 / 連線速率</a:t>
            </a:r>
          </a:p>
          <a:p>
            <a:pPr lvl="1">
              <a:spcBef>
                <a:spcPts val="200"/>
              </a:spcBef>
            </a:pPr>
            <a:r>
              <a:rPr sz="1700">
                <a:solidFill>
                  <a:srgbClr val="6B6B6B"/>
                </a:solidFill>
              </a:rPr>
              <a:t>  · · Native WiFi API（wlanapi.dll）→ 應用程式</a:t>
            </a:r>
          </a:p>
          <a:p>
            <a:r>
              <a:rPr sz="600"/>
              <a:t/>
            </a:r>
          </a:p>
          <a:p>
            <a:pPr>
              <a:spcBef>
                <a:spcPts val="600"/>
              </a:spcBef>
            </a:pPr>
            <a:r>
              <a:rPr b="1" sz="2000">
                <a:solidFill>
                  <a:srgbClr val="505050"/>
                </a:solidFill>
              </a:rPr>
              <a:t>⚠ 不暴露任何 PHY 層原始資料</a:t>
            </a:r>
          </a:p>
          <a:p>
            <a:pPr lvl="1">
              <a:spcBef>
                <a:spcPts val="200"/>
              </a:spcBef>
            </a:pPr>
            <a:r>
              <a:rPr sz="1700">
                <a:solidFill>
                  <a:srgbClr val="6B6B6B"/>
                </a:solidFill>
              </a:rPr>
              <a:t>  · · ❌ CSI、❌ IQ 樣本、❌ 每天線獨立 RSSI</a:t>
            </a:r>
          </a:p>
          <a:p>
            <a:r>
              <a:rPr sz="600"/>
              <a:t/>
            </a:r>
          </a:p>
          <a:p>
            <a:pPr>
              <a:spcBef>
                <a:spcPts val="600"/>
              </a:spcBef>
            </a:pPr>
            <a:r>
              <a:rPr sz="2000">
                <a:solidFill>
                  <a:srgbClr val="1C1C1C"/>
                </a:solidFill>
              </a:rPr>
              <a:t>● 設計目標是連線管理，不是 RF 量測</a:t>
            </a:r>
          </a:p>
        </p:txBody>
      </p:sp>
      <p:cxnSp>
        <p:nvCxnSpPr>
          <p:cNvPr id="8" name="Connector 7"/>
          <p:cNvCxnSpPr/>
          <p:nvPr/>
        </p:nvCxnSpPr>
        <p:spPr>
          <a:xfrm>
            <a:off x="365760" y="4393688"/>
            <a:ext cx="8412480" cy="0"/>
          </a:xfrm>
          <a:prstGeom prst="line">
            <a:avLst/>
          </a:prstGeom>
          <a:ln w="6350">
            <a:solidFill>
              <a:srgbClr val="DCDCD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TextBox 8"/>
          <p:cNvSpPr txBox="1"/>
          <p:nvPr/>
        </p:nvSpPr>
        <p:spPr>
          <a:xfrm>
            <a:off x="457200" y="4393692"/>
            <a:ext cx="82296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6B6B6B"/>
                </a:solidFill>
                <a:latin typeface="Calibri"/>
              </a:rPr>
              <a:t>從 nwifi.sys 向上，PHY 層資訊已被永久丟棄</a:t>
            </a:r>
          </a:p>
        </p:txBody>
      </p:sp>
      <p:sp>
        <p:nvSpPr>
          <p:cNvPr id="10" name="Rectangle 9"/>
          <p:cNvSpPr/>
          <p:nvPr/>
        </p:nvSpPr>
        <p:spPr>
          <a:xfrm>
            <a:off x="0" y="4686300"/>
            <a:ext cx="9144000" cy="457200"/>
          </a:xfrm>
          <a:prstGeom prst="rect">
            <a:avLst/>
          </a:prstGeom>
          <a:gradFill rotWithShape="1">
            <a:gsLst>
              <a:gs pos="0">
                <a:srgbClr val="2A2A2A"/>
              </a:gs>
              <a:gs pos="100000">
                <a:srgbClr val="343434"/>
              </a:gs>
            </a:gsLst>
            <a:lin scaled="0" ang="0"/>
          </a:gra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274320" y="4722876"/>
            <a:ext cx="457200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B0B0B0"/>
                </a:solidFill>
                <a:latin typeface="Calibri"/>
              </a:rPr>
              <a:t>Windows 驅動堆疊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863840" y="4722876"/>
            <a:ext cx="91440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300" b="0">
                <a:solidFill>
                  <a:srgbClr val="B0B0B0"/>
                </a:solidFill>
                <a:latin typeface="Calibri"/>
              </a:rPr>
              <a:t>11 / 23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822960"/>
          </a:xfrm>
          <a:prstGeom prst="rect">
            <a:avLst/>
          </a:prstGeom>
          <a:gradFill rotWithShape="1">
            <a:gsLst>
              <a:gs pos="0">
                <a:srgbClr val="2A2A2A"/>
              </a:gs>
              <a:gs pos="100000">
                <a:srgbClr val="363636"/>
              </a:gs>
            </a:gsLst>
            <a:lin scaled="0" ang="0"/>
          </a:gra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50292" cy="822960"/>
          </a:xfrm>
          <a:prstGeom prst="rect">
            <a:avLst/>
          </a:prstGeom>
          <a:solidFill>
            <a:srgbClr val="50505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365760" y="109728"/>
            <a:ext cx="704088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>
                <a:solidFill>
                  <a:srgbClr val="FFFFFF"/>
                </a:solidFill>
                <a:latin typeface="Calibri"/>
              </a:rPr>
              <a:t>NDIS 無 CSI 的根本原因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498080" y="109728"/>
            <a:ext cx="128016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300" b="0">
                <a:solidFill>
                  <a:srgbClr val="B0B0B0"/>
                </a:solidFill>
                <a:latin typeface="Calibri"/>
              </a:rPr>
              <a:t>Section 2/4</a:t>
            </a:r>
          </a:p>
        </p:txBody>
      </p:sp>
      <p:sp>
        <p:nvSpPr>
          <p:cNvPr id="6" name="Rectangle 5"/>
          <p:cNvSpPr/>
          <p:nvPr/>
        </p:nvSpPr>
        <p:spPr>
          <a:xfrm>
            <a:off x="365760" y="960120"/>
            <a:ext cx="36576" cy="3433572"/>
          </a:xfrm>
          <a:prstGeom prst="rect">
            <a:avLst/>
          </a:prstGeom>
          <a:solidFill>
            <a:srgbClr val="50505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30352" y="1051560"/>
            <a:ext cx="8138160" cy="32506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600"/>
              </a:spcBef>
            </a:pPr>
            <a:r>
              <a:rPr sz="2000">
                <a:solidFill>
                  <a:srgbClr val="1C1C1C"/>
                </a:solidFill>
              </a:rPr>
              <a:t>● NDIS 設計目標：跨廠商通用介面</a:t>
            </a:r>
          </a:p>
          <a:p>
            <a:pPr lvl="1">
              <a:spcBef>
                <a:spcPts val="200"/>
              </a:spcBef>
            </a:pPr>
            <a:r>
              <a:rPr sz="1700">
                <a:solidFill>
                  <a:srgbClr val="6B6B6B"/>
                </a:solidFill>
              </a:rPr>
              <a:t>  · · 任何協定 × 任何網卡 = 最大公約數</a:t>
            </a:r>
          </a:p>
          <a:p>
            <a:r>
              <a:rPr sz="600"/>
              <a:t/>
            </a:r>
          </a:p>
          <a:p>
            <a:pPr>
              <a:spcBef>
                <a:spcPts val="600"/>
              </a:spcBef>
            </a:pPr>
            <a:r>
              <a:rPr sz="2000">
                <a:solidFill>
                  <a:srgbClr val="1C1C1C"/>
                </a:solidFill>
              </a:rPr>
              <a:t>● OID 機制提供：SSID / RSSI / 掃描 / 統計</a:t>
            </a:r>
          </a:p>
          <a:p>
            <a:pPr>
              <a:spcBef>
                <a:spcPts val="600"/>
              </a:spcBef>
            </a:pPr>
            <a:r>
              <a:rPr b="1" sz="2000">
                <a:solidFill>
                  <a:srgbClr val="1C1C1C"/>
                </a:solidFill>
              </a:rPr>
              <a:t>❌ 無任何 OID 定義 CSI 查詢</a:t>
            </a:r>
          </a:p>
          <a:p>
            <a:r>
              <a:rPr sz="600"/>
              <a:t/>
            </a:r>
          </a:p>
          <a:p>
            <a:pPr>
              <a:spcBef>
                <a:spcPts val="600"/>
              </a:spcBef>
            </a:pPr>
            <a:r>
              <a:rPr b="1" sz="2000">
                <a:solidFill>
                  <a:srgbClr val="505050"/>
                </a:solidFill>
              </a:rPr>
              <a:t>▶ 為什麼無法標準化 CSI？</a:t>
            </a:r>
          </a:p>
          <a:p>
            <a:pPr lvl="1">
              <a:spcBef>
                <a:spcPts val="200"/>
              </a:spcBef>
            </a:pPr>
            <a:r>
              <a:rPr sz="1700">
                <a:solidFill>
                  <a:srgbClr val="6B6B6B"/>
                </a:solidFill>
              </a:rPr>
              <a:t>  · · Intel 5300：30 個子載波群組</a:t>
            </a:r>
          </a:p>
          <a:p>
            <a:pPr lvl="1">
              <a:spcBef>
                <a:spcPts val="200"/>
              </a:spcBef>
            </a:pPr>
            <a:r>
              <a:rPr sz="1700">
                <a:solidFill>
                  <a:srgbClr val="6B6B6B"/>
                </a:solidFill>
              </a:rPr>
              <a:t>  · · Atheros AR9380：56 個子載波</a:t>
            </a:r>
          </a:p>
          <a:p>
            <a:pPr lvl="1">
              <a:spcBef>
                <a:spcPts val="200"/>
              </a:spcBef>
            </a:pPr>
            <a:r>
              <a:rPr sz="1700">
                <a:solidFill>
                  <a:srgbClr val="6B6B6B"/>
                </a:solidFill>
              </a:rPr>
              <a:t>  · · 格式完全不同，無法取最大公約數</a:t>
            </a:r>
          </a:p>
          <a:p>
            <a:r>
              <a:rPr sz="600"/>
              <a:t/>
            </a:r>
          </a:p>
          <a:p>
            <a:pPr>
              <a:spcBef>
                <a:spcPts val="600"/>
              </a:spcBef>
            </a:pPr>
            <a:r>
              <a:rPr sz="2000">
                <a:solidFill>
                  <a:srgbClr val="1C1C1C"/>
                </a:solidFill>
              </a:rPr>
              <a:t>● 結論：通用性的代價 = 丟棄廠商私有 PHY 細節</a:t>
            </a:r>
          </a:p>
        </p:txBody>
      </p:sp>
      <p:cxnSp>
        <p:nvCxnSpPr>
          <p:cNvPr id="8" name="Connector 7"/>
          <p:cNvCxnSpPr/>
          <p:nvPr/>
        </p:nvCxnSpPr>
        <p:spPr>
          <a:xfrm>
            <a:off x="365760" y="4393688"/>
            <a:ext cx="8412480" cy="0"/>
          </a:xfrm>
          <a:prstGeom prst="line">
            <a:avLst/>
          </a:prstGeom>
          <a:ln w="6350">
            <a:solidFill>
              <a:srgbClr val="DCDCD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TextBox 8"/>
          <p:cNvSpPr txBox="1"/>
          <p:nvPr/>
        </p:nvSpPr>
        <p:spPr>
          <a:xfrm>
            <a:off x="457200" y="4393692"/>
            <a:ext cx="82296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6B6B6B"/>
                </a:solidFill>
                <a:latin typeface="Calibri"/>
              </a:rPr>
              <a:t>NDIS 的「通用性」正是 CSI 無法取得的根本原因</a:t>
            </a:r>
          </a:p>
        </p:txBody>
      </p:sp>
      <p:sp>
        <p:nvSpPr>
          <p:cNvPr id="10" name="Rectangle 9"/>
          <p:cNvSpPr/>
          <p:nvPr/>
        </p:nvSpPr>
        <p:spPr>
          <a:xfrm>
            <a:off x="0" y="4686300"/>
            <a:ext cx="9144000" cy="457200"/>
          </a:xfrm>
          <a:prstGeom prst="rect">
            <a:avLst/>
          </a:prstGeom>
          <a:gradFill rotWithShape="1">
            <a:gsLst>
              <a:gs pos="0">
                <a:srgbClr val="2A2A2A"/>
              </a:gs>
              <a:gs pos="100000">
                <a:srgbClr val="343434"/>
              </a:gs>
            </a:gsLst>
            <a:lin scaled="0" ang="0"/>
          </a:gra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274320" y="4722876"/>
            <a:ext cx="457200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B0B0B0"/>
                </a:solidFill>
                <a:latin typeface="Calibri"/>
              </a:rPr>
              <a:t>Windows 驅動堆疊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863840" y="4722876"/>
            <a:ext cx="91440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300" b="0">
                <a:solidFill>
                  <a:srgbClr val="B0B0B0"/>
                </a:solidFill>
                <a:latin typeface="Calibri"/>
              </a:rPr>
              <a:t>12 / 23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822960"/>
          </a:xfrm>
          <a:prstGeom prst="rect">
            <a:avLst/>
          </a:prstGeom>
          <a:gradFill rotWithShape="1">
            <a:gsLst>
              <a:gs pos="0">
                <a:srgbClr val="2A2A2A"/>
              </a:gs>
              <a:gs pos="100000">
                <a:srgbClr val="363636"/>
              </a:gs>
            </a:gsLst>
            <a:lin scaled="0" ang="0"/>
          </a:gra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50292" cy="822960"/>
          </a:xfrm>
          <a:prstGeom prst="rect">
            <a:avLst/>
          </a:prstGeom>
          <a:solidFill>
            <a:srgbClr val="50505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365760" y="109728"/>
            <a:ext cx="704088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>
                <a:solidFill>
                  <a:srgbClr val="FFFFFF"/>
                </a:solidFill>
                <a:latin typeface="Calibri"/>
              </a:rPr>
              <a:t>WDI：Windows 10+ 新驅動模型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498080" y="109728"/>
            <a:ext cx="128016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300" b="0">
                <a:solidFill>
                  <a:srgbClr val="B0B0B0"/>
                </a:solidFill>
                <a:latin typeface="Calibri"/>
              </a:rPr>
              <a:t>Section 2/4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4572000" y="960120"/>
            <a:ext cx="0" cy="3433572"/>
          </a:xfrm>
          <a:prstGeom prst="line">
            <a:avLst/>
          </a:prstGeom>
          <a:ln w="6350">
            <a:solidFill>
              <a:srgbClr val="DCDCD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TextBox 6"/>
          <p:cNvSpPr txBox="1"/>
          <p:nvPr/>
        </p:nvSpPr>
        <p:spPr>
          <a:xfrm>
            <a:off x="457200" y="1033272"/>
            <a:ext cx="386334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1">
                <a:solidFill>
                  <a:srgbClr val="505050"/>
                </a:solidFill>
                <a:latin typeface="Calibri"/>
              </a:rPr>
              <a:t>WDI 改變了什麼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1463040"/>
            <a:ext cx="3863340" cy="28392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500"/>
              </a:spcBef>
            </a:pPr>
            <a:r>
              <a:rPr sz="1700">
                <a:solidFill>
                  <a:srgbClr val="1C1C1C"/>
                </a:solidFill>
              </a:rPr>
              <a:t>WLAN Device Driver Interface（WDI）</a:t>
            </a:r>
          </a:p>
          <a:p>
            <a:pPr>
              <a:spcBef>
                <a:spcPts val="500"/>
              </a:spcBef>
            </a:pPr>
            <a:r>
              <a:rPr sz="1700">
                <a:solidFill>
                  <a:srgbClr val="1C1C1C"/>
                </a:solidFill>
              </a:rPr>
              <a:t>Win10 引入，取代部分 NDIS WiFi 介面</a:t>
            </a:r>
          </a:p>
          <a:p>
            <a:pPr>
              <a:spcBef>
                <a:spcPts val="500"/>
              </a:spcBef>
            </a:pPr>
            <a:r>
              <a:rPr sz="1700">
                <a:solidFill>
                  <a:srgbClr val="1C1C1C"/>
                </a:solidFill>
              </a:rPr>
              <a:t>將驅動分為：</a:t>
            </a:r>
          </a:p>
          <a:p>
            <a:pPr>
              <a:spcBef>
                <a:spcPts val="200"/>
              </a:spcBef>
            </a:pPr>
            <a:r>
              <a:rPr sz="1500">
                <a:solidFill>
                  <a:srgbClr val="6B6B6B"/>
                </a:solidFill>
              </a:rPr>
              <a:t>  · IHV 元件（UMDF，User Mode）</a:t>
            </a:r>
          </a:p>
          <a:p>
            <a:pPr>
              <a:spcBef>
                <a:spcPts val="200"/>
              </a:spcBef>
            </a:pPr>
            <a:r>
              <a:rPr sz="1500">
                <a:solidFill>
                  <a:srgbClr val="6B6B6B"/>
                </a:solidFill>
              </a:rPr>
              <a:t>  · WDI 框架（KMDF，Kernel Mode）</a:t>
            </a:r>
          </a:p>
          <a:p>
            <a:pPr>
              <a:spcBef>
                <a:spcPts val="500"/>
              </a:spcBef>
            </a:pPr>
            <a:r>
              <a:rPr sz="1700">
                <a:solidFill>
                  <a:srgbClr val="1C1C1C"/>
                </a:solidFill>
              </a:rPr>
              <a:t>降低藍屏風險（User Mode crash 不致命）</a:t>
            </a:r>
          </a:p>
          <a:p>
            <a:pPr>
              <a:spcBef>
                <a:spcPts val="500"/>
              </a:spcBef>
            </a:pPr>
            <a:r>
              <a:rPr sz="1700">
                <a:solidFill>
                  <a:srgbClr val="1C1C1C"/>
                </a:solidFill>
              </a:rPr>
              <a:t>簡化 IHV 驅動開發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823460" y="1033272"/>
            <a:ext cx="386334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1">
                <a:solidFill>
                  <a:srgbClr val="505050"/>
                </a:solidFill>
                <a:latin typeface="Calibri"/>
              </a:rPr>
              <a:t>WDI 對 CSI 的影響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823460" y="1463040"/>
            <a:ext cx="3863340" cy="28392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500"/>
              </a:spcBef>
            </a:pPr>
            <a:r>
              <a:rPr sz="1700" b="1">
                <a:solidFill>
                  <a:srgbClr val="1C1C1C"/>
                </a:solidFill>
              </a:rPr>
              <a:t>❌ WDI Task/Property 定義中</a:t>
            </a:r>
          </a:p>
          <a:p>
            <a:pPr>
              <a:spcBef>
                <a:spcPts val="200"/>
              </a:spcBef>
            </a:pPr>
            <a:r>
              <a:rPr sz="1500">
                <a:solidFill>
                  <a:srgbClr val="6B6B6B"/>
                </a:solidFill>
              </a:rPr>
              <a:t>   同樣沒有 CSI 相關介面</a:t>
            </a:r>
          </a:p>
          <a:p>
            <a:r>
              <a:rPr sz="600"/>
              <a:t/>
            </a:r>
          </a:p>
          <a:p>
            <a:pPr>
              <a:spcBef>
                <a:spcPts val="500"/>
              </a:spcBef>
            </a:pPr>
            <a:r>
              <a:rPr sz="1700">
                <a:solidFill>
                  <a:srgbClr val="1C1C1C"/>
                </a:solidFill>
              </a:rPr>
              <a:t>WDITASK 清單（部分）：</a:t>
            </a:r>
          </a:p>
          <a:p>
            <a:pPr>
              <a:spcBef>
                <a:spcPts val="200"/>
              </a:spcBef>
            </a:pPr>
            <a:r>
              <a:rPr sz="1500">
                <a:solidFill>
                  <a:srgbClr val="6B6B6B"/>
                </a:solidFill>
              </a:rPr>
              <a:t>  · TaskScan</a:t>
            </a:r>
          </a:p>
          <a:p>
            <a:pPr>
              <a:spcBef>
                <a:spcPts val="200"/>
              </a:spcBef>
            </a:pPr>
            <a:r>
              <a:rPr sz="1500">
                <a:solidFill>
                  <a:srgbClr val="6B6B6B"/>
                </a:solidFill>
              </a:rPr>
              <a:t>  · TaskConnect</a:t>
            </a:r>
          </a:p>
          <a:p>
            <a:pPr>
              <a:spcBef>
                <a:spcPts val="200"/>
              </a:spcBef>
            </a:pPr>
            <a:r>
              <a:rPr sz="1500">
                <a:solidFill>
                  <a:srgbClr val="6B6B6B"/>
                </a:solidFill>
              </a:rPr>
              <a:t>  · TaskDisconnect</a:t>
            </a:r>
          </a:p>
          <a:p>
            <a:pPr>
              <a:spcBef>
                <a:spcPts val="200"/>
              </a:spcBef>
            </a:pPr>
            <a:r>
              <a:rPr sz="1500">
                <a:solidFill>
                  <a:srgbClr val="6B6B6B"/>
                </a:solidFill>
              </a:rPr>
              <a:t>  · TaskSendRequest</a:t>
            </a:r>
          </a:p>
          <a:p>
            <a:r>
              <a:rPr sz="600"/>
              <a:t/>
            </a:r>
          </a:p>
          <a:p>
            <a:pPr>
              <a:spcBef>
                <a:spcPts val="500"/>
              </a:spcBef>
            </a:pPr>
            <a:r>
              <a:rPr sz="1700">
                <a:solidFill>
                  <a:srgbClr val="1C1C1C"/>
                </a:solidFill>
              </a:rPr>
              <a:t>→ 架構更新，但 CSI 缺席問題未解決</a:t>
            </a:r>
          </a:p>
        </p:txBody>
      </p:sp>
      <p:cxnSp>
        <p:nvCxnSpPr>
          <p:cNvPr id="11" name="Connector 10"/>
          <p:cNvCxnSpPr/>
          <p:nvPr/>
        </p:nvCxnSpPr>
        <p:spPr>
          <a:xfrm>
            <a:off x="365760" y="4393688"/>
            <a:ext cx="8412480" cy="0"/>
          </a:xfrm>
          <a:prstGeom prst="line">
            <a:avLst/>
          </a:prstGeom>
          <a:ln w="6350">
            <a:solidFill>
              <a:srgbClr val="DCDCD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" name="TextBox 11"/>
          <p:cNvSpPr txBox="1"/>
          <p:nvPr/>
        </p:nvSpPr>
        <p:spPr>
          <a:xfrm>
            <a:off x="457200" y="4393692"/>
            <a:ext cx="82296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6B6B6B"/>
                </a:solidFill>
                <a:latin typeface="Calibri"/>
              </a:rPr>
              <a:t>WDI 是架構改進，不是 PHY 資料暴露的嘗試</a:t>
            </a:r>
          </a:p>
        </p:txBody>
      </p:sp>
      <p:sp>
        <p:nvSpPr>
          <p:cNvPr id="13" name="Rectangle 12"/>
          <p:cNvSpPr/>
          <p:nvPr/>
        </p:nvSpPr>
        <p:spPr>
          <a:xfrm>
            <a:off x="0" y="4686300"/>
            <a:ext cx="9144000" cy="457200"/>
          </a:xfrm>
          <a:prstGeom prst="rect">
            <a:avLst/>
          </a:prstGeom>
          <a:gradFill rotWithShape="1">
            <a:gsLst>
              <a:gs pos="0">
                <a:srgbClr val="2A2A2A"/>
              </a:gs>
              <a:gs pos="100000">
                <a:srgbClr val="343434"/>
              </a:gs>
            </a:gsLst>
            <a:lin scaled="0" ang="0"/>
          </a:gra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274320" y="4722876"/>
            <a:ext cx="457200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B0B0B0"/>
                </a:solidFill>
                <a:latin typeface="Calibri"/>
              </a:rPr>
              <a:t>Windows 驅動堆疊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863840" y="4722876"/>
            <a:ext cx="91440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300" b="0">
                <a:solidFill>
                  <a:srgbClr val="B0B0B0"/>
                </a:solidFill>
                <a:latin typeface="Calibri"/>
              </a:rPr>
              <a:t>13 / 23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822960"/>
          </a:xfrm>
          <a:prstGeom prst="rect">
            <a:avLst/>
          </a:prstGeom>
          <a:gradFill rotWithShape="1">
            <a:gsLst>
              <a:gs pos="0">
                <a:srgbClr val="2A2A2A"/>
              </a:gs>
              <a:gs pos="100000">
                <a:srgbClr val="363636"/>
              </a:gs>
            </a:gsLst>
            <a:lin scaled="0" ang="0"/>
          </a:gra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50292" cy="822960"/>
          </a:xfrm>
          <a:prstGeom prst="rect">
            <a:avLst/>
          </a:prstGeom>
          <a:solidFill>
            <a:srgbClr val="50505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365760" y="109728"/>
            <a:ext cx="704088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>
                <a:solidFill>
                  <a:srgbClr val="FFFFFF"/>
                </a:solidFill>
                <a:latin typeface="Calibri"/>
              </a:rPr>
              <a:t>CSI 消失點分析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498080" y="109728"/>
            <a:ext cx="128016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300" b="0">
                <a:solidFill>
                  <a:srgbClr val="B0B0B0"/>
                </a:solidFill>
                <a:latin typeface="Calibri"/>
              </a:rPr>
              <a:t>Section 2/4</a:t>
            </a:r>
          </a:p>
        </p:txBody>
      </p:sp>
      <p:sp>
        <p:nvSpPr>
          <p:cNvPr id="6" name="Rectangle 5"/>
          <p:cNvSpPr/>
          <p:nvPr/>
        </p:nvSpPr>
        <p:spPr>
          <a:xfrm>
            <a:off x="365760" y="1005840"/>
            <a:ext cx="4754880" cy="402336"/>
          </a:xfrm>
          <a:prstGeom prst="rect">
            <a:avLst/>
          </a:prstGeom>
          <a:solidFill>
            <a:srgbClr val="2C2C2C"/>
          </a:solidFill>
          <a:ln w="12700">
            <a:solidFill>
              <a:srgbClr val="50505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400" b="1">
                <a:solidFill>
                  <a:srgbClr val="FFFFFF"/>
                </a:solidFill>
                <a:latin typeface="Calibri"/>
              </a:rPr>
              <a:t>應用程式 / WinSock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303520" y="1051560"/>
            <a:ext cx="3474720" cy="40233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6B6B6B"/>
                </a:solidFill>
                <a:latin typeface="Calibri"/>
              </a:rPr>
              <a:t>無法感知 CSI 存在</a:t>
            </a:r>
          </a:p>
        </p:txBody>
      </p:sp>
      <p:sp>
        <p:nvSpPr>
          <p:cNvPr id="8" name="Rectangle 7"/>
          <p:cNvSpPr/>
          <p:nvPr/>
        </p:nvSpPr>
        <p:spPr>
          <a:xfrm>
            <a:off x="365760" y="1444752"/>
            <a:ext cx="4754880" cy="402336"/>
          </a:xfrm>
          <a:prstGeom prst="rect">
            <a:avLst/>
          </a:prstGeom>
          <a:solidFill>
            <a:srgbClr val="2C2C2C"/>
          </a:solidFill>
          <a:ln w="12700">
            <a:solidFill>
              <a:srgbClr val="50505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400" b="1">
                <a:solidFill>
                  <a:srgbClr val="FFFFFF"/>
                </a:solidFill>
                <a:latin typeface="Calibri"/>
              </a:rPr>
              <a:t>tcpip.sys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303520" y="1490472"/>
            <a:ext cx="3474720" cy="40233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6B6B6B"/>
                </a:solidFill>
                <a:latin typeface="Calibri"/>
              </a:rPr>
              <a:t>只處理 IP 封包</a:t>
            </a:r>
          </a:p>
        </p:txBody>
      </p:sp>
      <p:sp>
        <p:nvSpPr>
          <p:cNvPr id="10" name="Rectangle 9"/>
          <p:cNvSpPr/>
          <p:nvPr/>
        </p:nvSpPr>
        <p:spPr>
          <a:xfrm>
            <a:off x="365760" y="1883664"/>
            <a:ext cx="4754880" cy="402336"/>
          </a:xfrm>
          <a:prstGeom prst="rect">
            <a:avLst/>
          </a:prstGeom>
          <a:solidFill>
            <a:srgbClr val="5A5A5A"/>
          </a:solidFill>
          <a:ln w="31750">
            <a:solidFill>
              <a:srgbClr val="88888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400" b="1">
                <a:solidFill>
                  <a:srgbClr val="FFFFFF"/>
                </a:solidFill>
                <a:latin typeface="Calibri"/>
              </a:rPr>
              <a:t>ndis.sys（NDIS）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303520" y="1929384"/>
            <a:ext cx="3474720" cy="40233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7A7A7A"/>
                </a:solidFill>
                <a:latin typeface="Calibri"/>
              </a:rPr>
              <a:t>無 CSI OID 定義</a:t>
            </a:r>
          </a:p>
        </p:txBody>
      </p:sp>
      <p:sp>
        <p:nvSpPr>
          <p:cNvPr id="12" name="Rectangle 11"/>
          <p:cNvSpPr/>
          <p:nvPr/>
        </p:nvSpPr>
        <p:spPr>
          <a:xfrm>
            <a:off x="365760" y="2322576"/>
            <a:ext cx="4754880" cy="402336"/>
          </a:xfrm>
          <a:prstGeom prst="rect">
            <a:avLst/>
          </a:prstGeom>
          <a:solidFill>
            <a:srgbClr val="3A3A3A"/>
          </a:solidFill>
          <a:ln w="31750">
            <a:solidFill>
              <a:srgbClr val="AAAAA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400" b="1">
                <a:solidFill>
                  <a:srgbClr val="FFFFFF"/>
                </a:solidFill>
                <a:latin typeface="Calibri"/>
              </a:rPr>
              <a:t>nwifi.sys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303520" y="2368296"/>
            <a:ext cx="3474720" cy="40233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4A4A4A"/>
                </a:solidFill>
                <a:latin typeface="Calibri"/>
              </a:rPr>
              <a:t>丟棄所有 PHY metadata</a:t>
            </a:r>
          </a:p>
        </p:txBody>
      </p:sp>
      <p:sp>
        <p:nvSpPr>
          <p:cNvPr id="14" name="Rectangle 13"/>
          <p:cNvSpPr/>
          <p:nvPr/>
        </p:nvSpPr>
        <p:spPr>
          <a:xfrm>
            <a:off x="365760" y="2761488"/>
            <a:ext cx="4754880" cy="402336"/>
          </a:xfrm>
          <a:prstGeom prst="rect">
            <a:avLst/>
          </a:prstGeom>
          <a:solidFill>
            <a:srgbClr val="3A3A3A"/>
          </a:solidFill>
          <a:ln w="31750">
            <a:solidFill>
              <a:srgbClr val="AAAAA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400" b="1">
                <a:solidFill>
                  <a:srgbClr val="FFFFFF"/>
                </a:solidFill>
                <a:latin typeface="Calibri"/>
              </a:rPr>
              <a:t>OEM.sys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303520" y="2807208"/>
            <a:ext cx="3474720" cy="40233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4A4A4A"/>
                </a:solidFill>
                <a:latin typeface="Calibri"/>
              </a:rPr>
              <a:t>能讀取 CSI，但不上報</a:t>
            </a:r>
          </a:p>
        </p:txBody>
      </p:sp>
      <p:sp>
        <p:nvSpPr>
          <p:cNvPr id="16" name="Rectangle 15"/>
          <p:cNvSpPr/>
          <p:nvPr/>
        </p:nvSpPr>
        <p:spPr>
          <a:xfrm>
            <a:off x="365760" y="3200400"/>
            <a:ext cx="4754880" cy="402336"/>
          </a:xfrm>
          <a:prstGeom prst="rect">
            <a:avLst/>
          </a:prstGeom>
          <a:solidFill>
            <a:srgbClr val="707070"/>
          </a:solidFill>
          <a:ln w="12700">
            <a:solidFill>
              <a:srgbClr val="80808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400" b="1">
                <a:solidFill>
                  <a:srgbClr val="FFFFFF"/>
                </a:solidFill>
                <a:latin typeface="Calibri"/>
              </a:rPr>
              <a:t>NIC 韌體 + 硬體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303520" y="3246120"/>
            <a:ext cx="3474720" cy="40233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808080"/>
                </a:solidFill>
                <a:latin typeface="Calibri"/>
              </a:rPr>
              <a:t>CSI 計算並儲存於此</a:t>
            </a:r>
          </a:p>
        </p:txBody>
      </p:sp>
      <p:cxnSp>
        <p:nvCxnSpPr>
          <p:cNvPr id="18" name="Connector 17"/>
          <p:cNvCxnSpPr/>
          <p:nvPr/>
        </p:nvCxnSpPr>
        <p:spPr>
          <a:xfrm>
            <a:off x="365760" y="4393688"/>
            <a:ext cx="8412480" cy="0"/>
          </a:xfrm>
          <a:prstGeom prst="line">
            <a:avLst/>
          </a:prstGeom>
          <a:ln w="6350">
            <a:solidFill>
              <a:srgbClr val="DCDCD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9" name="TextBox 18"/>
          <p:cNvSpPr txBox="1"/>
          <p:nvPr/>
        </p:nvSpPr>
        <p:spPr>
          <a:xfrm>
            <a:off x="457200" y="4393692"/>
            <a:ext cx="82296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6B6B6B"/>
                </a:solidFill>
                <a:latin typeface="Calibri"/>
              </a:rPr>
              <a:t>CSI 消失於 OEM.sys ↔ nwifi.sys 介面：OEM.sys 有能力讀取但選擇不轉發，nwifi.sys 也不要求</a:t>
            </a:r>
          </a:p>
        </p:txBody>
      </p:sp>
      <p:sp>
        <p:nvSpPr>
          <p:cNvPr id="20" name="Rectangle 19"/>
          <p:cNvSpPr/>
          <p:nvPr/>
        </p:nvSpPr>
        <p:spPr>
          <a:xfrm>
            <a:off x="0" y="4686300"/>
            <a:ext cx="9144000" cy="457200"/>
          </a:xfrm>
          <a:prstGeom prst="rect">
            <a:avLst/>
          </a:prstGeom>
          <a:gradFill rotWithShape="1">
            <a:gsLst>
              <a:gs pos="0">
                <a:srgbClr val="2A2A2A"/>
              </a:gs>
              <a:gs pos="100000">
                <a:srgbClr val="343434"/>
              </a:gs>
            </a:gsLst>
            <a:lin scaled="0" ang="0"/>
          </a:gra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274320" y="4722876"/>
            <a:ext cx="457200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B0B0B0"/>
                </a:solidFill>
                <a:latin typeface="Calibri"/>
              </a:rPr>
              <a:t>Windows 驅動堆疊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7863840" y="4722876"/>
            <a:ext cx="91440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300" b="0">
                <a:solidFill>
                  <a:srgbClr val="B0B0B0"/>
                </a:solidFill>
                <a:latin typeface="Calibri"/>
              </a:rPr>
              <a:t>14 / 23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gradFill rotWithShape="1">
            <a:gsLst>
              <a:gs pos="0">
                <a:srgbClr val="222222"/>
              </a:gs>
              <a:gs pos="100000">
                <a:srgbClr val="2E2E2E"/>
              </a:gs>
            </a:gsLst>
            <a:lin scaled="0" ang="5400000"/>
          </a:gra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9144000" cy="109728"/>
          </a:xfrm>
          <a:prstGeom prst="rect">
            <a:avLst/>
          </a:prstGeom>
          <a:solidFill>
            <a:srgbClr val="50505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943600" y="731520"/>
            <a:ext cx="2743200" cy="3200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6000" b="1">
                <a:solidFill>
                  <a:srgbClr val="333333"/>
                </a:solidFill>
                <a:latin typeface="Calibri"/>
              </a:rPr>
              <a:t>3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645920"/>
            <a:ext cx="6400800" cy="1188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4400" b="1">
                <a:solidFill>
                  <a:srgbClr val="FFFFFF"/>
                </a:solidFill>
                <a:latin typeface="Calibri"/>
              </a:rPr>
              <a:t>替代方案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2834640"/>
            <a:ext cx="68580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0">
                <a:solidFill>
                  <a:srgbClr val="505050"/>
                </a:solidFill>
                <a:latin typeface="Calibri"/>
              </a:rPr>
              <a:t>Linux 生態 vs Windows 限制</a:t>
            </a:r>
          </a:p>
        </p:txBody>
      </p:sp>
      <p:cxnSp>
        <p:nvCxnSpPr>
          <p:cNvPr id="7" name="Connector 6"/>
          <p:cNvCxnSpPr/>
          <p:nvPr/>
        </p:nvCxnSpPr>
        <p:spPr>
          <a:xfrm>
            <a:off x="365760" y="3840480"/>
            <a:ext cx="8412480" cy="0"/>
          </a:xfrm>
          <a:prstGeom prst="line">
            <a:avLst/>
          </a:prstGeom>
          <a:ln w="19050">
            <a:solidFill>
              <a:srgbClr val="50505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" name="Rectangle 7"/>
          <p:cNvSpPr/>
          <p:nvPr/>
        </p:nvSpPr>
        <p:spPr>
          <a:xfrm>
            <a:off x="0" y="4686300"/>
            <a:ext cx="9144000" cy="457200"/>
          </a:xfrm>
          <a:prstGeom prst="rect">
            <a:avLst/>
          </a:prstGeom>
          <a:gradFill rotWithShape="1">
            <a:gsLst>
              <a:gs pos="0">
                <a:srgbClr val="2A2A2A"/>
              </a:gs>
              <a:gs pos="100000">
                <a:srgbClr val="343434"/>
              </a:gs>
            </a:gsLst>
            <a:lin scaled="0" ang="0"/>
          </a:gra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274320" y="4722876"/>
            <a:ext cx="457200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B0B0B0"/>
                </a:solidFill>
                <a:latin typeface="Calibri"/>
              </a:rPr>
              <a:t>替代方案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863840" y="4722876"/>
            <a:ext cx="91440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300" b="0">
                <a:solidFill>
                  <a:srgbClr val="B0B0B0"/>
                </a:solidFill>
                <a:latin typeface="Calibri"/>
              </a:rPr>
              <a:t>15 / 23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822960"/>
          </a:xfrm>
          <a:prstGeom prst="rect">
            <a:avLst/>
          </a:prstGeom>
          <a:gradFill rotWithShape="1">
            <a:gsLst>
              <a:gs pos="0">
                <a:srgbClr val="2A2A2A"/>
              </a:gs>
              <a:gs pos="100000">
                <a:srgbClr val="363636"/>
              </a:gs>
            </a:gsLst>
            <a:lin scaled="0" ang="0"/>
          </a:gra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50292" cy="822960"/>
          </a:xfrm>
          <a:prstGeom prst="rect">
            <a:avLst/>
          </a:prstGeom>
          <a:solidFill>
            <a:srgbClr val="50505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365760" y="109728"/>
            <a:ext cx="704088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>
                <a:solidFill>
                  <a:srgbClr val="FFFFFF"/>
                </a:solidFill>
                <a:latin typeface="Calibri"/>
              </a:rPr>
              <a:t>為什麼 Linux 可以取得 CSI？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498080" y="109728"/>
            <a:ext cx="128016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300" b="0">
                <a:solidFill>
                  <a:srgbClr val="B0B0B0"/>
                </a:solidFill>
                <a:latin typeface="Calibri"/>
              </a:rPr>
              <a:t>Section 3/4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4572000" y="960120"/>
            <a:ext cx="0" cy="3433572"/>
          </a:xfrm>
          <a:prstGeom prst="line">
            <a:avLst/>
          </a:prstGeom>
          <a:ln w="6350">
            <a:solidFill>
              <a:srgbClr val="DCDCD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TextBox 6"/>
          <p:cNvSpPr txBox="1"/>
          <p:nvPr/>
        </p:nvSpPr>
        <p:spPr>
          <a:xfrm>
            <a:off x="457200" y="1033272"/>
            <a:ext cx="386334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1">
                <a:solidFill>
                  <a:srgbClr val="505050"/>
                </a:solidFill>
                <a:latin typeface="Calibri"/>
              </a:rPr>
              <a:t>Linux 驅動架構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1463040"/>
            <a:ext cx="3863340" cy="28392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500"/>
              </a:spcBef>
            </a:pPr>
            <a:r>
              <a:rPr sz="1700">
                <a:solidFill>
                  <a:srgbClr val="1C1C1C"/>
                </a:solidFill>
              </a:rPr>
              <a:t>cfg80211：802.11 設定框架</a:t>
            </a:r>
          </a:p>
          <a:p>
            <a:pPr>
              <a:spcBef>
                <a:spcPts val="500"/>
              </a:spcBef>
            </a:pPr>
            <a:r>
              <a:rPr sz="1700">
                <a:solidFill>
                  <a:srgbClr val="1C1C1C"/>
                </a:solidFill>
              </a:rPr>
              <a:t>mac80211：軟體 MAC 實作</a:t>
            </a:r>
          </a:p>
          <a:p>
            <a:pPr>
              <a:spcBef>
                <a:spcPts val="500"/>
              </a:spcBef>
            </a:pPr>
            <a:r>
              <a:rPr sz="1700">
                <a:solidFill>
                  <a:srgbClr val="1C1C1C"/>
                </a:solidFill>
              </a:rPr>
              <a:t>nl80211：Netlink 介面（用戶空間↔核心）</a:t>
            </a:r>
          </a:p>
          <a:p>
            <a:r>
              <a:rPr sz="600"/>
              <a:t/>
            </a:r>
          </a:p>
          <a:p>
            <a:pPr>
              <a:spcBef>
                <a:spcPts val="500"/>
              </a:spcBef>
            </a:pPr>
            <a:r>
              <a:rPr sz="1700">
                <a:solidFill>
                  <a:srgbClr val="1C1C1C"/>
                </a:solidFill>
              </a:rPr>
              <a:t>關鍵差異：開源驅動</a:t>
            </a:r>
          </a:p>
          <a:p>
            <a:pPr>
              <a:spcBef>
                <a:spcPts val="200"/>
              </a:spcBef>
            </a:pPr>
            <a:r>
              <a:rPr sz="1500">
                <a:solidFill>
                  <a:srgbClr val="6B6B6B"/>
                </a:solidFill>
              </a:rPr>
              <a:t>  · iwlwifi（Intel）可修改</a:t>
            </a:r>
          </a:p>
          <a:p>
            <a:pPr>
              <a:spcBef>
                <a:spcPts val="200"/>
              </a:spcBef>
            </a:pPr>
            <a:r>
              <a:rPr sz="1500">
                <a:solidFill>
                  <a:srgbClr val="6B6B6B"/>
                </a:solidFill>
              </a:rPr>
              <a:t>  · ath9k（Atheros）可修改</a:t>
            </a:r>
          </a:p>
          <a:p>
            <a:pPr>
              <a:spcBef>
                <a:spcPts val="200"/>
              </a:spcBef>
            </a:pPr>
            <a:r>
              <a:rPr sz="1500">
                <a:solidFill>
                  <a:srgbClr val="6B6B6B"/>
                </a:solidFill>
              </a:rPr>
              <a:t>  · brcmfmac（Broadcom）可 patch 韌體</a:t>
            </a:r>
          </a:p>
          <a:p>
            <a:r>
              <a:rPr sz="600"/>
              <a:t/>
            </a:r>
          </a:p>
          <a:p>
            <a:pPr>
              <a:spcBef>
                <a:spcPts val="500"/>
              </a:spcBef>
            </a:pPr>
            <a:r>
              <a:rPr sz="1700">
                <a:solidFill>
                  <a:srgbClr val="1C1C1C"/>
                </a:solidFill>
              </a:rPr>
              <a:t>debugfs 介面：</a:t>
            </a:r>
          </a:p>
          <a:p>
            <a:pPr>
              <a:spcBef>
                <a:spcPts val="200"/>
              </a:spcBef>
            </a:pPr>
            <a:r>
              <a:rPr sz="1500">
                <a:solidFill>
                  <a:srgbClr val="6B6B6B"/>
                </a:solidFill>
              </a:rPr>
              <a:t>  /sys/kernel/debug/ieee80211/</a:t>
            </a:r>
          </a:p>
          <a:p>
            <a:pPr>
              <a:spcBef>
                <a:spcPts val="200"/>
              </a:spcBef>
            </a:pPr>
            <a:r>
              <a:rPr sz="1500">
                <a:solidFill>
                  <a:srgbClr val="6B6B6B"/>
                </a:solidFill>
              </a:rPr>
              <a:t>  部分驅動在此暴露 CSI 原始資料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823460" y="1033272"/>
            <a:ext cx="386334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1">
                <a:solidFill>
                  <a:srgbClr val="505050"/>
                </a:solidFill>
                <a:latin typeface="Calibri"/>
              </a:rPr>
              <a:t>Windows 的根本差異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823460" y="1463040"/>
            <a:ext cx="3863340" cy="28392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500"/>
              </a:spcBef>
            </a:pPr>
            <a:r>
              <a:rPr sz="1700" b="1">
                <a:solidFill>
                  <a:srgbClr val="1C1C1C"/>
                </a:solidFill>
              </a:rPr>
              <a:t>✗ OEM.sys 為閉源二進位</a:t>
            </a:r>
          </a:p>
          <a:p>
            <a:pPr>
              <a:spcBef>
                <a:spcPts val="500"/>
              </a:spcBef>
            </a:pPr>
            <a:r>
              <a:rPr sz="1700" b="1">
                <a:solidFill>
                  <a:srgbClr val="1C1C1C"/>
                </a:solidFill>
              </a:rPr>
              <a:t>✗ NDIS 介面固定，無擴充 CSI 的機制</a:t>
            </a:r>
          </a:p>
          <a:p>
            <a:pPr>
              <a:spcBef>
                <a:spcPts val="500"/>
              </a:spcBef>
            </a:pPr>
            <a:r>
              <a:rPr sz="1700" b="1">
                <a:solidFill>
                  <a:srgbClr val="1C1C1C"/>
                </a:solidFill>
              </a:rPr>
              <a:t>✗ 無等同 debugfs 的 PHY 資料介面</a:t>
            </a:r>
          </a:p>
          <a:p>
            <a:pPr>
              <a:spcBef>
                <a:spcPts val="500"/>
              </a:spcBef>
            </a:pPr>
            <a:r>
              <a:rPr sz="1700" b="1">
                <a:solidFill>
                  <a:srgbClr val="1C1C1C"/>
                </a:solidFill>
              </a:rPr>
              <a:t>✗ 韌體修改需要 WHQL 簽章</a:t>
            </a:r>
          </a:p>
          <a:p>
            <a:r>
              <a:rPr sz="600"/>
              <a:t/>
            </a:r>
          </a:p>
          <a:p>
            <a:pPr>
              <a:spcBef>
                <a:spcPts val="500"/>
              </a:spcBef>
            </a:pPr>
            <a:r>
              <a:rPr sz="1700">
                <a:solidFill>
                  <a:srgbClr val="1C1C1C"/>
                </a:solidFill>
              </a:rPr>
              <a:t>→ Linux 的可行性來自</a:t>
            </a:r>
          </a:p>
          <a:p>
            <a:pPr>
              <a:spcBef>
                <a:spcPts val="200"/>
              </a:spcBef>
            </a:pPr>
            <a:r>
              <a:rPr sz="1500">
                <a:solidFill>
                  <a:srgbClr val="6B6B6B"/>
                </a:solidFill>
              </a:rPr>
              <a:t>  開源 + 可修改驅動 + 彈性的核心介面</a:t>
            </a:r>
          </a:p>
          <a:p>
            <a:pPr>
              <a:spcBef>
                <a:spcPts val="200"/>
              </a:spcBef>
            </a:pPr>
            <a:r>
              <a:rPr sz="1500">
                <a:solidFill>
                  <a:srgbClr val="6B6B6B"/>
                </a:solidFill>
              </a:rPr>
              <a:t>  不是 Windows 的「bug」，是設計哲學差異</a:t>
            </a:r>
          </a:p>
        </p:txBody>
      </p:sp>
      <p:cxnSp>
        <p:nvCxnSpPr>
          <p:cNvPr id="11" name="Connector 10"/>
          <p:cNvCxnSpPr/>
          <p:nvPr/>
        </p:nvCxnSpPr>
        <p:spPr>
          <a:xfrm>
            <a:off x="365760" y="4393688"/>
            <a:ext cx="8412480" cy="0"/>
          </a:xfrm>
          <a:prstGeom prst="line">
            <a:avLst/>
          </a:prstGeom>
          <a:ln w="6350">
            <a:solidFill>
              <a:srgbClr val="DCDCD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" name="TextBox 11"/>
          <p:cNvSpPr txBox="1"/>
          <p:nvPr/>
        </p:nvSpPr>
        <p:spPr>
          <a:xfrm>
            <a:off x="457200" y="4393692"/>
            <a:ext cx="82296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6B6B6B"/>
                </a:solidFill>
                <a:latin typeface="Calibri"/>
              </a:rPr>
              <a:t>Linux 的可行性來自開源生態，不是 Windows 的設計缺陷</a:t>
            </a:r>
          </a:p>
        </p:txBody>
      </p:sp>
      <p:sp>
        <p:nvSpPr>
          <p:cNvPr id="13" name="Rectangle 12"/>
          <p:cNvSpPr/>
          <p:nvPr/>
        </p:nvSpPr>
        <p:spPr>
          <a:xfrm>
            <a:off x="0" y="4686300"/>
            <a:ext cx="9144000" cy="457200"/>
          </a:xfrm>
          <a:prstGeom prst="rect">
            <a:avLst/>
          </a:prstGeom>
          <a:gradFill rotWithShape="1">
            <a:gsLst>
              <a:gs pos="0">
                <a:srgbClr val="2A2A2A"/>
              </a:gs>
              <a:gs pos="100000">
                <a:srgbClr val="343434"/>
              </a:gs>
            </a:gsLst>
            <a:lin scaled="0" ang="0"/>
          </a:gra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274320" y="4722876"/>
            <a:ext cx="457200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B0B0B0"/>
                </a:solidFill>
                <a:latin typeface="Calibri"/>
              </a:rPr>
              <a:t>替代方案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863840" y="4722876"/>
            <a:ext cx="91440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300" b="0">
                <a:solidFill>
                  <a:srgbClr val="B0B0B0"/>
                </a:solidFill>
                <a:latin typeface="Calibri"/>
              </a:rPr>
              <a:t>16 / 23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822960"/>
          </a:xfrm>
          <a:prstGeom prst="rect">
            <a:avLst/>
          </a:prstGeom>
          <a:gradFill rotWithShape="1">
            <a:gsLst>
              <a:gs pos="0">
                <a:srgbClr val="2A2A2A"/>
              </a:gs>
              <a:gs pos="100000">
                <a:srgbClr val="363636"/>
              </a:gs>
            </a:gsLst>
            <a:lin scaled="0" ang="0"/>
          </a:gra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50292" cy="822960"/>
          </a:xfrm>
          <a:prstGeom prst="rect">
            <a:avLst/>
          </a:prstGeom>
          <a:solidFill>
            <a:srgbClr val="50505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365760" y="109728"/>
            <a:ext cx="704088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>
                <a:solidFill>
                  <a:srgbClr val="FFFFFF"/>
                </a:solidFill>
                <a:latin typeface="Calibri"/>
              </a:rPr>
              <a:t>現代 CSI 工具生態（全部 Linux-only）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498080" y="109728"/>
            <a:ext cx="128016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300" b="0">
                <a:solidFill>
                  <a:srgbClr val="B0B0B0"/>
                </a:solidFill>
                <a:latin typeface="Calibri"/>
              </a:rPr>
              <a:t>Section 3/4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411480" y="1033272"/>
          <a:ext cx="8321040" cy="3163824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664208"/>
                <a:gridCol w="1664208"/>
                <a:gridCol w="1664208"/>
                <a:gridCol w="1664208"/>
                <a:gridCol w="1664208"/>
              </a:tblGrid>
              <a:tr h="451974">
                <a:tc>
                  <a:txBody>
                    <a:bodyPr/>
                    <a:lstStyle/>
                    <a:p>
                      <a:pPr algn="ctr"/>
                      <a:r>
                        <a:rPr b="1" sz="1500">
                          <a:solidFill>
                            <a:srgbClr val="FFFFFF"/>
                          </a:solidFill>
                          <a:latin typeface="Calibri"/>
                        </a:rPr>
                        <a:t>工具</a:t>
                      </a:r>
                    </a:p>
                  </a:txBody>
                  <a:tcPr marL="73152" marR="73152" marT="45720" marB="45720">
                    <a:solidFill>
                      <a:srgbClr val="2A2A2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b="1" sz="1500">
                          <a:solidFill>
                            <a:srgbClr val="FFFFFF"/>
                          </a:solidFill>
                          <a:latin typeface="Calibri"/>
                        </a:rPr>
                        <a:t>硬體</a:t>
                      </a:r>
                    </a:p>
                  </a:txBody>
                  <a:tcPr marL="73152" marR="73152" marT="45720" marB="45720">
                    <a:solidFill>
                      <a:srgbClr val="2A2A2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b="1" sz="1500">
                          <a:solidFill>
                            <a:srgbClr val="FFFFFF"/>
                          </a:solidFill>
                          <a:latin typeface="Calibri"/>
                        </a:rPr>
                        <a:t>標準</a:t>
                      </a:r>
                    </a:p>
                  </a:txBody>
                  <a:tcPr marL="73152" marR="73152" marT="45720" marB="45720">
                    <a:solidFill>
                      <a:srgbClr val="2A2A2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b="1" sz="1500">
                          <a:solidFill>
                            <a:srgbClr val="FFFFFF"/>
                          </a:solidFill>
                          <a:latin typeface="Calibri"/>
                        </a:rPr>
                        <a:t>頻寬</a:t>
                      </a:r>
                    </a:p>
                  </a:txBody>
                  <a:tcPr marL="73152" marR="73152" marT="45720" marB="45720">
                    <a:solidFill>
                      <a:srgbClr val="2A2A2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b="1" sz="1500">
                          <a:solidFill>
                            <a:srgbClr val="FFFFFF"/>
                          </a:solidFill>
                          <a:latin typeface="Calibri"/>
                        </a:rPr>
                        <a:t>特色</a:t>
                      </a:r>
                    </a:p>
                  </a:txBody>
                  <a:tcPr marL="73152" marR="73152" marT="45720" marB="45720">
                    <a:solidFill>
                      <a:srgbClr val="2A2A2A"/>
                    </a:solidFill>
                  </a:tcPr>
                </a:tc>
              </a:tr>
              <a:tr h="451974">
                <a:tc>
                  <a:txBody>
                    <a:bodyPr/>
                    <a:lstStyle/>
                    <a:p>
                      <a:r>
                        <a:rPr sz="1400" b="1">
                          <a:solidFill>
                            <a:srgbClr val="505050"/>
                          </a:solidFill>
                          <a:latin typeface="Calibri"/>
                        </a:rPr>
                        <a:t>PicoScenes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1C1C1C"/>
                          </a:solidFill>
                          <a:latin typeface="Calibri"/>
                        </a:rPr>
                        <a:t>Intel AX200/AX210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1C1C1C"/>
                          </a:solidFill>
                          <a:latin typeface="Calibri"/>
                        </a:rPr>
                        <a:t>802.11a/g/n/ac/ax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1C1C1C"/>
                          </a:solidFill>
                          <a:latin typeface="Calibri"/>
                        </a:rPr>
                        <a:t>20–160 MHz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1C1C1C"/>
                          </a:solidFill>
                          <a:latin typeface="Calibri"/>
                        </a:rPr>
                        <a:t>最完整，商業支援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</a:tr>
              <a:tr h="451974">
                <a:tc>
                  <a:txBody>
                    <a:bodyPr/>
                    <a:lstStyle/>
                    <a:p>
                      <a:r>
                        <a:rPr sz="1400" b="1">
                          <a:solidFill>
                            <a:srgbClr val="505050"/>
                          </a:solidFill>
                          <a:latin typeface="Calibri"/>
                        </a:rPr>
                        <a:t>FeitCSI</a:t>
                      </a:r>
                    </a:p>
                  </a:txBody>
                  <a:tcPr marL="73152" marR="73152" marT="36576" marB="36576">
                    <a:solidFill>
                      <a:srgbClr val="F0F0F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1C1C1C"/>
                          </a:solidFill>
                          <a:latin typeface="Calibri"/>
                        </a:rPr>
                        <a:t>Intel AX200/AX210</a:t>
                      </a:r>
                    </a:p>
                  </a:txBody>
                  <a:tcPr marL="73152" marR="73152" marT="36576" marB="36576">
                    <a:solidFill>
                      <a:srgbClr val="F0F0F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1C1C1C"/>
                          </a:solidFill>
                          <a:latin typeface="Calibri"/>
                        </a:rPr>
                        <a:t>802.11a/g/n/ac/ax</a:t>
                      </a:r>
                    </a:p>
                  </a:txBody>
                  <a:tcPr marL="73152" marR="73152" marT="36576" marB="36576">
                    <a:solidFill>
                      <a:srgbClr val="F0F0F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1C1C1C"/>
                          </a:solidFill>
                          <a:latin typeface="Calibri"/>
                        </a:rPr>
                        <a:t>20–160 MHz</a:t>
                      </a:r>
                    </a:p>
                  </a:txBody>
                  <a:tcPr marL="73152" marR="73152" marT="36576" marB="36576">
                    <a:solidFill>
                      <a:srgbClr val="F0F0F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1C1C1C"/>
                          </a:solidFill>
                          <a:latin typeface="Calibri"/>
                        </a:rPr>
                        <a:t>開源，CSI 注入</a:t>
                      </a:r>
                    </a:p>
                  </a:txBody>
                  <a:tcPr marL="73152" marR="73152" marT="36576" marB="36576">
                    <a:solidFill>
                      <a:srgbClr val="F0F0F0"/>
                    </a:solidFill>
                  </a:tcPr>
                </a:tc>
              </a:tr>
              <a:tr h="451974">
                <a:tc>
                  <a:txBody>
                    <a:bodyPr/>
                    <a:lstStyle/>
                    <a:p>
                      <a:r>
                        <a:rPr sz="1400" b="1">
                          <a:solidFill>
                            <a:srgbClr val="505050"/>
                          </a:solidFill>
                          <a:latin typeface="Calibri"/>
                        </a:rPr>
                        <a:t>IAX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1C1C1C"/>
                          </a:solidFill>
                          <a:latin typeface="Calibri"/>
                        </a:rPr>
                        <a:t>Intel AX200/201/210/211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1C1C1C"/>
                          </a:solidFill>
                          <a:latin typeface="Calibri"/>
                        </a:rPr>
                        <a:t>802.11ax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1C1C1C"/>
                          </a:solidFill>
                          <a:latin typeface="Calibri"/>
                        </a:rPr>
                        <a:t>20–160 MHz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1C1C1C"/>
                          </a:solidFill>
                          <a:latin typeface="Calibri"/>
                        </a:rPr>
                        <a:t>學術研究用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</a:tr>
              <a:tr h="451974">
                <a:tc>
                  <a:txBody>
                    <a:bodyPr/>
                    <a:lstStyle/>
                    <a:p>
                      <a:r>
                        <a:rPr sz="1400" b="1">
                          <a:solidFill>
                            <a:srgbClr val="505050"/>
                          </a:solidFill>
                          <a:latin typeface="Calibri"/>
                        </a:rPr>
                        <a:t>Nexmon CSI</a:t>
                      </a:r>
                    </a:p>
                  </a:txBody>
                  <a:tcPr marL="73152" marR="73152" marT="36576" marB="36576">
                    <a:solidFill>
                      <a:srgbClr val="F0F0F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1C1C1C"/>
                          </a:solidFill>
                          <a:latin typeface="Calibri"/>
                        </a:rPr>
                        <a:t>Broadcom/Cypress</a:t>
                      </a:r>
                    </a:p>
                  </a:txBody>
                  <a:tcPr marL="73152" marR="73152" marT="36576" marB="36576">
                    <a:solidFill>
                      <a:srgbClr val="F0F0F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1C1C1C"/>
                          </a:solidFill>
                          <a:latin typeface="Calibri"/>
                        </a:rPr>
                        <a:t>802.11a/g/n/ac</a:t>
                      </a:r>
                    </a:p>
                  </a:txBody>
                  <a:tcPr marL="73152" marR="73152" marT="36576" marB="36576">
                    <a:solidFill>
                      <a:srgbClr val="F0F0F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1C1C1C"/>
                          </a:solidFill>
                          <a:latin typeface="Calibri"/>
                        </a:rPr>
                        <a:t>20–80 MHz</a:t>
                      </a:r>
                    </a:p>
                  </a:txBody>
                  <a:tcPr marL="73152" marR="73152" marT="36576" marB="36576">
                    <a:solidFill>
                      <a:srgbClr val="F0F0F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1C1C1C"/>
                          </a:solidFill>
                          <a:latin typeface="Calibri"/>
                        </a:rPr>
                        <a:t>Raspberry Pi 支援</a:t>
                      </a:r>
                    </a:p>
                  </a:txBody>
                  <a:tcPr marL="73152" marR="73152" marT="36576" marB="36576">
                    <a:solidFill>
                      <a:srgbClr val="F0F0F0"/>
                    </a:solidFill>
                  </a:tcPr>
                </a:tc>
              </a:tr>
              <a:tr h="451974">
                <a:tc>
                  <a:txBody>
                    <a:bodyPr/>
                    <a:lstStyle/>
                    <a:p>
                      <a:r>
                        <a:rPr sz="1400" b="1">
                          <a:solidFill>
                            <a:srgbClr val="505050"/>
                          </a:solidFill>
                          <a:latin typeface="Calibri"/>
                        </a:rPr>
                        <a:t>Atheros-CSI-Tool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1C1C1C"/>
                          </a:solidFill>
                          <a:latin typeface="Calibri"/>
                        </a:rPr>
                        <a:t>AR9380（ath9k）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1C1C1C"/>
                          </a:solidFill>
                          <a:latin typeface="Calibri"/>
                        </a:rPr>
                        <a:t>802.11n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1C1C1C"/>
                          </a:solidFill>
                          <a:latin typeface="Calibri"/>
                        </a:rPr>
                        <a:t>20/40 MHz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1C1C1C"/>
                          </a:solidFill>
                          <a:latin typeface="Calibri"/>
                        </a:rPr>
                        <a:t>OpenWRT 支援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</a:tr>
              <a:tr h="451980">
                <a:tc>
                  <a:txBody>
                    <a:bodyPr/>
                    <a:lstStyle/>
                    <a:p>
                      <a:r>
                        <a:rPr sz="1400" b="1">
                          <a:solidFill>
                            <a:srgbClr val="505050"/>
                          </a:solidFill>
                          <a:latin typeface="Calibri"/>
                        </a:rPr>
                        <a:t>linux-80211n-csitool</a:t>
                      </a:r>
                    </a:p>
                  </a:txBody>
                  <a:tcPr marL="73152" marR="73152" marT="36576" marB="36576">
                    <a:solidFill>
                      <a:srgbClr val="F0F0F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1C1C1C"/>
                          </a:solidFill>
                          <a:latin typeface="Calibri"/>
                        </a:rPr>
                        <a:t>Intel IWL5300</a:t>
                      </a:r>
                    </a:p>
                  </a:txBody>
                  <a:tcPr marL="73152" marR="73152" marT="36576" marB="36576">
                    <a:solidFill>
                      <a:srgbClr val="F0F0F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1C1C1C"/>
                          </a:solidFill>
                          <a:latin typeface="Calibri"/>
                        </a:rPr>
                        <a:t>802.11n</a:t>
                      </a:r>
                    </a:p>
                  </a:txBody>
                  <a:tcPr marL="73152" marR="73152" marT="36576" marB="36576">
                    <a:solidFill>
                      <a:srgbClr val="F0F0F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1C1C1C"/>
                          </a:solidFill>
                          <a:latin typeface="Calibri"/>
                        </a:rPr>
                        <a:t>20/40 MHz</a:t>
                      </a:r>
                    </a:p>
                  </a:txBody>
                  <a:tcPr marL="73152" marR="73152" marT="36576" marB="36576">
                    <a:solidFill>
                      <a:srgbClr val="F0F0F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1C1C1C"/>
                          </a:solidFill>
                          <a:latin typeface="Calibri"/>
                        </a:rPr>
                        <a:t>最早的工具，歷史性</a:t>
                      </a:r>
                    </a:p>
                  </a:txBody>
                  <a:tcPr marL="73152" marR="73152" marT="36576" marB="36576">
                    <a:solidFill>
                      <a:srgbClr val="F0F0F0"/>
                    </a:solidFill>
                  </a:tcPr>
                </a:tc>
              </a:tr>
            </a:tbl>
          </a:graphicData>
        </a:graphic>
      </p:graphicFrame>
      <p:cxnSp>
        <p:nvCxnSpPr>
          <p:cNvPr id="7" name="Connector 6"/>
          <p:cNvCxnSpPr/>
          <p:nvPr/>
        </p:nvCxnSpPr>
        <p:spPr>
          <a:xfrm>
            <a:off x="365760" y="4393688"/>
            <a:ext cx="8412480" cy="0"/>
          </a:xfrm>
          <a:prstGeom prst="line">
            <a:avLst/>
          </a:prstGeom>
          <a:ln w="6350">
            <a:solidFill>
              <a:srgbClr val="DCDCD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" name="TextBox 7"/>
          <p:cNvSpPr txBox="1"/>
          <p:nvPr/>
        </p:nvSpPr>
        <p:spPr>
          <a:xfrm>
            <a:off x="457200" y="4393692"/>
            <a:ext cx="82296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6B6B6B"/>
                </a:solidFill>
                <a:latin typeface="Calibri"/>
              </a:rPr>
              <a:t>所有工具均僅支援 Linux——這直接說明了為什麼 Windows 無法取得 CSI</a:t>
            </a:r>
          </a:p>
        </p:txBody>
      </p:sp>
      <p:sp>
        <p:nvSpPr>
          <p:cNvPr id="9" name="Rectangle 8"/>
          <p:cNvSpPr/>
          <p:nvPr/>
        </p:nvSpPr>
        <p:spPr>
          <a:xfrm>
            <a:off x="0" y="4686300"/>
            <a:ext cx="9144000" cy="457200"/>
          </a:xfrm>
          <a:prstGeom prst="rect">
            <a:avLst/>
          </a:prstGeom>
          <a:gradFill rotWithShape="1">
            <a:gsLst>
              <a:gs pos="0">
                <a:srgbClr val="2A2A2A"/>
              </a:gs>
              <a:gs pos="100000">
                <a:srgbClr val="343434"/>
              </a:gs>
            </a:gsLst>
            <a:lin scaled="0" ang="0"/>
          </a:gra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274320" y="4722876"/>
            <a:ext cx="457200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B0B0B0"/>
                </a:solidFill>
                <a:latin typeface="Calibri"/>
              </a:rPr>
              <a:t>替代方案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863840" y="4722876"/>
            <a:ext cx="91440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300" b="0">
                <a:solidFill>
                  <a:srgbClr val="B0B0B0"/>
                </a:solidFill>
                <a:latin typeface="Calibri"/>
              </a:rPr>
              <a:t>17 / 23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822960"/>
          </a:xfrm>
          <a:prstGeom prst="rect">
            <a:avLst/>
          </a:prstGeom>
          <a:gradFill rotWithShape="1">
            <a:gsLst>
              <a:gs pos="0">
                <a:srgbClr val="2A2A2A"/>
              </a:gs>
              <a:gs pos="100000">
                <a:srgbClr val="363636"/>
              </a:gs>
            </a:gsLst>
            <a:lin scaled="0" ang="0"/>
          </a:gra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50292" cy="822960"/>
          </a:xfrm>
          <a:prstGeom prst="rect">
            <a:avLst/>
          </a:prstGeom>
          <a:solidFill>
            <a:srgbClr val="50505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365760" y="109728"/>
            <a:ext cx="704088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>
                <a:solidFill>
                  <a:srgbClr val="FFFFFF"/>
                </a:solidFill>
                <a:latin typeface="Calibri"/>
              </a:rPr>
              <a:t>Windows 替代方案比較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498080" y="109728"/>
            <a:ext cx="128016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300" b="0">
                <a:solidFill>
                  <a:srgbClr val="B0B0B0"/>
                </a:solidFill>
                <a:latin typeface="Calibri"/>
              </a:rPr>
              <a:t>Section 3/4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411480" y="1033272"/>
          <a:ext cx="8321040" cy="22860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664208"/>
                <a:gridCol w="1664208"/>
                <a:gridCol w="1664208"/>
                <a:gridCol w="1664208"/>
                <a:gridCol w="1664208"/>
              </a:tblGrid>
              <a:tr h="457200">
                <a:tc>
                  <a:txBody>
                    <a:bodyPr/>
                    <a:lstStyle/>
                    <a:p>
                      <a:pPr algn="ctr"/>
                      <a:r>
                        <a:rPr b="1" sz="1500">
                          <a:solidFill>
                            <a:srgbClr val="FFFFFF"/>
                          </a:solidFill>
                          <a:latin typeface="Calibri"/>
                        </a:rPr>
                        <a:t>方案</a:t>
                      </a:r>
                    </a:p>
                  </a:txBody>
                  <a:tcPr marL="73152" marR="73152" marT="45720" marB="45720">
                    <a:solidFill>
                      <a:srgbClr val="2A2A2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b="1" sz="1500">
                          <a:solidFill>
                            <a:srgbClr val="FFFFFF"/>
                          </a:solidFill>
                          <a:latin typeface="Calibri"/>
                        </a:rPr>
                        <a:t>技術難度</a:t>
                      </a:r>
                    </a:p>
                  </a:txBody>
                  <a:tcPr marL="73152" marR="73152" marT="45720" marB="45720">
                    <a:solidFill>
                      <a:srgbClr val="2A2A2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b="1" sz="1500">
                          <a:solidFill>
                            <a:srgbClr val="FFFFFF"/>
                          </a:solidFill>
                          <a:latin typeface="Calibri"/>
                        </a:rPr>
                        <a:t>CSI 完整度</a:t>
                      </a:r>
                    </a:p>
                  </a:txBody>
                  <a:tcPr marL="73152" marR="73152" marT="45720" marB="45720">
                    <a:solidFill>
                      <a:srgbClr val="2A2A2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b="1" sz="1500">
                          <a:solidFill>
                            <a:srgbClr val="FFFFFF"/>
                          </a:solidFill>
                          <a:latin typeface="Calibri"/>
                        </a:rPr>
                        <a:t>維護成本</a:t>
                      </a:r>
                    </a:p>
                  </a:txBody>
                  <a:tcPr marL="73152" marR="73152" marT="45720" marB="45720">
                    <a:solidFill>
                      <a:srgbClr val="2A2A2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b="1" sz="1500">
                          <a:solidFill>
                            <a:srgbClr val="FFFFFF"/>
                          </a:solidFill>
                          <a:latin typeface="Calibri"/>
                        </a:rPr>
                        <a:t>建議</a:t>
                      </a:r>
                    </a:p>
                  </a:txBody>
                  <a:tcPr marL="73152" marR="73152" marT="45720" marB="45720">
                    <a:solidFill>
                      <a:srgbClr val="2A2A2A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r>
                        <a:rPr sz="1400" b="1">
                          <a:solidFill>
                            <a:srgbClr val="505050"/>
                          </a:solidFill>
                          <a:latin typeface="Calibri"/>
                        </a:rPr>
                        <a:t>Raw Packet Capture</a:t>
                      </a:r>
                    </a:p>
                    <a:p>
                      <a:r>
                        <a:t>(WinPcap/Npcap)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1C1C1C"/>
                          </a:solidFill>
                          <a:latin typeface="Calibri"/>
                        </a:rPr>
                        <a:t>★☆☆☆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1C1C1C"/>
                          </a:solidFill>
                          <a:latin typeface="Calibri"/>
                        </a:rPr>
                        <a:t>❌ 無 CSI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1C1C1C"/>
                          </a:solidFill>
                          <a:latin typeface="Calibri"/>
                        </a:rPr>
                        <a:t>低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1C1C1C"/>
                          </a:solidFill>
                          <a:latin typeface="Calibri"/>
                        </a:rPr>
                        <a:t>僅封包分析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r>
                        <a:rPr sz="1400" b="1">
                          <a:solidFill>
                            <a:srgbClr val="505050"/>
                          </a:solidFill>
                          <a:latin typeface="Calibri"/>
                        </a:rPr>
                        <a:t>OEM 私有 IOCTL</a:t>
                      </a:r>
                    </a:p>
                    <a:p>
                      <a:r>
                        <a:t>(逆向 OEM.sys)</a:t>
                      </a:r>
                    </a:p>
                  </a:txBody>
                  <a:tcPr marL="73152" marR="73152" marT="36576" marB="36576">
                    <a:solidFill>
                      <a:srgbClr val="F0F0F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1C1C1C"/>
                          </a:solidFill>
                          <a:latin typeface="Calibri"/>
                        </a:rPr>
                        <a:t>★★★★</a:t>
                      </a:r>
                    </a:p>
                  </a:txBody>
                  <a:tcPr marL="73152" marR="73152" marT="36576" marB="36576">
                    <a:solidFill>
                      <a:srgbClr val="F0F0F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1C1C1C"/>
                          </a:solidFill>
                          <a:latin typeface="Calibri"/>
                        </a:rPr>
                        <a:t>⚠ 不穩定</a:t>
                      </a:r>
                    </a:p>
                  </a:txBody>
                  <a:tcPr marL="73152" marR="73152" marT="36576" marB="36576">
                    <a:solidFill>
                      <a:srgbClr val="F0F0F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1C1C1C"/>
                          </a:solidFill>
                          <a:latin typeface="Calibri"/>
                        </a:rPr>
                        <a:t>極高</a:t>
                      </a:r>
                    </a:p>
                  </a:txBody>
                  <a:tcPr marL="73152" marR="73152" marT="36576" marB="36576">
                    <a:solidFill>
                      <a:srgbClr val="F0F0F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1C1C1C"/>
                          </a:solidFill>
                          <a:latin typeface="Calibri"/>
                        </a:rPr>
                        <a:t>不建議</a:t>
                      </a:r>
                    </a:p>
                  </a:txBody>
                  <a:tcPr marL="73152" marR="73152" marT="36576" marB="36576">
                    <a:solidFill>
                      <a:srgbClr val="F0F0F0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r>
                        <a:rPr sz="1400" b="1">
                          <a:solidFill>
                            <a:srgbClr val="505050"/>
                          </a:solidFill>
                          <a:latin typeface="Calibri"/>
                        </a:rPr>
                        <a:t>雙系統 Linux（推薦）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1C1C1C"/>
                          </a:solidFill>
                          <a:latin typeface="Calibri"/>
                        </a:rPr>
                        <a:t>★★☆☆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1C1C1C"/>
                          </a:solidFill>
                          <a:latin typeface="Calibri"/>
                        </a:rPr>
                        <a:t>✅ 完整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1C1C1C"/>
                          </a:solidFill>
                          <a:latin typeface="Calibri"/>
                        </a:rPr>
                        <a:t>低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1C1C1C"/>
                          </a:solidFill>
                          <a:latin typeface="Calibri"/>
                        </a:rPr>
                        <a:t>最佳方案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r>
                        <a:rPr sz="1400" b="1">
                          <a:solidFill>
                            <a:srgbClr val="505050"/>
                          </a:solidFill>
                          <a:latin typeface="Calibri"/>
                        </a:rPr>
                        <a:t>Linux Live USB</a:t>
                      </a:r>
                    </a:p>
                    <a:p>
                      <a:r>
                        <a:t>(FeitCSI)</a:t>
                      </a:r>
                    </a:p>
                  </a:txBody>
                  <a:tcPr marL="73152" marR="73152" marT="36576" marB="36576">
                    <a:solidFill>
                      <a:srgbClr val="F0F0F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1C1C1C"/>
                          </a:solidFill>
                          <a:latin typeface="Calibri"/>
                        </a:rPr>
                        <a:t>★☆☆☆</a:t>
                      </a:r>
                    </a:p>
                  </a:txBody>
                  <a:tcPr marL="73152" marR="73152" marT="36576" marB="36576">
                    <a:solidFill>
                      <a:srgbClr val="F0F0F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1C1C1C"/>
                          </a:solidFill>
                          <a:latin typeface="Calibri"/>
                        </a:rPr>
                        <a:t>✅ 完整</a:t>
                      </a:r>
                    </a:p>
                  </a:txBody>
                  <a:tcPr marL="73152" marR="73152" marT="36576" marB="36576">
                    <a:solidFill>
                      <a:srgbClr val="F0F0F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1C1C1C"/>
                          </a:solidFill>
                          <a:latin typeface="Calibri"/>
                        </a:rPr>
                        <a:t>低</a:t>
                      </a:r>
                    </a:p>
                  </a:txBody>
                  <a:tcPr marL="73152" marR="73152" marT="36576" marB="36576">
                    <a:solidFill>
                      <a:srgbClr val="F0F0F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1C1C1C"/>
                          </a:solidFill>
                          <a:latin typeface="Calibri"/>
                        </a:rPr>
                        <a:t>快速上手</a:t>
                      </a:r>
                    </a:p>
                  </a:txBody>
                  <a:tcPr marL="73152" marR="73152" marT="36576" marB="36576">
                    <a:solidFill>
                      <a:srgbClr val="F0F0F0"/>
                    </a:solidFill>
                  </a:tcPr>
                </a:tc>
              </a:tr>
            </a:tbl>
          </a:graphicData>
        </a:graphic>
      </p:graphicFrame>
      <p:cxnSp>
        <p:nvCxnSpPr>
          <p:cNvPr id="7" name="Connector 6"/>
          <p:cNvCxnSpPr/>
          <p:nvPr/>
        </p:nvCxnSpPr>
        <p:spPr>
          <a:xfrm>
            <a:off x="365760" y="4393688"/>
            <a:ext cx="8412480" cy="0"/>
          </a:xfrm>
          <a:prstGeom prst="line">
            <a:avLst/>
          </a:prstGeom>
          <a:ln w="6350">
            <a:solidFill>
              <a:srgbClr val="DCDCD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" name="TextBox 7"/>
          <p:cNvSpPr txBox="1"/>
          <p:nvPr/>
        </p:nvSpPr>
        <p:spPr>
          <a:xfrm>
            <a:off x="457200" y="4393692"/>
            <a:ext cx="82296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6B6B6B"/>
                </a:solidFill>
                <a:latin typeface="Calibri"/>
              </a:rPr>
              <a:t>建議：Intel AX200 + 雙系統 Linux + PicoScenes/FeitCSI</a:t>
            </a:r>
          </a:p>
        </p:txBody>
      </p:sp>
      <p:sp>
        <p:nvSpPr>
          <p:cNvPr id="9" name="Rectangle 8"/>
          <p:cNvSpPr/>
          <p:nvPr/>
        </p:nvSpPr>
        <p:spPr>
          <a:xfrm>
            <a:off x="0" y="4686300"/>
            <a:ext cx="9144000" cy="457200"/>
          </a:xfrm>
          <a:prstGeom prst="rect">
            <a:avLst/>
          </a:prstGeom>
          <a:gradFill rotWithShape="1">
            <a:gsLst>
              <a:gs pos="0">
                <a:srgbClr val="2A2A2A"/>
              </a:gs>
              <a:gs pos="100000">
                <a:srgbClr val="343434"/>
              </a:gs>
            </a:gsLst>
            <a:lin scaled="0" ang="0"/>
          </a:gra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274320" y="4722876"/>
            <a:ext cx="457200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B0B0B0"/>
                </a:solidFill>
                <a:latin typeface="Calibri"/>
              </a:rPr>
              <a:t>替代方案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863840" y="4722876"/>
            <a:ext cx="91440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300" b="0">
                <a:solidFill>
                  <a:srgbClr val="B0B0B0"/>
                </a:solidFill>
                <a:latin typeface="Calibri"/>
              </a:rPr>
              <a:t>18 / 23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822960"/>
          </a:xfrm>
          <a:prstGeom prst="rect">
            <a:avLst/>
          </a:prstGeom>
          <a:gradFill rotWithShape="1">
            <a:gsLst>
              <a:gs pos="0">
                <a:srgbClr val="2A2A2A"/>
              </a:gs>
              <a:gs pos="100000">
                <a:srgbClr val="363636"/>
              </a:gs>
            </a:gsLst>
            <a:lin scaled="0" ang="0"/>
          </a:gra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50292" cy="822960"/>
          </a:xfrm>
          <a:prstGeom prst="rect">
            <a:avLst/>
          </a:prstGeom>
          <a:solidFill>
            <a:srgbClr val="50505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365760" y="109728"/>
            <a:ext cx="704088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>
                <a:solidFill>
                  <a:srgbClr val="FFFFFF"/>
                </a:solidFill>
                <a:latin typeface="Calibri"/>
              </a:rPr>
              <a:t>支援 CSI 的硬體選型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498080" y="109728"/>
            <a:ext cx="128016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300" b="0">
                <a:solidFill>
                  <a:srgbClr val="B0B0B0"/>
                </a:solidFill>
                <a:latin typeface="Calibri"/>
              </a:rPr>
              <a:t>Section 3/4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411480" y="1033272"/>
          <a:ext cx="8321040" cy="3163824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664208"/>
                <a:gridCol w="1664208"/>
                <a:gridCol w="1664208"/>
                <a:gridCol w="1664208"/>
                <a:gridCol w="1664208"/>
              </a:tblGrid>
              <a:tr h="451974">
                <a:tc>
                  <a:txBody>
                    <a:bodyPr/>
                    <a:lstStyle/>
                    <a:p>
                      <a:pPr algn="ctr"/>
                      <a:r>
                        <a:rPr b="1" sz="1500">
                          <a:solidFill>
                            <a:srgbClr val="FFFFFF"/>
                          </a:solidFill>
                          <a:latin typeface="Calibri"/>
                        </a:rPr>
                        <a:t>網卡型號</a:t>
                      </a:r>
                    </a:p>
                  </a:txBody>
                  <a:tcPr marL="73152" marR="73152" marT="45720" marB="45720">
                    <a:solidFill>
                      <a:srgbClr val="2A2A2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b="1" sz="1500">
                          <a:solidFill>
                            <a:srgbClr val="FFFFFF"/>
                          </a:solidFill>
                          <a:latin typeface="Calibri"/>
                        </a:rPr>
                        <a:t>晶片</a:t>
                      </a:r>
                    </a:p>
                  </a:txBody>
                  <a:tcPr marL="73152" marR="73152" marT="45720" marB="45720">
                    <a:solidFill>
                      <a:srgbClr val="2A2A2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b="1" sz="1500">
                          <a:solidFill>
                            <a:srgbClr val="FFFFFF"/>
                          </a:solidFill>
                          <a:latin typeface="Calibri"/>
                        </a:rPr>
                        <a:t>標準</a:t>
                      </a:r>
                    </a:p>
                  </a:txBody>
                  <a:tcPr marL="73152" marR="73152" marT="45720" marB="45720">
                    <a:solidFill>
                      <a:srgbClr val="2A2A2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b="1" sz="1500">
                          <a:solidFill>
                            <a:srgbClr val="FFFFFF"/>
                          </a:solidFill>
                          <a:latin typeface="Calibri"/>
                        </a:rPr>
                        <a:t>CSI 工具</a:t>
                      </a:r>
                    </a:p>
                  </a:txBody>
                  <a:tcPr marL="73152" marR="73152" marT="45720" marB="45720">
                    <a:solidFill>
                      <a:srgbClr val="2A2A2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b="1" sz="1500">
                          <a:solidFill>
                            <a:srgbClr val="FFFFFF"/>
                          </a:solidFill>
                          <a:latin typeface="Calibri"/>
                        </a:rPr>
                        <a:t>平台</a:t>
                      </a:r>
                    </a:p>
                  </a:txBody>
                  <a:tcPr marL="73152" marR="73152" marT="45720" marB="45720">
                    <a:solidFill>
                      <a:srgbClr val="2A2A2A"/>
                    </a:solidFill>
                  </a:tcPr>
                </a:tc>
              </a:tr>
              <a:tr h="451974">
                <a:tc>
                  <a:txBody>
                    <a:bodyPr/>
                    <a:lstStyle/>
                    <a:p>
                      <a:r>
                        <a:rPr sz="1400" b="1">
                          <a:solidFill>
                            <a:srgbClr val="505050"/>
                          </a:solidFill>
                          <a:latin typeface="Calibri"/>
                        </a:rPr>
                        <a:t>Intel WiFi Link 5300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1C1C1C"/>
                          </a:solidFill>
                          <a:latin typeface="Calibri"/>
                        </a:rPr>
                        <a:t>IWL5300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1C1C1C"/>
                          </a:solidFill>
                          <a:latin typeface="Calibri"/>
                        </a:rPr>
                        <a:t>802.11n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1C1C1C"/>
                          </a:solidFill>
                          <a:latin typeface="Calibri"/>
                        </a:rPr>
                        <a:t>linux-80211n-csitool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1C1C1C"/>
                          </a:solidFill>
                          <a:latin typeface="Calibri"/>
                        </a:rPr>
                        <a:t>Linux（舊）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</a:tr>
              <a:tr h="451974">
                <a:tc>
                  <a:txBody>
                    <a:bodyPr/>
                    <a:lstStyle/>
                    <a:p>
                      <a:r>
                        <a:rPr sz="1400" b="1">
                          <a:solidFill>
                            <a:srgbClr val="505050"/>
                          </a:solidFill>
                          <a:latin typeface="Calibri"/>
                        </a:rPr>
                        <a:t>Intel Wi-Fi 6 AX200</a:t>
                      </a:r>
                    </a:p>
                  </a:txBody>
                  <a:tcPr marL="73152" marR="73152" marT="36576" marB="36576">
                    <a:solidFill>
                      <a:srgbClr val="F0F0F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1C1C1C"/>
                          </a:solidFill>
                          <a:latin typeface="Calibri"/>
                        </a:rPr>
                        <a:t>AX200</a:t>
                      </a:r>
                    </a:p>
                  </a:txBody>
                  <a:tcPr marL="73152" marR="73152" marT="36576" marB="36576">
                    <a:solidFill>
                      <a:srgbClr val="F0F0F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1C1C1C"/>
                          </a:solidFill>
                          <a:latin typeface="Calibri"/>
                        </a:rPr>
                        <a:t>802.11ax</a:t>
                      </a:r>
                    </a:p>
                  </a:txBody>
                  <a:tcPr marL="73152" marR="73152" marT="36576" marB="36576">
                    <a:solidFill>
                      <a:srgbClr val="F0F0F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1C1C1C"/>
                          </a:solidFill>
                          <a:latin typeface="Calibri"/>
                        </a:rPr>
                        <a:t>PicoScenes / FeitCSI</a:t>
                      </a:r>
                    </a:p>
                  </a:txBody>
                  <a:tcPr marL="73152" marR="73152" marT="36576" marB="36576">
                    <a:solidFill>
                      <a:srgbClr val="F0F0F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1C1C1C"/>
                          </a:solidFill>
                          <a:latin typeface="Calibri"/>
                        </a:rPr>
                        <a:t>Linux</a:t>
                      </a:r>
                    </a:p>
                  </a:txBody>
                  <a:tcPr marL="73152" marR="73152" marT="36576" marB="36576">
                    <a:solidFill>
                      <a:srgbClr val="F0F0F0"/>
                    </a:solidFill>
                  </a:tcPr>
                </a:tc>
              </a:tr>
              <a:tr h="451974">
                <a:tc>
                  <a:txBody>
                    <a:bodyPr/>
                    <a:lstStyle/>
                    <a:p>
                      <a:r>
                        <a:rPr sz="1400" b="1">
                          <a:solidFill>
                            <a:srgbClr val="505050"/>
                          </a:solidFill>
                          <a:latin typeface="Calibri"/>
                        </a:rPr>
                        <a:t>Intel Wi-Fi 6E AX210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1C1C1C"/>
                          </a:solidFill>
                          <a:latin typeface="Calibri"/>
                        </a:rPr>
                        <a:t>AX210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1C1C1C"/>
                          </a:solidFill>
                          <a:latin typeface="Calibri"/>
                        </a:rPr>
                        <a:t>802.11ax（6GHz）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1C1C1C"/>
                          </a:solidFill>
                          <a:latin typeface="Calibri"/>
                        </a:rPr>
                        <a:t>PicoScenes / FeitCSI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1C1C1C"/>
                          </a:solidFill>
                          <a:latin typeface="Calibri"/>
                        </a:rPr>
                        <a:t>Linux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</a:tr>
              <a:tr h="451974">
                <a:tc>
                  <a:txBody>
                    <a:bodyPr/>
                    <a:lstStyle/>
                    <a:p>
                      <a:r>
                        <a:rPr sz="1400" b="1">
                          <a:solidFill>
                            <a:srgbClr val="505050"/>
                          </a:solidFill>
                          <a:latin typeface="Calibri"/>
                        </a:rPr>
                        <a:t>Atheros AR9380</a:t>
                      </a:r>
                    </a:p>
                  </a:txBody>
                  <a:tcPr marL="73152" marR="73152" marT="36576" marB="36576">
                    <a:solidFill>
                      <a:srgbClr val="F0F0F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1C1C1C"/>
                          </a:solidFill>
                          <a:latin typeface="Calibri"/>
                        </a:rPr>
                        <a:t>AR9380</a:t>
                      </a:r>
                    </a:p>
                  </a:txBody>
                  <a:tcPr marL="73152" marR="73152" marT="36576" marB="36576">
                    <a:solidFill>
                      <a:srgbClr val="F0F0F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1C1C1C"/>
                          </a:solidFill>
                          <a:latin typeface="Calibri"/>
                        </a:rPr>
                        <a:t>802.11n</a:t>
                      </a:r>
                    </a:p>
                  </a:txBody>
                  <a:tcPr marL="73152" marR="73152" marT="36576" marB="36576">
                    <a:solidFill>
                      <a:srgbClr val="F0F0F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1C1C1C"/>
                          </a:solidFill>
                          <a:latin typeface="Calibri"/>
                        </a:rPr>
                        <a:t>Atheros-CSI-Tool</a:t>
                      </a:r>
                    </a:p>
                  </a:txBody>
                  <a:tcPr marL="73152" marR="73152" marT="36576" marB="36576">
                    <a:solidFill>
                      <a:srgbClr val="F0F0F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1C1C1C"/>
                          </a:solidFill>
                          <a:latin typeface="Calibri"/>
                        </a:rPr>
                        <a:t>Linux / OpenWRT</a:t>
                      </a:r>
                    </a:p>
                  </a:txBody>
                  <a:tcPr marL="73152" marR="73152" marT="36576" marB="36576">
                    <a:solidFill>
                      <a:srgbClr val="F0F0F0"/>
                    </a:solidFill>
                  </a:tcPr>
                </a:tc>
              </a:tr>
              <a:tr h="451974">
                <a:tc>
                  <a:txBody>
                    <a:bodyPr/>
                    <a:lstStyle/>
                    <a:p>
                      <a:r>
                        <a:rPr sz="1400" b="1">
                          <a:solidFill>
                            <a:srgbClr val="505050"/>
                          </a:solidFill>
                          <a:latin typeface="Calibri"/>
                        </a:rPr>
                        <a:t>Broadcom BCM4339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1C1C1C"/>
                          </a:solidFill>
                          <a:latin typeface="Calibri"/>
                        </a:rPr>
                        <a:t>BCM4339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1C1C1C"/>
                          </a:solidFill>
                          <a:latin typeface="Calibri"/>
                        </a:rPr>
                        <a:t>802.11ac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1C1C1C"/>
                          </a:solidFill>
                          <a:latin typeface="Calibri"/>
                        </a:rPr>
                        <a:t>Nexmon CSI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1C1C1C"/>
                          </a:solidFill>
                          <a:latin typeface="Calibri"/>
                        </a:rPr>
                        <a:t>Android / RPi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</a:tr>
              <a:tr h="451980">
                <a:tc>
                  <a:txBody>
                    <a:bodyPr/>
                    <a:lstStyle/>
                    <a:p>
                      <a:r>
                        <a:rPr sz="1400" b="1">
                          <a:solidFill>
                            <a:srgbClr val="505050"/>
                          </a:solidFill>
                          <a:latin typeface="Calibri"/>
                        </a:rPr>
                        <a:t>Raspberry Pi 4 (RPi)</a:t>
                      </a:r>
                    </a:p>
                  </a:txBody>
                  <a:tcPr marL="73152" marR="73152" marT="36576" marB="36576">
                    <a:solidFill>
                      <a:srgbClr val="F0F0F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1C1C1C"/>
                          </a:solidFill>
                          <a:latin typeface="Calibri"/>
                        </a:rPr>
                        <a:t>CYW43455 (原BCM43455)</a:t>
                      </a:r>
                    </a:p>
                  </a:txBody>
                  <a:tcPr marL="73152" marR="73152" marT="36576" marB="36576">
                    <a:solidFill>
                      <a:srgbClr val="F0F0F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1C1C1C"/>
                          </a:solidFill>
                          <a:latin typeface="Calibri"/>
                        </a:rPr>
                        <a:t>802.11ac</a:t>
                      </a:r>
                    </a:p>
                  </a:txBody>
                  <a:tcPr marL="73152" marR="73152" marT="36576" marB="36576">
                    <a:solidFill>
                      <a:srgbClr val="F0F0F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1C1C1C"/>
                          </a:solidFill>
                          <a:latin typeface="Calibri"/>
                        </a:rPr>
                        <a:t>Nexmon CSI</a:t>
                      </a:r>
                    </a:p>
                  </a:txBody>
                  <a:tcPr marL="73152" marR="73152" marT="36576" marB="36576">
                    <a:solidFill>
                      <a:srgbClr val="F0F0F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1C1C1C"/>
                          </a:solidFill>
                          <a:latin typeface="Calibri"/>
                        </a:rPr>
                        <a:t>Linux（RPi OS）</a:t>
                      </a:r>
                    </a:p>
                  </a:txBody>
                  <a:tcPr marL="73152" marR="73152" marT="36576" marB="36576">
                    <a:solidFill>
                      <a:srgbClr val="F0F0F0"/>
                    </a:solidFill>
                  </a:tcPr>
                </a:tc>
              </a:tr>
            </a:tbl>
          </a:graphicData>
        </a:graphic>
      </p:graphicFrame>
      <p:cxnSp>
        <p:nvCxnSpPr>
          <p:cNvPr id="7" name="Connector 6"/>
          <p:cNvCxnSpPr/>
          <p:nvPr/>
        </p:nvCxnSpPr>
        <p:spPr>
          <a:xfrm>
            <a:off x="365760" y="4393688"/>
            <a:ext cx="8412480" cy="0"/>
          </a:xfrm>
          <a:prstGeom prst="line">
            <a:avLst/>
          </a:prstGeom>
          <a:ln w="6350">
            <a:solidFill>
              <a:srgbClr val="DCDCD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" name="TextBox 7"/>
          <p:cNvSpPr txBox="1"/>
          <p:nvPr/>
        </p:nvSpPr>
        <p:spPr>
          <a:xfrm>
            <a:off x="457200" y="4393692"/>
            <a:ext cx="82296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6B6B6B"/>
                </a:solidFill>
                <a:latin typeface="Calibri"/>
              </a:rPr>
              <a:t>採購建議：Intel AX200 M.2 網卡 + Linux 雙系統 = 最易取得的 CSI 研究平台</a:t>
            </a:r>
          </a:p>
        </p:txBody>
      </p:sp>
      <p:sp>
        <p:nvSpPr>
          <p:cNvPr id="9" name="Rectangle 8"/>
          <p:cNvSpPr/>
          <p:nvPr/>
        </p:nvSpPr>
        <p:spPr>
          <a:xfrm>
            <a:off x="0" y="4686300"/>
            <a:ext cx="9144000" cy="457200"/>
          </a:xfrm>
          <a:prstGeom prst="rect">
            <a:avLst/>
          </a:prstGeom>
          <a:gradFill rotWithShape="1">
            <a:gsLst>
              <a:gs pos="0">
                <a:srgbClr val="2A2A2A"/>
              </a:gs>
              <a:gs pos="100000">
                <a:srgbClr val="343434"/>
              </a:gs>
            </a:gsLst>
            <a:lin scaled="0" ang="0"/>
          </a:gra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274320" y="4722876"/>
            <a:ext cx="457200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B0B0B0"/>
                </a:solidFill>
                <a:latin typeface="Calibri"/>
              </a:rPr>
              <a:t>替代方案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863840" y="4722876"/>
            <a:ext cx="91440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300" b="0">
                <a:solidFill>
                  <a:srgbClr val="B0B0B0"/>
                </a:solidFill>
                <a:latin typeface="Calibri"/>
              </a:rPr>
              <a:t>19 / 23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gradFill rotWithShape="1">
            <a:gsLst>
              <a:gs pos="0">
                <a:srgbClr val="222222"/>
              </a:gs>
              <a:gs pos="100000">
                <a:srgbClr val="2E2E2E"/>
              </a:gs>
            </a:gsLst>
            <a:lin scaled="0" ang="5400000"/>
          </a:gra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9144000" cy="109728"/>
          </a:xfrm>
          <a:prstGeom prst="rect">
            <a:avLst/>
          </a:prstGeom>
          <a:solidFill>
            <a:srgbClr val="50505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943600" y="731520"/>
            <a:ext cx="2743200" cy="3200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6000" b="1">
                <a:solidFill>
                  <a:srgbClr val="333333"/>
                </a:solidFill>
                <a:latin typeface="Calibri"/>
              </a:rPr>
              <a:t>4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645920"/>
            <a:ext cx="6400800" cy="1188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4400" b="1">
                <a:solidFill>
                  <a:srgbClr val="FFFFFF"/>
                </a:solidFill>
                <a:latin typeface="Calibri"/>
              </a:rPr>
              <a:t>結語與建議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2834640"/>
            <a:ext cx="68580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0">
                <a:solidFill>
                  <a:srgbClr val="505050"/>
                </a:solidFill>
                <a:latin typeface="Calibri"/>
              </a:rPr>
              <a:t>硬體選型 + 環境建議</a:t>
            </a:r>
          </a:p>
        </p:txBody>
      </p:sp>
      <p:cxnSp>
        <p:nvCxnSpPr>
          <p:cNvPr id="7" name="Connector 6"/>
          <p:cNvCxnSpPr/>
          <p:nvPr/>
        </p:nvCxnSpPr>
        <p:spPr>
          <a:xfrm>
            <a:off x="365760" y="3840480"/>
            <a:ext cx="8412480" cy="0"/>
          </a:xfrm>
          <a:prstGeom prst="line">
            <a:avLst/>
          </a:prstGeom>
          <a:ln w="19050">
            <a:solidFill>
              <a:srgbClr val="50505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" name="Rectangle 7"/>
          <p:cNvSpPr/>
          <p:nvPr/>
        </p:nvSpPr>
        <p:spPr>
          <a:xfrm>
            <a:off x="0" y="4686300"/>
            <a:ext cx="9144000" cy="457200"/>
          </a:xfrm>
          <a:prstGeom prst="rect">
            <a:avLst/>
          </a:prstGeom>
          <a:gradFill rotWithShape="1">
            <a:gsLst>
              <a:gs pos="0">
                <a:srgbClr val="2A2A2A"/>
              </a:gs>
              <a:gs pos="100000">
                <a:srgbClr val="343434"/>
              </a:gs>
            </a:gsLst>
            <a:lin scaled="0" ang="0"/>
          </a:gra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274320" y="4722876"/>
            <a:ext cx="457200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B0B0B0"/>
                </a:solidFill>
                <a:latin typeface="Calibri"/>
              </a:rPr>
              <a:t>結語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863840" y="4722876"/>
            <a:ext cx="91440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300" b="0">
                <a:solidFill>
                  <a:srgbClr val="B0B0B0"/>
                </a:solidFill>
                <a:latin typeface="Calibri"/>
              </a:rPr>
              <a:t>20 / 23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822960"/>
          </a:xfrm>
          <a:prstGeom prst="rect">
            <a:avLst/>
          </a:prstGeom>
          <a:gradFill rotWithShape="1">
            <a:gsLst>
              <a:gs pos="0">
                <a:srgbClr val="2A2A2A"/>
              </a:gs>
              <a:gs pos="100000">
                <a:srgbClr val="363636"/>
              </a:gs>
            </a:gsLst>
            <a:lin scaled="0" ang="0"/>
          </a:gra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50292" cy="822960"/>
          </a:xfrm>
          <a:prstGeom prst="rect">
            <a:avLst/>
          </a:prstGeom>
          <a:solidFill>
            <a:srgbClr val="50505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365760" y="109728"/>
            <a:ext cx="704088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>
                <a:solidFill>
                  <a:srgbClr val="FFFFFF"/>
                </a:solidFill>
                <a:latin typeface="Calibri"/>
              </a:rPr>
              <a:t>完整架構總覽：CSI 的旅程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498080" y="109728"/>
            <a:ext cx="128016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300" b="0">
                <a:solidFill>
                  <a:srgbClr val="B0B0B0"/>
                </a:solidFill>
                <a:latin typeface="Calibri"/>
              </a:rPr>
              <a:t>Section 4/4</a:t>
            </a:r>
          </a:p>
        </p:txBody>
      </p:sp>
      <p:sp>
        <p:nvSpPr>
          <p:cNvPr id="6" name="Rectangle 5"/>
          <p:cNvSpPr/>
          <p:nvPr/>
        </p:nvSpPr>
        <p:spPr>
          <a:xfrm>
            <a:off x="365760" y="1005840"/>
            <a:ext cx="4754880" cy="402336"/>
          </a:xfrm>
          <a:prstGeom prst="rect">
            <a:avLst/>
          </a:prstGeom>
          <a:solidFill>
            <a:srgbClr val="2C2C2C"/>
          </a:solidFill>
          <a:ln w="12700">
            <a:solidFill>
              <a:srgbClr val="50505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400" b="1">
                <a:solidFill>
                  <a:srgbClr val="FFFFFF"/>
                </a:solidFill>
                <a:latin typeface="Calibri"/>
              </a:rPr>
              <a:t>應用程式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303520" y="1051560"/>
            <a:ext cx="3474720" cy="40233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6B6B6B"/>
                </a:solidFill>
                <a:latin typeface="Calibri"/>
              </a:rPr>
              <a:t>只能用 WinSock，看不到 PHY</a:t>
            </a:r>
          </a:p>
        </p:txBody>
      </p:sp>
      <p:sp>
        <p:nvSpPr>
          <p:cNvPr id="8" name="Rectangle 7"/>
          <p:cNvSpPr/>
          <p:nvPr/>
        </p:nvSpPr>
        <p:spPr>
          <a:xfrm>
            <a:off x="365760" y="1444752"/>
            <a:ext cx="4754880" cy="402336"/>
          </a:xfrm>
          <a:prstGeom prst="rect">
            <a:avLst/>
          </a:prstGeom>
          <a:solidFill>
            <a:srgbClr val="5A5A5A"/>
          </a:solidFill>
          <a:ln w="31750">
            <a:solidFill>
              <a:srgbClr val="88888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400" b="1">
                <a:solidFill>
                  <a:srgbClr val="FFFFFF"/>
                </a:solidFill>
                <a:latin typeface="Calibri"/>
              </a:rPr>
              <a:t>NDIS / tcpip.sys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303520" y="1490472"/>
            <a:ext cx="3474720" cy="40233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7A7A7A"/>
                </a:solidFill>
                <a:latin typeface="Calibri"/>
              </a:rPr>
              <a:t>無 CSI OID，協定通用化</a:t>
            </a:r>
          </a:p>
        </p:txBody>
      </p:sp>
      <p:sp>
        <p:nvSpPr>
          <p:cNvPr id="10" name="Rectangle 9"/>
          <p:cNvSpPr/>
          <p:nvPr/>
        </p:nvSpPr>
        <p:spPr>
          <a:xfrm>
            <a:off x="365760" y="1883664"/>
            <a:ext cx="4754880" cy="402336"/>
          </a:xfrm>
          <a:prstGeom prst="rect">
            <a:avLst/>
          </a:prstGeom>
          <a:solidFill>
            <a:srgbClr val="3A3A3A"/>
          </a:solidFill>
          <a:ln w="31750">
            <a:solidFill>
              <a:srgbClr val="AAAAA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400" b="1">
                <a:solidFill>
                  <a:srgbClr val="FFFFFF"/>
                </a:solidFill>
                <a:latin typeface="Calibri"/>
              </a:rPr>
              <a:t>nwifi.sys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303520" y="1929384"/>
            <a:ext cx="3474720" cy="40233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4A4A4A"/>
                </a:solidFill>
                <a:latin typeface="Calibri"/>
              </a:rPr>
              <a:t>802.11 管理，丟棄 PHY metadata</a:t>
            </a:r>
          </a:p>
        </p:txBody>
      </p:sp>
      <p:sp>
        <p:nvSpPr>
          <p:cNvPr id="12" name="Rectangle 11"/>
          <p:cNvSpPr/>
          <p:nvPr/>
        </p:nvSpPr>
        <p:spPr>
          <a:xfrm>
            <a:off x="365760" y="2322576"/>
            <a:ext cx="4754880" cy="402336"/>
          </a:xfrm>
          <a:prstGeom prst="rect">
            <a:avLst/>
          </a:prstGeom>
          <a:solidFill>
            <a:srgbClr val="3A3A3A"/>
          </a:solidFill>
          <a:ln w="31750">
            <a:solidFill>
              <a:srgbClr val="AAAAA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400" b="1">
                <a:solidFill>
                  <a:srgbClr val="FFFFFF"/>
                </a:solidFill>
                <a:latin typeface="Calibri"/>
              </a:rPr>
              <a:t>OEM.sys（唯一機會）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303520" y="2368296"/>
            <a:ext cx="3474720" cy="40233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4A4A4A"/>
                </a:solidFill>
                <a:latin typeface="Calibri"/>
              </a:rPr>
              <a:t>能讀 CSI，但介面不暴露</a:t>
            </a:r>
          </a:p>
        </p:txBody>
      </p:sp>
      <p:sp>
        <p:nvSpPr>
          <p:cNvPr id="14" name="Rectangle 13"/>
          <p:cNvSpPr/>
          <p:nvPr/>
        </p:nvSpPr>
        <p:spPr>
          <a:xfrm>
            <a:off x="365760" y="2761488"/>
            <a:ext cx="4754880" cy="402336"/>
          </a:xfrm>
          <a:prstGeom prst="rect">
            <a:avLst/>
          </a:prstGeom>
          <a:solidFill>
            <a:srgbClr val="707070"/>
          </a:solidFill>
          <a:ln w="12700">
            <a:solidFill>
              <a:srgbClr val="80808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400" b="1">
                <a:solidFill>
                  <a:srgbClr val="FFFFFF"/>
                </a:solidFill>
                <a:latin typeface="Calibri"/>
              </a:rPr>
              <a:t>NIC 韌體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303520" y="2807208"/>
            <a:ext cx="3474720" cy="40233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808080"/>
                </a:solidFill>
                <a:latin typeface="Calibri"/>
              </a:rPr>
              <a:t>CSI 在此計算完成</a:t>
            </a:r>
          </a:p>
        </p:txBody>
      </p:sp>
      <p:sp>
        <p:nvSpPr>
          <p:cNvPr id="16" name="Rectangle 15"/>
          <p:cNvSpPr/>
          <p:nvPr/>
        </p:nvSpPr>
        <p:spPr>
          <a:xfrm>
            <a:off x="365760" y="3200400"/>
            <a:ext cx="4754880" cy="402336"/>
          </a:xfrm>
          <a:prstGeom prst="rect">
            <a:avLst/>
          </a:prstGeom>
          <a:solidFill>
            <a:srgbClr val="707070"/>
          </a:solidFill>
          <a:ln w="12700">
            <a:solidFill>
              <a:srgbClr val="80808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400" b="1">
                <a:solidFill>
                  <a:srgbClr val="FFFFFF"/>
                </a:solidFill>
                <a:latin typeface="Calibri"/>
              </a:rPr>
              <a:t>PHY 硬體 + RF 電路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303520" y="3246120"/>
            <a:ext cx="3474720" cy="40233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808080"/>
                </a:solidFill>
                <a:latin typeface="Calibri"/>
              </a:rPr>
              <a:t>OFDM 解調，子載波分析</a:t>
            </a:r>
          </a:p>
        </p:txBody>
      </p:sp>
      <p:cxnSp>
        <p:nvCxnSpPr>
          <p:cNvPr id="18" name="Connector 17"/>
          <p:cNvCxnSpPr/>
          <p:nvPr/>
        </p:nvCxnSpPr>
        <p:spPr>
          <a:xfrm>
            <a:off x="365760" y="4393688"/>
            <a:ext cx="8412480" cy="0"/>
          </a:xfrm>
          <a:prstGeom prst="line">
            <a:avLst/>
          </a:prstGeom>
          <a:ln w="6350">
            <a:solidFill>
              <a:srgbClr val="DCDCD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9" name="TextBox 18"/>
          <p:cNvSpPr txBox="1"/>
          <p:nvPr/>
        </p:nvSpPr>
        <p:spPr>
          <a:xfrm>
            <a:off x="457200" y="4393692"/>
            <a:ext cx="82296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6B6B6B"/>
                </a:solidFill>
                <a:latin typeface="Calibri"/>
              </a:rPr>
              <a:t>Windows 架構的每一層都有合理的設計動機，但合力造成了 CSI 無法取得的結果</a:t>
            </a:r>
          </a:p>
        </p:txBody>
      </p:sp>
      <p:sp>
        <p:nvSpPr>
          <p:cNvPr id="20" name="Rectangle 19"/>
          <p:cNvSpPr/>
          <p:nvPr/>
        </p:nvSpPr>
        <p:spPr>
          <a:xfrm>
            <a:off x="0" y="4686300"/>
            <a:ext cx="9144000" cy="457200"/>
          </a:xfrm>
          <a:prstGeom prst="rect">
            <a:avLst/>
          </a:prstGeom>
          <a:gradFill rotWithShape="1">
            <a:gsLst>
              <a:gs pos="0">
                <a:srgbClr val="2A2A2A"/>
              </a:gs>
              <a:gs pos="100000">
                <a:srgbClr val="343434"/>
              </a:gs>
            </a:gsLst>
            <a:lin scaled="0" ang="0"/>
          </a:gra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274320" y="4722876"/>
            <a:ext cx="457200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B0B0B0"/>
                </a:solidFill>
                <a:latin typeface="Calibri"/>
              </a:rPr>
              <a:t>結語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7863840" y="4722876"/>
            <a:ext cx="91440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300" b="0">
                <a:solidFill>
                  <a:srgbClr val="B0B0B0"/>
                </a:solidFill>
                <a:latin typeface="Calibri"/>
              </a:rPr>
              <a:t>21 / 23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822960"/>
          </a:xfrm>
          <a:prstGeom prst="rect">
            <a:avLst/>
          </a:prstGeom>
          <a:gradFill rotWithShape="1">
            <a:gsLst>
              <a:gs pos="0">
                <a:srgbClr val="2A2A2A"/>
              </a:gs>
              <a:gs pos="100000">
                <a:srgbClr val="363636"/>
              </a:gs>
            </a:gsLst>
            <a:lin scaled="0" ang="0"/>
          </a:gra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50292" cy="822960"/>
          </a:xfrm>
          <a:prstGeom prst="rect">
            <a:avLst/>
          </a:prstGeom>
          <a:solidFill>
            <a:srgbClr val="50505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365760" y="109728"/>
            <a:ext cx="704088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>
                <a:solidFill>
                  <a:srgbClr val="FFFFFF"/>
                </a:solidFill>
                <a:latin typeface="Calibri"/>
              </a:rPr>
              <a:t>給 RF 工程師的建議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498080" y="109728"/>
            <a:ext cx="128016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300" b="0">
                <a:solidFill>
                  <a:srgbClr val="B0B0B0"/>
                </a:solidFill>
                <a:latin typeface="Calibri"/>
              </a:rPr>
              <a:t>Section 4/4</a:t>
            </a:r>
          </a:p>
        </p:txBody>
      </p:sp>
      <p:sp>
        <p:nvSpPr>
          <p:cNvPr id="6" name="Rectangle 5"/>
          <p:cNvSpPr/>
          <p:nvPr/>
        </p:nvSpPr>
        <p:spPr>
          <a:xfrm>
            <a:off x="365760" y="960120"/>
            <a:ext cx="36576" cy="3433572"/>
          </a:xfrm>
          <a:prstGeom prst="rect">
            <a:avLst/>
          </a:prstGeom>
          <a:solidFill>
            <a:srgbClr val="50505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30352" y="1051560"/>
            <a:ext cx="8138160" cy="32506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600"/>
              </a:spcBef>
            </a:pPr>
            <a:r>
              <a:rPr b="1" sz="2000">
                <a:solidFill>
                  <a:srgbClr val="505050"/>
                </a:solidFill>
              </a:rPr>
              <a:t>1. 選硬體先確認 CSI 工具支援</a:t>
            </a:r>
          </a:p>
          <a:p>
            <a:pPr lvl="1">
              <a:spcBef>
                <a:spcPts val="200"/>
              </a:spcBef>
            </a:pPr>
            <a:r>
              <a:rPr sz="1700">
                <a:solidFill>
                  <a:srgbClr val="6B6B6B"/>
                </a:solidFill>
              </a:rPr>
              <a:t>  · → Intel AX200/AX210 = 目前最佳選擇</a:t>
            </a:r>
          </a:p>
          <a:p>
            <a:r>
              <a:rPr sz="600"/>
              <a:t/>
            </a:r>
          </a:p>
          <a:p>
            <a:pPr>
              <a:spcBef>
                <a:spcPts val="600"/>
              </a:spcBef>
            </a:pPr>
            <a:r>
              <a:rPr b="1" sz="2000">
                <a:solidFill>
                  <a:srgbClr val="505050"/>
                </a:solidFill>
              </a:rPr>
              <a:t>2. 優先 Linux 環境採集 CSI</a:t>
            </a:r>
          </a:p>
          <a:p>
            <a:pPr lvl="1">
              <a:spcBef>
                <a:spcPts val="200"/>
              </a:spcBef>
            </a:pPr>
            <a:r>
              <a:rPr sz="1700">
                <a:solidFill>
                  <a:srgbClr val="6B6B6B"/>
                </a:solidFill>
              </a:rPr>
              <a:t>  · → PicoScenes（商業支援）或 FeitCSI（開源）</a:t>
            </a:r>
          </a:p>
          <a:p>
            <a:pPr lvl="1">
              <a:spcBef>
                <a:spcPts val="200"/>
              </a:spcBef>
            </a:pPr>
            <a:r>
              <a:rPr sz="1700">
                <a:solidFill>
                  <a:srgbClr val="6B6B6B"/>
                </a:solidFill>
              </a:rPr>
              <a:t>  · → 雙系統：Linux 採集，Windows 後處理</a:t>
            </a:r>
          </a:p>
          <a:p>
            <a:r>
              <a:rPr sz="600"/>
              <a:t/>
            </a:r>
          </a:p>
          <a:p>
            <a:pPr>
              <a:spcBef>
                <a:spcPts val="600"/>
              </a:spcBef>
            </a:pPr>
            <a:r>
              <a:rPr b="1" sz="2000">
                <a:solidFill>
                  <a:srgbClr val="505050"/>
                </a:solidFill>
              </a:rPr>
              <a:t>3. 避免的坑</a:t>
            </a:r>
          </a:p>
          <a:p>
            <a:pPr lvl="1">
              <a:spcBef>
                <a:spcPts val="200"/>
              </a:spcBef>
            </a:pPr>
            <a:r>
              <a:rPr sz="1700">
                <a:solidFill>
                  <a:srgbClr val="6B6B6B"/>
                </a:solidFill>
              </a:rPr>
              <a:t>  · ❌ OEM 私有 IOCTL（每次驅動更新後失效）</a:t>
            </a:r>
          </a:p>
          <a:p>
            <a:pPr lvl="1">
              <a:spcBef>
                <a:spcPts val="200"/>
              </a:spcBef>
            </a:pPr>
            <a:r>
              <a:rPr sz="1700">
                <a:solidFill>
                  <a:srgbClr val="6B6B6B"/>
                </a:solidFill>
              </a:rPr>
              <a:t>  · ❌ VM 取 CSI（時序精度受 Hypervisor 影響）</a:t>
            </a:r>
          </a:p>
          <a:p>
            <a:pPr lvl="1">
              <a:spcBef>
                <a:spcPts val="200"/>
              </a:spcBef>
            </a:pPr>
            <a:r>
              <a:rPr sz="1700">
                <a:solidFill>
                  <a:srgbClr val="6B6B6B"/>
                </a:solidFill>
              </a:rPr>
              <a:t>  · ❌ 未在支援清單上的網卡</a:t>
            </a:r>
          </a:p>
        </p:txBody>
      </p:sp>
      <p:sp>
        <p:nvSpPr>
          <p:cNvPr id="8" name="Rectangle 7"/>
          <p:cNvSpPr/>
          <p:nvPr/>
        </p:nvSpPr>
        <p:spPr>
          <a:xfrm>
            <a:off x="0" y="4686300"/>
            <a:ext cx="9144000" cy="457200"/>
          </a:xfrm>
          <a:prstGeom prst="rect">
            <a:avLst/>
          </a:prstGeom>
          <a:gradFill rotWithShape="1">
            <a:gsLst>
              <a:gs pos="0">
                <a:srgbClr val="2A2A2A"/>
              </a:gs>
              <a:gs pos="100000">
                <a:srgbClr val="343434"/>
              </a:gs>
            </a:gsLst>
            <a:lin scaled="0" ang="0"/>
          </a:gra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274320" y="4722876"/>
            <a:ext cx="457200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B0B0B0"/>
                </a:solidFill>
                <a:latin typeface="Calibri"/>
              </a:rPr>
              <a:t>結語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863840" y="4722876"/>
            <a:ext cx="91440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300" b="0">
                <a:solidFill>
                  <a:srgbClr val="B0B0B0"/>
                </a:solidFill>
                <a:latin typeface="Calibri"/>
              </a:rPr>
              <a:t>22 / 23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822960"/>
          </a:xfrm>
          <a:prstGeom prst="rect">
            <a:avLst/>
          </a:prstGeom>
          <a:gradFill rotWithShape="1">
            <a:gsLst>
              <a:gs pos="0">
                <a:srgbClr val="2A2A2A"/>
              </a:gs>
              <a:gs pos="100000">
                <a:srgbClr val="363636"/>
              </a:gs>
            </a:gsLst>
            <a:lin scaled="0" ang="0"/>
          </a:gra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50292" cy="822960"/>
          </a:xfrm>
          <a:prstGeom prst="rect">
            <a:avLst/>
          </a:prstGeom>
          <a:solidFill>
            <a:srgbClr val="50505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365760" y="109728"/>
            <a:ext cx="704088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>
                <a:solidFill>
                  <a:srgbClr val="FFFFFF"/>
                </a:solidFill>
                <a:latin typeface="Calibri"/>
              </a:rPr>
              <a:t>Q&amp;A / 參考資料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498080" y="109728"/>
            <a:ext cx="128016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300" b="0">
                <a:solidFill>
                  <a:srgbClr val="B0B0B0"/>
                </a:solidFill>
                <a:latin typeface="Calibri"/>
              </a:rPr>
              <a:t>Section 4/4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1097280"/>
            <a:ext cx="8138160" cy="34152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500"/>
              </a:spcBef>
            </a:pPr>
            <a:r>
              <a:rPr sz="1400">
                <a:solidFill>
                  <a:srgbClr val="505050"/>
                </a:solidFill>
                <a:latin typeface="Calibri"/>
              </a:rPr>
              <a:t>[1] D. Halperin et al., Tool Release: Gathering 802.11n Traces with CSI, ACM SIGCOMM CCR, Vol. 41, No. 1, 2011. -&gt; linux-80211n-csitool</a:t>
            </a:r>
          </a:p>
          <a:p>
            <a:pPr>
              <a:spcBef>
                <a:spcPts val="500"/>
              </a:spcBef>
            </a:pPr>
            <a:r>
              <a:rPr sz="1400">
                <a:solidFill>
                  <a:srgbClr val="505050"/>
                </a:solidFill>
                <a:latin typeface="Calibri"/>
              </a:rPr>
              <a:t>[2] M. Schulz et al., Nexmon: The C-based Firmware Patching Framework -- seemoo-lab/nexmon_csi</a:t>
            </a:r>
          </a:p>
          <a:p>
            <a:pPr>
              <a:spcBef>
                <a:spcPts val="500"/>
              </a:spcBef>
            </a:pPr>
            <a:r>
              <a:rPr sz="1400">
                <a:solidFill>
                  <a:srgbClr val="505050"/>
                </a:solidFill>
                <a:latin typeface="Calibri"/>
              </a:rPr>
              <a:t>[3] Z. Jiang, PicoScenes: Enabling Modern Wi-Fi ISAC Research -- ps.zpj.io</a:t>
            </a:r>
          </a:p>
          <a:p>
            <a:pPr>
              <a:spcBef>
                <a:spcPts val="500"/>
              </a:spcBef>
            </a:pPr>
            <a:r>
              <a:rPr sz="1400">
                <a:solidFill>
                  <a:srgbClr val="505050"/>
                </a:solidFill>
                <a:latin typeface="Calibri"/>
              </a:rPr>
              <a:t>[4] KuskoSoft, FeitCSI: 802.11 CSI Tool -- feitcsi.kuskosoft.com</a:t>
            </a:r>
          </a:p>
          <a:p>
            <a:pPr>
              <a:spcBef>
                <a:spcPts val="500"/>
              </a:spcBef>
            </a:pPr>
            <a:r>
              <a:rPr sz="1400">
                <a:solidFill>
                  <a:srgbClr val="505050"/>
                </a:solidFill>
                <a:latin typeface="Calibri"/>
              </a:rPr>
              <a:t>[5] Y. Xie et al., Atheros CSI Tool for 802.11n NICs -- xieyaxiongfly/Atheros-CSI-Tool</a:t>
            </a:r>
          </a:p>
          <a:p>
            <a:pPr>
              <a:spcBef>
                <a:spcPts val="500"/>
              </a:spcBef>
            </a:pPr>
            <a:r>
              <a:rPr sz="1400">
                <a:solidFill>
                  <a:srgbClr val="505050"/>
                </a:solidFill>
                <a:latin typeface="Calibri"/>
              </a:rPr>
              <a:t>[6] Microsoft Docs, WDI Miniport Driver Design Guide -- learn.microsoft.com</a:t>
            </a:r>
          </a:p>
          <a:p>
            <a:pPr>
              <a:spcBef>
                <a:spcPts val="500"/>
              </a:spcBef>
            </a:pPr>
            <a:r>
              <a:rPr sz="1400">
                <a:solidFill>
                  <a:srgbClr val="505050"/>
                </a:solidFill>
                <a:latin typeface="Calibri"/>
              </a:rPr>
              <a:t>[7] Microsoft Docs, NDIS Network Interface Architecture -- learn.microsoft.com</a:t>
            </a:r>
          </a:p>
          <a:p>
            <a:pPr>
              <a:spcBef>
                <a:spcPts val="500"/>
              </a:spcBef>
            </a:pPr>
            <a:r>
              <a:rPr sz="1400">
                <a:solidFill>
                  <a:srgbClr val="505050"/>
                </a:solidFill>
                <a:latin typeface="Calibri"/>
              </a:rPr>
              <a:t>[8] Gi-z, CSIKit: Python CSI Processing Tools -- github.com/Gi-z/CSIKit</a:t>
            </a:r>
          </a:p>
        </p:txBody>
      </p:sp>
      <p:sp>
        <p:nvSpPr>
          <p:cNvPr id="7" name="Rectangle 6"/>
          <p:cNvSpPr/>
          <p:nvPr/>
        </p:nvSpPr>
        <p:spPr>
          <a:xfrm>
            <a:off x="0" y="4686300"/>
            <a:ext cx="9144000" cy="457200"/>
          </a:xfrm>
          <a:prstGeom prst="rect">
            <a:avLst/>
          </a:prstGeom>
          <a:gradFill rotWithShape="1">
            <a:gsLst>
              <a:gs pos="0">
                <a:srgbClr val="2A2A2A"/>
              </a:gs>
              <a:gs pos="100000">
                <a:srgbClr val="343434"/>
              </a:gs>
            </a:gsLst>
            <a:lin scaled="0" ang="0"/>
          </a:gra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274320" y="4722876"/>
            <a:ext cx="457200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B0B0B0"/>
                </a:solidFill>
                <a:latin typeface="Calibri"/>
              </a:rPr>
              <a:t>結語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863840" y="4722876"/>
            <a:ext cx="91440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300" b="0">
                <a:solidFill>
                  <a:srgbClr val="B0B0B0"/>
                </a:solidFill>
                <a:latin typeface="Calibri"/>
              </a:rPr>
              <a:t>23 / 23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